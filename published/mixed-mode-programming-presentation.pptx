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MPI+OpenMP</c:v>
                </c:pt>
              </c:strCache>
            </c:strRef>
          </c:tx>
          <c:spPr>
            <a:solidFill>
              <a:srgbClr val="33D6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BM Plex Mon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Bandwidth (relative)</c:v>
                  </c:pt>
                  <c:pt idx="1">
                    <c:v>Latency (relative)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DiOMP</c:v>
                </c:pt>
              </c:strCache>
            </c:strRef>
          </c:tx>
          <c:spPr>
            <a:solidFill>
              <a:srgbClr val="E85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BM Plex Mon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Bandwidth (relative)</c:v>
                  </c:pt>
                  <c:pt idx="1">
                    <c:v>Latency (relative)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125</c:v>
                </c:pt>
                <c:pt idx="1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BM Plex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B93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B93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 third-year CS examination. Set expectations: survey of hybrid MPI+OpenMP, task-based runtimes, GPU offload, one-sided/PGAS, and performance evidence, ending with directions for HPC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stage: why mixed-mode programming has become the norm in HPC and what this talk will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now lists all eight sections explicitly so the deck arc is visible upfront.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'so what': the industry default is no longer pure MPI; it is MPI plus a node-level model, and OpenMP is the standard first choice because it is compiler-supported and scales to the core counts that actually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scaling wall: measure where a flat MPI run starts losing efficiency, then argue that hybrid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GROMACS docs: purely MPI schemes share one network interface and PME global communication limits scaling; OpenMP scales well only to 12-24 Intel and 6-8 AMD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opener. Sets up why tasking layers are displacing hand-coded hybrid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force-offload staging with GPU-resident execution, then point to rank-per-GPU mapping as the emerging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why two-sided MPI message matching becomes the scaling bottleneck; introduce one-sided put/get and remote completion; preview DiOMP's compiler+runtime path on Ookami and Perlmutter.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One-sided means the originating node's put/get is serviced by the network and target memory, without the target's thread posting a receive. DiOMP delivers this through LLVM, hiding PGAS behind OpenMP pragmas.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concrete numbers: GROMACS ns/day and Mnbf/s metrics; DiOMP up to 25% higher bandwidth and down to 45% lower latency vs MPI+OpenMP (arXiv:2409.02830).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Ookami and NERSC Perlmutter; baseline normalised to 100% of MPI+OpenMP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Revised from prescriptive tuning to measured scaling results per coherence review. Figures from GROMACS 'Getting good performance from mdrun': 200 particles/core strong-scaling, 12–24 Intel / 6–8 AMD thread ceilings, PME all-to-all beyond 16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anchor each phase in a concrete result — DiOMP's measured 25% bandwidth / 45% latency on Ookami and Perlmutter, GPU-resident mode avoiding per-step transfers, and distributed FFT as the exascale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challenging the audience to benchmark DiOMP-style PGAS against their current MPI+OpenMP baseline on the next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8308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4000"/>
              </a:lnSpc>
              <a:buNone/>
            </a:pPr>
            <a:r>
              <a:rPr lang="en-US" sz="365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Recent Trends in Mixed-Mode Programming for High-Performance Computing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40080" y="4251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5F7B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2 [13–24] · Innovative Examination · 2026-27 · Microprocessor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F7B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2 [13-24] — Raunak SIngh (13) · Rishit Singh (14) · Rudrapratap Singh (15) · Sakshi Singh (16) · Udaypratap Singh (17) · Vicky Singh (18) · Vishesh Singh (19) · Divyajoyt Sinha (20) · Deepesh Sonar (21) · Vedant Sud (23) · Dhwani Tandon (24)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932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F7B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Guide: Ms. Tanmayi Nagale · Assistant Professor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97103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E85A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Microprossesor  ·  2026-27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CONTEXT: THE MIXED-MODE TURN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MPI+X is the de facto standard for distributed parallel programming. The open question is which X — OpenMP, tasks, GPU offload, or PGAS — and how to combine them without drowning in complexity.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 &amp;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OPENING MOVEMENTS: THE FULL ARC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Eight movements from MPI+X to PGAS and GPU persistence — every section feeds the same argument: mixed-mode is how HPC scales.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566928" cy="581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33D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35608" y="2331720"/>
            <a:ext cx="10116007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 &amp; Context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35608" y="2634130"/>
            <a:ext cx="10116007" cy="261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mixed-mode became HPC's default: MPI+X, node-level OpenMP, and the scaling wall.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169310"/>
            <a:ext cx="566928" cy="581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33D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35608" y="3169310"/>
            <a:ext cx="10116007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Hybrid MPI+OpenMP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35608" y="3471721"/>
            <a:ext cx="10116007" cy="261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Flat MPI exhausts the network interface; OpenMP threads shrink PME message traffic.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06901"/>
            <a:ext cx="566928" cy="581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33D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35608" y="4006901"/>
            <a:ext cx="10116007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Task-Based Runtimes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35608" y="4309311"/>
            <a:ext cx="10116007" cy="261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Dependency-driven DAG scheduling replaces static decomposition; comms overlap with compute.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844491"/>
            <a:ext cx="566928" cy="581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33D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35608" y="4844491"/>
            <a:ext cx="10116007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 Offload &amp; Accelerators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35608" y="5146902"/>
            <a:ext cx="10116007" cy="261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CUDA/SYCL/HIP offload; GPU-resident execution becomes the default in 2025.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682082"/>
            <a:ext cx="566928" cy="581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33D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35608" y="5682082"/>
            <a:ext cx="10116007" cy="29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One-Sided &amp; PGAS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35608" y="5984492"/>
            <a:ext cx="10116007" cy="261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folds PGAS into OpenMP via GASNet-EX — measured wins follow.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Raunak SIngh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 &amp;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MIXED-MODE: DE FACTO HPC PARADIGM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MPI remains the distributed-memory backbone; OpenMP fills the intra-node gap as core counts climb.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MPI+X is the de facto standard for distributed-memory parallel programming, per the DiOMP study (arXiv:2409.02830).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Purely MPI schemes share one network interface per node; OpenMP threads inside a rank cut inter-node message counts.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Multi-level MPI+OpenMP is needed to keep scaling near the strong-scaling limit, around ~200 particles/core.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OpenMP scales well to 12-24 threads on Intel and 6-8 on AMD, matching typical per-socket core counts.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 runs add overhead at small process counts, but the payback is pronounced in highly parallel runs.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NUMA effects on 2-4 socket nodes make intra-node threading the default way to avoid memory-bus bottlenecks.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Rishit Singh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HYBRID: FLAT MODELS HIT THE WALL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multi-core trend has pushed nodes to 2–4 CPUs and up to 64 cores. Flat MPI exhausts the network interface first; pure OpenMP cannot cross the socket. Hybrid MPI+OpenMP is the only path that scales.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HYBRID MPI+OPENMP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FLAT MPI VS PURE OPENMP: TWO CEILINGS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 splits the difference: OpenMP shrinks the number of MPI messages; MPI gives OpenMP a way across the node boundary.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499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Flat MPI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632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core a rank floods one network interface; PME's all-to-all 3D FFT makes inter-node hops the bottleneck.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3048" y="2560320"/>
            <a:ext cx="499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Pure OpenMP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35928" y="3931920"/>
            <a:ext cx="4632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Threads inside one node dodge the network, but NUMA caps scaling at 12–24 Intel / 6–8 AMD. No cross-node reach.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38648" y="2788920"/>
            <a:ext cx="914400" cy="914400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17" name="Text 15"/>
          <p:cNvSpPr/>
          <p:nvPr/>
        </p:nvSpPr>
        <p:spPr>
          <a:xfrm>
            <a:off x="5638648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Rudrapratap Singh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HYBRID MPI+OPENMP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817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AS LAYERING: MPI ACROSS NODES, OPENMP ACROSS CORES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07975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Flat MPI exhausts the network interface; pure OpenMP cannot cross sockets. Hybrid splits the job: MPI for inter-node coordination, OpenMP for intra-node threading.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738120"/>
            <a:ext cx="10911535" cy="3434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MPI rank owns one node's memory and talks across the network; OpenMP threads inside the rank share that memory and never send messages.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Fewer ranks per node means fewer messages on the single network interface — PME's 3D FFT all-to-all is otherwise the scaling bottleneck.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OpenMP scales to 12–24 threads on Intel and 6–8 on AMD, matching typical 2–4 socket node topologies and cutting NUMA crossings.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 runs add overhead at small process counts, but the payback is pronounced at scale — around ~200 particles per core.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mdrun follows this layering: -ntmpi processes for nodes, -ntomp threads per rank, dedicated PME ranks above 12–16 ranks.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Sakshi Singh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TASK-BASED RUNTIMES: DEPENDENCIES OVER DECOMPOSITION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Move from static MPI ranks to dynamic DAG scheduling: runtimes express data dependencies, overlap communication and computation, and load-balance without hand-written message passing.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TASK-BASED RUNTIMES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TASK-BASED: DEPENDENCIES, NOT BARRIERS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Programmer names dependencies; runtime orders execution across nodes and devices.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6881"/>
            <a:ext cx="10911535" cy="27432"/>
          </a:xfrm>
          <a:prstGeom prst="rect">
            <a:avLst/>
          </a:prstGeom>
          <a:solidFill>
            <a:srgbClr val="1E3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511778" y="3641141"/>
            <a:ext cx="438912" cy="438912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14" name="Text 12"/>
          <p:cNvSpPr/>
          <p:nvPr/>
        </p:nvSpPr>
        <p:spPr>
          <a:xfrm>
            <a:off x="1511778" y="364114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2042130" y="3769157"/>
            <a:ext cx="182880" cy="182880"/>
          </a:xfrm>
          <a:prstGeom prst="triangle">
            <a:avLst/>
          </a:prstGeom>
          <a:solidFill>
            <a:srgbClr val="33D6E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331720"/>
            <a:ext cx="1907987" cy="1327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Define work as tasks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299509"/>
            <a:ext cx="1907987" cy="1964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unit of work declares its inputs and outputs; runtime infers ordering from the dependency graph.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94085" y="3641141"/>
            <a:ext cx="438912" cy="438912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085" y="364114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224437" y="3769157"/>
            <a:ext cx="182880" cy="182880"/>
          </a:xfrm>
          <a:prstGeom prst="triangle">
            <a:avLst/>
          </a:prstGeom>
          <a:solidFill>
            <a:srgbClr val="33D6E0"/>
          </a:solidFill>
          <a:ln/>
        </p:spPr>
      </p:sp>
      <p:sp>
        <p:nvSpPr>
          <p:cNvPr id="21" name="Text 19"/>
          <p:cNvSpPr/>
          <p:nvPr/>
        </p:nvSpPr>
        <p:spPr>
          <a:xfrm>
            <a:off x="2959547" y="2331720"/>
            <a:ext cx="1907987" cy="1327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the graph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59547" y="4299509"/>
            <a:ext cx="1907987" cy="1964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 each step the runtime assembles a DAG; ready tasks launch asynchronously as dependencies complete.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76392" y="3641141"/>
            <a:ext cx="438912" cy="438912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24" name="Text 22"/>
          <p:cNvSpPr/>
          <p:nvPr/>
        </p:nvSpPr>
        <p:spPr>
          <a:xfrm>
            <a:off x="5876392" y="364114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406744" y="3769157"/>
            <a:ext cx="182880" cy="182880"/>
          </a:xfrm>
          <a:prstGeom prst="triangle">
            <a:avLst/>
          </a:prstGeom>
          <a:solidFill>
            <a:srgbClr val="33D6E0"/>
          </a:solidFill>
          <a:ln/>
        </p:spPr>
      </p:sp>
      <p:sp>
        <p:nvSpPr>
          <p:cNvPr id="26" name="Text 24"/>
          <p:cNvSpPr/>
          <p:nvPr/>
        </p:nvSpPr>
        <p:spPr>
          <a:xfrm>
            <a:off x="5141854" y="2331720"/>
            <a:ext cx="1907987" cy="1327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Heterogeneous placement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41854" y="4299509"/>
            <a:ext cx="1907987" cy="1964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 lands on CPU or GPU by cost; GROMACS auto-balances PP and PME across ranks and devices.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58699" y="3641141"/>
            <a:ext cx="438912" cy="438912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29" name="Text 27"/>
          <p:cNvSpPr/>
          <p:nvPr/>
        </p:nvSpPr>
        <p:spPr>
          <a:xfrm>
            <a:off x="8058699" y="364114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5400000">
            <a:off x="8589051" y="3769157"/>
            <a:ext cx="182880" cy="182880"/>
          </a:xfrm>
          <a:prstGeom prst="triangle">
            <a:avLst/>
          </a:prstGeom>
          <a:solidFill>
            <a:srgbClr val="33D6E0"/>
          </a:solidFill>
          <a:ln/>
        </p:spPr>
      </p:sp>
      <p:sp>
        <p:nvSpPr>
          <p:cNvPr id="31" name="Text 29"/>
          <p:cNvSpPr/>
          <p:nvPr/>
        </p:nvSpPr>
        <p:spPr>
          <a:xfrm>
            <a:off x="7324161" y="2331720"/>
            <a:ext cx="1907987" cy="1327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Overlap and communicate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324161" y="4299509"/>
            <a:ext cx="1907987" cy="1964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 GPU-GPU transfers replace host staging; GROMACS 2025 enables this by default on supported setups.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41006" y="3641141"/>
            <a:ext cx="438912" cy="438912"/>
          </a:xfrm>
          <a:prstGeom prst="ellipse">
            <a:avLst/>
          </a:prstGeom>
          <a:solidFill>
            <a:srgbClr val="33D6E0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006" y="364114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6468" y="2331720"/>
            <a:ext cx="1907987" cy="1327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Cut launch overhead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506468" y="4299509"/>
            <a:ext cx="1907987" cy="1964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CUDA graphs (2023) schedule entire graphs at once, cutting per-step launch costs in fast-iterating runs.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Udaypratap Singh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 OFFLOAD: FROM STAGED COPIES TO RESIDENT KERNELS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2025 enables direct GPU communication by default; GPU-resident mode keeps force and coordinate data on the device, making the CPU a partner rather than the pipeline.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 OFFLOAD &amp; ACCELERATORS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 OFFLOAD STACK: DIRECTIVES TO SILICON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Persistent kernels and resident data shrink launch and copy overhead — the stack now spans pragmas to vendor runtimes.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10911535" cy="592531"/>
          </a:xfrm>
          <a:prstGeom prst="roundRect">
            <a:avLst>
              <a:gd name="adj" fmla="val 6173"/>
            </a:avLst>
          </a:prstGeom>
          <a:solidFill>
            <a:srgbClr val="101A2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31720"/>
            <a:ext cx="54864" cy="592531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331720"/>
            <a:ext cx="29260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 Directives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402336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Portable offload via pragma-based models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50907" y="2490826"/>
            <a:ext cx="1436116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0907" y="2490826"/>
            <a:ext cx="1436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pragma offload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81517" y="2490826"/>
            <a:ext cx="1359662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517" y="2490826"/>
            <a:ext cx="13596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OpenMP target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70851" y="2490826"/>
            <a:ext cx="900938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851" y="2490826"/>
            <a:ext cx="90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OpenACC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006547"/>
            <a:ext cx="10911535" cy="592531"/>
          </a:xfrm>
          <a:prstGeom prst="roundRect">
            <a:avLst>
              <a:gd name="adj" fmla="val 6173"/>
            </a:avLst>
          </a:prstGeom>
          <a:solidFill>
            <a:srgbClr val="101A2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006547"/>
            <a:ext cx="54864" cy="592531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3006547"/>
            <a:ext cx="29260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 Models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40480" y="3006547"/>
            <a:ext cx="402336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 control through vendor and open standards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62539" y="3165653"/>
            <a:ext cx="824484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62539" y="3165653"/>
            <a:ext cx="82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OpenCL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857689" y="3165653"/>
            <a:ext cx="595122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7689" y="3165653"/>
            <a:ext cx="5951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076385" y="3165653"/>
            <a:ext cx="671576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6385" y="3165653"/>
            <a:ext cx="671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SYCL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95081" y="3165653"/>
            <a:ext cx="671576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5081" y="3165653"/>
            <a:ext cx="671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3681374"/>
            <a:ext cx="10911535" cy="592531"/>
          </a:xfrm>
          <a:prstGeom prst="roundRect">
            <a:avLst>
              <a:gd name="adj" fmla="val 6173"/>
            </a:avLst>
          </a:prstGeom>
          <a:solidFill>
            <a:srgbClr val="101A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681374"/>
            <a:ext cx="54864" cy="592531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" y="3681374"/>
            <a:ext cx="29260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Kernel Scheduling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840480" y="3681374"/>
            <a:ext cx="402336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Persistent kernels and CUDA graphs cut launch costs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03815" y="3840480"/>
            <a:ext cx="1283208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03815" y="3840480"/>
            <a:ext cx="1283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async launch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787333" y="3840480"/>
            <a:ext cx="1206754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87333" y="3840480"/>
            <a:ext cx="12067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CUDA graphs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35673" y="3840480"/>
            <a:ext cx="1741932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5673" y="3840480"/>
            <a:ext cx="17419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persistent kernels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0080" y="4356202"/>
            <a:ext cx="10911535" cy="592531"/>
          </a:xfrm>
          <a:prstGeom prst="roundRect">
            <a:avLst>
              <a:gd name="adj" fmla="val 6173"/>
            </a:avLst>
          </a:prstGeom>
          <a:solidFill>
            <a:srgbClr val="101A22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4356202"/>
            <a:ext cx="54864" cy="592531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46" name="Text 44"/>
          <p:cNvSpPr/>
          <p:nvPr/>
        </p:nvSpPr>
        <p:spPr>
          <a:xfrm>
            <a:off x="859536" y="4356202"/>
            <a:ext cx="29260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Movement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3840480" y="4356202"/>
            <a:ext cx="402336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GPU-resident mode avoids per-step CPU transfers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874453" y="4515307"/>
            <a:ext cx="1512570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4453" y="4515307"/>
            <a:ext cx="1512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 GPU comm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405063" y="4515307"/>
            <a:ext cx="1359662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05063" y="4515307"/>
            <a:ext cx="13596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force-offload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12127" y="4515307"/>
            <a:ext cx="1283208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12127" y="4515307"/>
            <a:ext cx="1283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GPU-resident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0080" y="5031029"/>
            <a:ext cx="10911535" cy="592531"/>
          </a:xfrm>
          <a:prstGeom prst="roundRect">
            <a:avLst>
              <a:gd name="adj" fmla="val 6173"/>
            </a:avLst>
          </a:prstGeom>
          <a:solidFill>
            <a:srgbClr val="101A22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" y="5031029"/>
            <a:ext cx="54864" cy="592531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56" name="Text 54"/>
          <p:cNvSpPr/>
          <p:nvPr/>
        </p:nvSpPr>
        <p:spPr>
          <a:xfrm>
            <a:off x="859536" y="5031029"/>
            <a:ext cx="29260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 Abstraction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3840480" y="5031029"/>
            <a:ext cx="402336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Vendor accelerators behind a common stack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638993" y="5190134"/>
            <a:ext cx="748030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38993" y="5190134"/>
            <a:ext cx="748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934143" y="5190134"/>
            <a:ext cx="595122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4143" y="5190134"/>
            <a:ext cx="5951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999931" y="5190134"/>
            <a:ext cx="824484" cy="274320"/>
          </a:xfrm>
          <a:prstGeom prst="roundRect">
            <a:avLst>
              <a:gd name="adj" fmla="val 133333"/>
            </a:avLst>
          </a:prstGeom>
          <a:solidFill>
            <a:srgbClr val="101A22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99931" y="5190134"/>
            <a:ext cx="82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NVIDIA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7692"/>
            </a:avLst>
          </a:prstGeom>
          <a:solidFill>
            <a:srgbClr val="101A22"/>
          </a:solidFill>
          <a:ln/>
        </p:spPr>
      </p:sp>
      <p:sp>
        <p:nvSpPr>
          <p:cNvPr id="65" name="Shape 63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66" name="Text 64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key shift: persistent kernels and GPU-resident mode treat the accelerator as a peer, not a peripheral, cutting per-step transfers and launch latency.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Vicky Singh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ONE-SIDED &amp; PGAS: REMOTE MEMORY WITHOUT THE HANDSHAKE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fuses PGAS into OpenMP via LLVM + GASNet-EX: bandwidth up 25%, latency down 45% vs MPI+OpenMP.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ONE-SIDED &amp; PGAS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ONE-SIDED PGAS: REMOTE PUT/GET WITHOUT HANDSHAKE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lowers OpenMP onto GASNet-EX PGAS: 25% higher bandwidth, 45% lower latency than MPI+OpenMP on Ookami and Perlmutter.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 flipV="1">
            <a:off x="3009862" y="5482891"/>
            <a:ext cx="716204" cy="87027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737746" y="4732924"/>
            <a:ext cx="716204" cy="261082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465630" y="3738514"/>
            <a:ext cx="716204" cy="261082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7746" y="3738514"/>
            <a:ext cx="716204" cy="261082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9862" y="3162601"/>
            <a:ext cx="716204" cy="87027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9862" y="4488481"/>
            <a:ext cx="6171971" cy="749967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5630" y="4732924"/>
            <a:ext cx="716204" cy="261082"/>
          </a:xfrm>
          <a:prstGeom prst="line">
            <a:avLst/>
          </a:prstGeom>
          <a:noFill/>
          <a:ln w="13970">
            <a:solidFill>
              <a:srgbClr val="1E3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6066" y="490347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17506" y="495833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Node 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7506" y="525094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rank: OpenMP code compiled by LLVM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1833" y="291465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73273" y="296951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73273" y="326212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Exports memory into global PGAS space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26066" y="291465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17506" y="296951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GASNet-EX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17506" y="326212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 for one-sided put/get ops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8182" y="258318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89622" y="26380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PGAS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9622" y="293065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address space, no handshake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98182" y="390906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89622" y="39639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MPI+OpenMP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9622" y="425653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 two-sided message passing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53950" y="390906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45390" y="39639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Put/Get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45390" y="425653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 remote access; peer not involved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81833" y="490347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273273" y="495833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Result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73273" y="525094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25% higher bandwidth, 45% lower latency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8182" y="52349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9622" y="52898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LLVM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89622" y="558241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Translates OpenMP to PGAS ops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Vishesh Singh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EVIDENCE: WHO WINS AT SCALE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tuning reports and DiOMP's 25% bandwidth / 45% latency results turn the hybrid-vs-PGAS debate into a measurement.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EVIDENCE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DIOMP: 25% HIGHER BANDWIDTH, 45% LOWER LATENCY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PGAS-style OpenMP via LLVM and GASNet-EX beats MPI+OpenMP on two key axes at scale.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2331720"/>
          <a:ext cx="6874267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788667" y="2478024"/>
            <a:ext cx="36576" cy="384048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14" name="Text 11"/>
          <p:cNvSpPr/>
          <p:nvPr/>
        </p:nvSpPr>
        <p:spPr>
          <a:xfrm>
            <a:off x="7953259" y="242316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Bandwidth up to 25% higher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788667" y="3392424"/>
            <a:ext cx="36576" cy="384048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16" name="Text 13"/>
          <p:cNvSpPr/>
          <p:nvPr/>
        </p:nvSpPr>
        <p:spPr>
          <a:xfrm>
            <a:off x="7953259" y="333756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Latency down to 45% lower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788667" y="4306824"/>
            <a:ext cx="36576" cy="384048"/>
          </a:xfrm>
          <a:prstGeom prst="rect">
            <a:avLst/>
          </a:prstGeom>
          <a:solidFill>
            <a:srgbClr val="33D6E0"/>
          </a:solidFill>
          <a:ln/>
        </p:spPr>
      </p:sp>
      <p:sp>
        <p:nvSpPr>
          <p:cNvPr id="18" name="Text 15"/>
          <p:cNvSpPr/>
          <p:nvPr/>
        </p:nvSpPr>
        <p:spPr>
          <a:xfrm>
            <a:off x="7953259" y="425196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Lower is better for latency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Divyajoyt Sinha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EVIDENCE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HYBRID SCALES: MEASURED GROMACS LIMITS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tuning documentation turns the scaling story into numbers: thread ceilings, PME bottlenecks, and the hybrid crossover.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3D6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6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101800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Strong-scaling rule: keep ~200 particles/core; past that, flat-MPI efficiency drops and hybrid ranks win.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3D6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55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6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101800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OpenMP scaling ceiling: 12–24 Intel / 6–8 AMD threads; beyond it, add MPI ranks, not threads.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42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3D6E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42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6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101800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Above 16 ranks, PME's all-to-all 3D-FFT bottlenecks; dedicated PME ranks are the hybrid split that restores scaling.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3D6E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28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6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371600" y="4690872"/>
            <a:ext cx="101800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Hybrid adds overhead at small process counts; the message-count payoff only appears at high core counts — the crossover is the argument.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3D6E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6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1371600" y="5477256"/>
            <a:ext cx="101800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multi-GPU nodes, GPU-resident mode plus direct GPU comm removes CPU staging; rank-per-GPU mapping sets the ceiling.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Deepesh Sonar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DIRECTIONS: WHERE MIXED-MODE GOES NEXT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PGAS concepts folding into OpenMP, GPU-resident execution becoming default — the productive path forward for distributed-memory HPC.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DIRECTIONS &amp; RECOMMENDATIONS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DIRECTIONS: FUSION → PERSISTENCE → EXASCALE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proved PGAS-in-OpenMP at 25% higher bandwidth; GPU-resident and direct GPU comm are now defaults; the pipeline runs to exascale PME decomposition.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23160" y="224942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65978" y="224942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2023–25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8797" y="224942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 Fusion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05456" y="260604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96896" y="267004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LLVM + GASNet-EX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96896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PGAS primitives inside OpenMP, no MPI boilerplate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548274" y="260604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39714" y="267004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Ookami + Perlmutter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39714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Microbenchmarks and kernels validated on both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591093" y="260604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2533" y="267004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25% bandwidth win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2533" y="323088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45% lower latency vs MPI+OpenMP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" y="3842004"/>
            <a:ext cx="10911535" cy="13716"/>
          </a:xfrm>
          <a:prstGeom prst="rect">
            <a:avLst/>
          </a:prstGeom>
          <a:solidFill>
            <a:srgbClr val="1E354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572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 Persistence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505456" y="385572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96896" y="391972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GPU-resident mode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96896" y="448056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 and constraints stay on GPU; CPU idle cut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8274" y="385572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39714" y="391972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 GPU comm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9714" y="448056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Default since 2025; bypasses CPU staging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91093" y="385572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2533" y="391972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CUDA graphs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2533" y="448056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2023; trims launch overhead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40080" y="5091684"/>
            <a:ext cx="10911535" cy="13716"/>
          </a:xfrm>
          <a:prstGeom prst="rect">
            <a:avLst/>
          </a:prstGeom>
          <a:solidFill>
            <a:srgbClr val="1E354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105400"/>
            <a:ext cx="1463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Exascale Systems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2505456" y="510540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96896" y="516940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PME decomposition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96896" y="573024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Distributed 3D-FFT via cuFFTMp/HeFFTe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548274" y="510540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39714" y="516940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 PME path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39714" y="573024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CDNA support since 2026 release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8591093" y="5105400"/>
            <a:ext cx="2878226" cy="1158240"/>
          </a:xfrm>
          <a:prstGeom prst="roundRect">
            <a:avLst>
              <a:gd name="adj" fmla="val 3158"/>
            </a:avLst>
          </a:prstGeom>
          <a:solidFill>
            <a:srgbClr val="101A22"/>
          </a:solidFill>
          <a:ln w="12700">
            <a:solidFill>
              <a:srgbClr val="2A4A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682533" y="5169408"/>
            <a:ext cx="2695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NVLINK nodes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2533" y="5730240"/>
            <a:ext cx="2695346" cy="52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GPU-aware MPI for multi-node resident runs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Vedant Sud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7FB6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4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 &amp; CLOSE: THE EVIDENCE TRAIL</a:t>
            </a:r>
            <a:endParaRPr lang="en-US" sz="304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6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performance claim in this deck traces to a cited source — DiOMP, GROMACS tuning guides, and PGAS results — before the final synthesis.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E85AD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"/>
            <a:ext cx="18288" cy="411480"/>
          </a:xfrm>
          <a:prstGeom prst="rect">
            <a:avLst/>
          </a:prstGeom>
          <a:solidFill>
            <a:srgbClr val="33D6E0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080760"/>
            <a:ext cx="12191695" cy="18288"/>
          </a:xfrm>
          <a:prstGeom prst="rect">
            <a:avLst/>
          </a:prstGeom>
          <a:solidFill>
            <a:srgbClr val="33D6E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33D6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8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REFERENCES &amp; CLOSE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10911535" cy="40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spc="3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 RECORD: MIXED-MODE EVIDENCE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167081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documentation and peer-reviewed results backing every claim in this deck.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Baodi Shan et al. published “Towards a Scalable and Efficient PGAS-based Distributed OpenMP” as arXiv:2409.02830 [cs.DC] on 4 Sep 2024.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DiOMP, built on LLVM and GASNet-EX, achieved 25% higher bandwidth and 45% lower latency than MPI+OpenMP on Ookami and Perlmutter.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Project documents “Getting good performance from mdrun” in the current release.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This authoritative tuning guide covers thread-MPI versus MPI, OpenMP threads, GPU offload flags, and PME rank counts.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Project. “Getting good performance from mdrun.” GROMACS 5.1.1 documentation.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This document supplies the baseline for SIMD kernel selection, -ntmpi/-ntomp/-npme controls, and strong-scaling guidance around 200 particles/core.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FF3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GROMACS Reference Manual. Domain decomposition and parallelization chapters.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6E8B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Defines PP/PME split, dynamic load balancing, update groups, and GPU-resident constraints.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Dhwani Tandon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800" b="1" spc="50" kern="0" dirty="0">
                <a:solidFill>
                  <a:srgbClr val="DF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MIXED-MODE: FUSE, OFFLOAD, REMOTE — THEN SCALE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167695" y="3977640"/>
            <a:ext cx="785630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F7B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DiOMP shows PGAS one-sided beats MPI+OpenMP: up to 25% higher bandwidth, 45% lower latency. GROMACS scales with MPI+OpenMP plus GPU-resident offload and direct GPU communication. Path forward: hybrid MPI+OpenMP, task-based dependencies, GPU offload, and one-sided PGAS on hot paths.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41368" y="5577840"/>
            <a:ext cx="3108960" cy="548640"/>
          </a:xfrm>
          <a:prstGeom prst="roundRect">
            <a:avLst>
              <a:gd name="adj" fmla="val 66667"/>
            </a:avLst>
          </a:prstGeom>
          <a:solidFill>
            <a:srgbClr val="E85AD4"/>
          </a:solidFill>
          <a:ln/>
        </p:spPr>
      </p:sp>
      <p:sp>
        <p:nvSpPr>
          <p:cNvPr id="5" name="Text 3"/>
          <p:cNvSpPr/>
          <p:nvPr/>
        </p:nvSpPr>
        <p:spPr>
          <a:xfrm>
            <a:off x="4541368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A0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 ON YOUR NODE — START HYBRID TODAY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Trends in Mixed-Mode Programming for High-Performance Computing</dc:title>
  <dc:subject>PptxGenJS Presentation</dc:subject>
  <dc:creator>Raunak SIngh, Rishit Singh, Rudrapratap Singh, Sakshi Singh, Udaypratap Singh, Vicky Singh, Vishesh Singh, Divyajoyt Sinha, Deepesh Sonar, Vedant Sud, Dhwani Tandon</dc:creator>
  <cp:lastModifiedBy>Raunak SIngh, Rishit Singh, Rudrapratap Singh, Sakshi Singh, Udaypratap Singh, Vicky Singh, Vishesh Singh, Divyajoyt Sinha, Deepesh Sonar, Vedant Sud, Dhwani Tandon</cp:lastModifiedBy>
  <cp:revision>1</cp:revision>
  <dcterms:created xsi:type="dcterms:W3CDTF">2026-08-16T10:29:27Z</dcterms:created>
  <dcterms:modified xsi:type="dcterms:W3CDTF">2026-08-16T10:29:27Z</dcterms:modified>
</cp:coreProperties>
</file>