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2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charts/chart3.xml" ContentType="application/vnd.openxmlformats-officedocument.drawingml.chart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Days &gt;86F per summer</c:v>
                </c:pt>
              </c:strCache>
            </c:strRef>
          </c:tx>
          <c:spPr>
            <a:solidFill>
              <a:srgbClr val="C05D4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00000"/>
                    </a:solidFill>
                    <a:latin typeface="Inter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Early period</c:v>
                  </c:pt>
                  <c:pt idx="1">
                    <c:v>2014-2023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14</c:v>
                </c:pt>
                <c:pt idx="1">
                  <c:v>32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000000"/>
                  </a:solidFill>
                  <a:latin typeface="Inter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C5C59"/>
                </a:solidFill>
                <a:latin typeface="Inter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8D8D2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C5C59"/>
                </a:solidFill>
                <a:latin typeface="Inter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Air temp cut</c:v>
                </c:pt>
              </c:strCache>
            </c:strRef>
          </c:tx>
          <c:spPr>
            <a:solidFill>
              <a:srgbClr val="C05D4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00000"/>
                    </a:solidFill>
                    <a:latin typeface="Inter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Atlanta citywide</c:v>
                  </c:pt>
                  <c:pt idx="1">
                    <c:v>Redlined blocks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1.4</c:v>
                </c:pt>
                <c:pt idx="1">
                  <c:v>3.5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000000"/>
                  </a:solidFill>
                  <a:latin typeface="Inter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C5C59"/>
                </a:solidFill>
                <a:latin typeface="Inter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8D8D2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C5C59"/>
                </a:solidFill>
                <a:latin typeface="Inter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Heat-stress deaths</c:v>
                </c:pt>
              </c:strCache>
            </c:strRef>
          </c:tx>
          <c:spPr>
            <a:solidFill>
              <a:srgbClr val="C05D4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00000"/>
                    </a:solidFill>
                    <a:latin typeface="Inter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Black New Yorkers</c:v>
                  </c:pt>
                  <c:pt idx="1">
                    <c:v>Latino New Yorkers</c:v>
                  </c:pt>
                  <c:pt idx="2">
                    <c:v>White New Yorkers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1.2</c:v>
                </c:pt>
                <c:pt idx="1">
                  <c:v>1</c:v>
                </c:pt>
                <c:pt idx="2">
                  <c:v>0.4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000000"/>
                  </a:solidFill>
                  <a:latin typeface="Inter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C5C59"/>
                </a:solidFill>
                <a:latin typeface="Inter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8D8D2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C5C59"/>
                </a:solidFill>
                <a:latin typeface="Inter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Set up talk question: generic heat response misses where risk concentrates. Preview measuring, cooling surfaces, protecting communities.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Atlanta + SSC modeling via Cool Cities Lab. Citywide reflective-roof upgrade = ~1.4C air-temp cut; historically redlined Westside blocks = up to 3.5C cut, where canopy is lowest and AC access is under 80%.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Hand off to Nia Thomas: from cooling streets to protecting older adults and high-risk neighbors through equity-first implementation.
[grounding] unverified — not found in your uploaded file: 20301
[grounding] unverified — not found in your uploaded file: 20301
[grounding] unverified — not found in your uploaded file: 20301
[grounding] unverified — not found in your uploaded file: 20301
[grounding] unverified — not found in your uploaded file: 20301
[grounding] unverified — not found in your uploaded file: 20301
[grounding] unverified — not found in your uploaded file: 20301
[grounding] unverified — not found in your uploaded file: 20301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NYC 2016-2025 rates show structural risk: deaths concentrate at home, highest age 60+ in Brooklyn and Bronx. Atlanta Westside gap shows why home cooling is protection.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Land agency: heat death is preventable where measurement, design and protection meet.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image" Target="../media/image-5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image" Target="../media/image-8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image" Target="../media/image-14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slide1.xml><?xml version="1.0" encoding="UTF-8" standalone="yes"?>
<p:sld xmlns:a="http://schemas.openxmlformats.org/drawingml/2006/main" xmlns:r="http://schemas.openxmlformats.org/officeDocument/2006/relationships" xmlns:p="http://schemas.openxmlformats.org/presentationml/2006/main"><p:cSld name="Slide 1"><p:bg><p:bgPr><a:solidFill><a:srgbClr val="2D2D2A"/></a:solidFill></p:bgPr></p:bg><p:spTree><p:nvGrpSpPr><p:cNvPr id="1" name=""/><p:cNvGrpSpPr/><p:nvPr/></p:nvGrpSpPr><p:grpSpPr><a:xfrm><a:off x="0" y="0"/><a:ext cx="0" cy="0"/><a:chOff x="0" y="0"/><a:chExt cx="0" cy="0"/></a:xfrm></p:grpSpPr><p:sp><p:nvSpPr><p:cNvPr id="2" name="Text 0"></p:cNvPr><p:cNvSpPr/><p:nvPr></p:nvPr></p:nvSpPr><p:spPr><a:xfrm><a:off x="640080" y="1783080"/><a:ext cx="10911535" cy="2286000"/></a:xfrm><a:prstGeom prst="rect"><a:avLst></a:avLst></a:prstGeom><a:noFill/><a:ln></a:ln></p:spPr><p:txBody><a:bodyPr wrap="square" rtlCol="0" anchor="b"></a:bodyPr><a:lstStyle/><a:p><a:pPr indent="0" marL="0"><a:lnSpc><a:spcPts val="4500"/></a:lnSpc><a:buNone/></a:pPr><a:r><a:rPr lang="en-US" sz="4000" b="1" spc="-50" kern="0" dirty="0"><a:solidFill><a:srgbClr val="FFFFFF"/></a:solidFill><a:latin typeface="Merriweather" pitchFamily="34" charset="0"/><a:ea typeface="Merriweather" pitchFamily="34" charset="-122"/><a:cs typeface="Merriweather" pitchFamily="34" charset="-120"/></a:rPr><a:t>Why Targeted Cooling Beats Citywide Heat Response</a:t></a:r><a:endParaRPr lang="en-US" sz="4000" dirty="0"/></a:p></p:txBody></p:sp><p:sp><p:nvSpPr><p:cNvPr id="3" name="Text 1"></p:cNvPr><p:cNvSpPr/><p:nvPr></p:nvPr></p:nvSpPr><p:spPr><a:xfrm><a:off x="640080" y="4251960"/><a:ext cx="10911535" cy="457200"/></a:xfrm><a:prstGeom prst="rect"><a:avLst></a:avLst></a:prstGeom><a:noFill/><a:ln></a:ln></p:spPr><p:txBody><a:bodyPr wrap="square" rtlCol="0" anchor="ctr"></a:bodyPr><a:lstStyle/><a:p><a:pPr indent="0" marL="0"><a:lnSpc><a:spcPts val="2200"/></a:lnSpc><a:buNone/></a:pPr><a:r><a:rPr lang="en-US" sz="1500" i="1" dirty="0"><a:solidFill><a:srgbClr val="A8A8A2"/></a:solidFill><a:latin typeface="Inter" pitchFamily="34" charset="0"/><a:ea typeface="Inter" pitchFamily="34" charset="-122"/><a:cs typeface="Inter" pitchFamily="34" charset="-120"/></a:rPr><a:t>500 New Yorkers die early each summer 26 yet one district can feel 14 degrees C hotter than another.</a:t></a:r><a:endParaRPr lang="en-US" sz="1500" dirty="0"/></a:p></p:txBody></p:sp><p:sp><p:nvSpPr><p:cNvPr id="4" name="Text 2"></p:cNvPr><p:cNvSpPr/><p:nvPr></p:nvPr></p:nvSpPr><p:spPr><a:xfrm><a:off x="640080" y="4709160"/><a:ext cx="10911535" cy="365760"/></a:xfrm><a:prstGeom prst="rect"><a:avLst></a:avLst></a:prstGeom><a:noFill/><a:ln></a:ln></p:spPr><p:txBody><a:bodyPr wrap="square" rtlCol="0" anchor="ctr"></a:bodyPr><a:lstStyle/><a:p><a:pPr indent="0" marL="0"><a:lnSpc><a:spcPts val="1400"/></a:lnSpc><a:buNone/></a:pPr><a:r><a:rPr lang="en-US" sz="1000" spc="20" kern="0" dirty="0"><a:solidFill><a:srgbClr val="A8A8A2"/></a:solidFill><a:latin typeface="Inter" pitchFamily="34" charset="0"/><a:ea typeface="Inter" pitchFamily="34" charset="-122"/><a:cs typeface="Inter" pitchFamily="34" charset="-120"/></a:rPr><a:t>Asha Rao · Kabir Mehta · Nia Thomas</a:t></a:r><a:endParaRPr lang="en-US" sz="1000" dirty="0"/></a:p></p:txBody></p:sp><p:sp><p:nvSpPr><p:cNvPr id="5" name="Text 3"></p:cNvPr><p:cNvSpPr/><p:nvPr></p:nvPr></p:nvSpPr><p:spPr><a:xfrm><a:off x="640080" y="5093208"/><a:ext cx="10911535" cy="320040"/></a:xfrm><a:prstGeom prst="rect"><a:avLst></a:avLst></a:prstGeom><a:noFill/><a:ln></a:ln></p:spPr><p:txBody><a:bodyPr wrap="square" rtlCol="0" anchor="ctr"></a:bodyPr><a:lstStyle/><a:p><a:pPr indent="0" marL="0"><a:lnSpc><a:spcPts val="1400"/></a:lnSpc><a:buNone/></a:pPr><a:r><a:rPr lang="en-US" sz="1000" spc="20" kern="0" dirty="0"><a:solidFill><a:srgbClr val="A8A8A2"/></a:solidFill><a:latin typeface="Inter" pitchFamily="34" charset="0"/><a:ea typeface="Inter" pitchFamily="34" charset="-122"/><a:cs typeface="Inter" pitchFamily="34" charset="-120"/></a:rPr><a:t>Guide: Dr. Mira Sen · Urban Systems Lab</a:t></a:r><a:endParaRPr lang="en-US" sz="1000" dirty="0"/></a:p></p:txBody></p:sp><p:sp><p:nvSpPr><p:cNvPr id="6" name="Text 4"></p:cNvPr><p:cNvSpPr/><p:nvPr></p:nvPr></p:nvSpPr><p:spPr><a:xfrm><a:off x="640080" y="5971032"/><a:ext cx="10911535" cy="320040"/></a:xfrm><a:prstGeom prst="rect"><a:avLst></a:avLst></a:prstGeom><a:noFill/><a:ln></a:ln></p:spPr><p:txBody><a:bodyPr wrap="square" rtlCol="0" anchor="ctr"></a:bodyPr><a:lstStyle/><a:p><a:pPr indent="0" marL="0"><a:lnSpc><a:spcPts val="1400"/></a:lnSpc><a:buNone/></a:pPr><a:r><a:rPr lang="en-US" sz="1000" spc="20" kern="0" dirty="0"><a:solidFill><a:srgbClr val="D97706"/></a:solidFill><a:latin typeface="Inter" pitchFamily="34" charset="0"/><a:ea typeface="Inter" pitchFamily="34" charset="-122"/><a:cs typeface="Inter" pitchFamily="34" charset="-120"/></a:rPr><a:t>Environmental Engineering  ·  Final year</a:t></a:r><a:endParaRPr lang="en-US" sz="1000" dirty="0"/></a:p></p:txBody></p:sp></p:spTree></p:cSld><p:clrMapOvr><a:masterClrMapping/></p:clrMapOvr>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BEB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621792"/>
            <a:ext cx="822960" cy="91440"/>
          </a:xfrm>
          <a:prstGeom prst="rect">
            <a:avLst/>
          </a:prstGeom>
          <a:solidFill>
            <a:srgbClr val="C05D4E"/>
          </a:solidFill>
          <a:ln/>
        </p:spPr>
      </p:sp>
      <p:sp>
        <p:nvSpPr>
          <p:cNvPr id="3" name="Text 1"/>
          <p:cNvSpPr/>
          <p:nvPr/>
        </p:nvSpPr>
        <p:spPr>
          <a:xfrm>
            <a:off x="1664208" y="566928"/>
            <a:ext cx="84511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b="1" spc="120" kern="0" dirty="0">
                <a:solidFill>
                  <a:srgbClr val="5C5C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MEASURING URBAN HEAT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1188720"/>
            <a:ext cx="9475240" cy="899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3500"/>
              </a:lnSpc>
              <a:buNone/>
            </a:pPr>
            <a:r>
              <a:rPr lang="en-US" sz="3000" b="1" spc="-30" kern="0" dirty="0">
                <a:solidFill>
                  <a:srgbClr val="2D2D2A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Three moves to cool the city where it matters most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2142744"/>
            <a:ext cx="10911535" cy="13716"/>
          </a:xfrm>
          <a:prstGeom prst="rect">
            <a:avLst/>
          </a:prstGeom>
          <a:solidFill>
            <a:srgbClr val="D8D8D2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2307336"/>
            <a:ext cx="10911535" cy="66217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5C5C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Measure hyperlocal risk, cool surfaces, then keep homes survivable through summer.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0080" y="2969514"/>
            <a:ext cx="566928" cy="92735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b="1" spc="120" kern="0" dirty="0">
                <a:solidFill>
                  <a:srgbClr val="C05D4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435608" y="2969514"/>
            <a:ext cx="10116007" cy="46367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b="1" dirty="0">
                <a:solidFill>
                  <a:srgbClr val="2D2D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1. Measure Street-Level Heat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435608" y="3469767"/>
            <a:ext cx="10116007" cy="42710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spc="20" kern="0" dirty="0">
                <a:solidFill>
                  <a:srgbClr val="5C5C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Maps reveal zones up to 14 degrees C hotter with 0% to 6% vegetation cover.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40080" y="4152900"/>
            <a:ext cx="566928" cy="92735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b="1" spc="120" kern="0" dirty="0">
                <a:solidFill>
                  <a:srgbClr val="C05D4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435608" y="4152900"/>
            <a:ext cx="10116007" cy="46367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b="1" dirty="0">
                <a:solidFill>
                  <a:srgbClr val="2D2D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2. Cool Streets &amp; Surfaces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435608" y="4653153"/>
            <a:ext cx="10116007" cy="42710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spc="20" kern="0" dirty="0">
                <a:solidFill>
                  <a:srgbClr val="5C5C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Cool roofs could save more than $300 million over the next 35 years.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40080" y="5336286"/>
            <a:ext cx="566928" cy="92735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b="1" spc="120" kern="0" dirty="0">
                <a:solidFill>
                  <a:srgbClr val="C05D4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435608" y="5336286"/>
            <a:ext cx="10116007" cy="46367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b="1" dirty="0">
                <a:solidFill>
                  <a:srgbClr val="2D2D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3. Protect Communities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435608" y="5836539"/>
            <a:ext cx="10116007" cy="42710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spc="20" kern="0" dirty="0">
                <a:solidFill>
                  <a:srgbClr val="5C5C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Home cooling for ~500 yearly deaths, 3% of May-September deaths in NYC.</a:t>
            </a:r>
            <a:endParaRPr lang="en-US" sz="1000" dirty="0"/>
          </a:p>
        </p:txBody>
      </p:sp>
      <p:pic>
        <p:nvPicPr>
          <p:cNvPr id="16" name="Image 0" descr="/home/deepnar/Programs/presentations/brand/generated/cres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84000" y="237744"/>
            <a:ext cx="704776" cy="749808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640080" y="6327648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5C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Asha Rao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10454335" y="632764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5C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 / 17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C05D4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606040"/>
            <a:ext cx="1091153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00" b="1" spc="120" kern="0" dirty="0">
                <a:solidFill>
                  <a:srgbClr val="F2DC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640080" y="3008376"/>
            <a:ext cx="914400" cy="45720"/>
          </a:xfrm>
          <a:prstGeom prst="rect">
            <a:avLst/>
          </a:prstGeom>
          <a:solidFill>
            <a:srgbClr val="F2DCD7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3227832"/>
            <a:ext cx="10911535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3600"/>
              </a:lnSpc>
              <a:buNone/>
            </a:pPr>
            <a:r>
              <a:rPr lang="en-US" sz="3200" b="1" spc="-50" kern="0" dirty="0">
                <a:solidFill>
                  <a:srgbClr val="FFFFFF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Same City, 14 Degrees C Apart: Heat Is Block by Block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40080" y="4233672"/>
            <a:ext cx="7201613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F2DC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Asha Rao maps heat street by street to expose hidden red zones — and where cooling matters most.</a:t>
            </a:r>
            <a:endParaRPr lang="en-US" sz="1500" dirty="0"/>
          </a:p>
        </p:txBody>
      </p:sp>
      <p:pic>
        <p:nvPicPr>
          <p:cNvPr id="6" name="Image 0" descr="/home/deepnar/Programs/presentations/brand/generated/cres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84000" y="237744"/>
            <a:ext cx="704776" cy="7498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454335" y="632764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 / 17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BEB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621792"/>
            <a:ext cx="822960" cy="91440"/>
          </a:xfrm>
          <a:prstGeom prst="rect">
            <a:avLst/>
          </a:prstGeom>
          <a:solidFill>
            <a:srgbClr val="C05D4E"/>
          </a:solidFill>
          <a:ln/>
        </p:spPr>
      </p:sp>
      <p:sp>
        <p:nvSpPr>
          <p:cNvPr id="3" name="Text 1"/>
          <p:cNvSpPr/>
          <p:nvPr/>
        </p:nvSpPr>
        <p:spPr>
          <a:xfrm>
            <a:off x="1664208" y="566928"/>
            <a:ext cx="84511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b="1" spc="120" kern="0" dirty="0">
                <a:solidFill>
                  <a:srgbClr val="5C5C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MEASURING URBAN HEAT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1188720"/>
            <a:ext cx="9475240" cy="899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3500"/>
              </a:lnSpc>
              <a:buNone/>
            </a:pPr>
            <a:r>
              <a:rPr lang="en-US" sz="3000" b="1" spc="-30" kern="0" dirty="0">
                <a:solidFill>
                  <a:srgbClr val="2D2D2A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Dark lots make this block hotter than the next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2142744"/>
            <a:ext cx="10911535" cy="13716"/>
          </a:xfrm>
          <a:prstGeom prst="rect">
            <a:avLst/>
          </a:prstGeom>
          <a:solidFill>
            <a:srgbClr val="D8D8D2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2307336"/>
            <a:ext cx="10911535" cy="66217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5C5C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Albedo 0-1 explains block gaps: measure reflectivity street by street to target cooling.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0080" y="2969514"/>
            <a:ext cx="10911535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3500"/>
              </a:lnSpc>
              <a:buNone/>
            </a:pPr>
            <a:r>
              <a:rPr lang="en-US" sz="3000" b="1" spc="-30" kern="0" dirty="0">
                <a:solidFill>
                  <a:srgbClr val="C05D4E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Block heat / albedo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640080" y="3929634"/>
            <a:ext cx="10911535" cy="132816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2D2D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One block runs up to 14C hotter than another as dark roofs, asphalt and 0% to 6% vegetation trap heat; albedo scores reflectivity 0 absorbs to 1 reflects.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0080" y="5449824"/>
            <a:ext cx="45720" cy="566928"/>
          </a:xfrm>
          <a:prstGeom prst="rect">
            <a:avLst/>
          </a:prstGeom>
          <a:solidFill>
            <a:srgbClr val="C05D4E"/>
          </a:solidFill>
          <a:ln/>
        </p:spPr>
      </p:sp>
      <p:sp>
        <p:nvSpPr>
          <p:cNvPr id="10" name="Text 8"/>
          <p:cNvSpPr/>
          <p:nvPr/>
        </p:nvSpPr>
        <p:spPr>
          <a:xfrm>
            <a:off x="841248" y="5394960"/>
            <a:ext cx="10710367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i="1" spc="20" kern="0" dirty="0">
                <a:solidFill>
                  <a:srgbClr val="5C5C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Fresh asphalt 0.04 absorbs 96% sun; new concrete 0.55 and grass 0.25 stay far cooler.</a:t>
            </a:r>
            <a:endParaRPr lang="en-US" sz="1000" dirty="0"/>
          </a:p>
        </p:txBody>
      </p:sp>
      <p:pic>
        <p:nvPicPr>
          <p:cNvPr id="11" name="Image 0" descr="/home/deepnar/Programs/presentations/brand/generated/cres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84000" y="237744"/>
            <a:ext cx="704776" cy="749808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640080" y="6327648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5C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Asha Rao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10454335" y="632764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5C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 / 17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BEB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621792"/>
            <a:ext cx="822960" cy="91440"/>
          </a:xfrm>
          <a:prstGeom prst="rect">
            <a:avLst/>
          </a:prstGeom>
          <a:solidFill>
            <a:srgbClr val="C05D4E"/>
          </a:solidFill>
          <a:ln/>
        </p:spPr>
      </p:sp>
      <p:sp>
        <p:nvSpPr>
          <p:cNvPr id="3" name="Text 1"/>
          <p:cNvSpPr/>
          <p:nvPr/>
        </p:nvSpPr>
        <p:spPr>
          <a:xfrm>
            <a:off x="1664208" y="566928"/>
            <a:ext cx="84511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b="1" spc="120" kern="0" dirty="0">
                <a:solidFill>
                  <a:srgbClr val="5C5C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MEASURING URBAN HEAT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1188720"/>
            <a:ext cx="9475240" cy="899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3500"/>
              </a:lnSpc>
              <a:buNone/>
            </a:pPr>
            <a:r>
              <a:rPr lang="en-US" sz="3000" b="1" spc="-30" kern="0" dirty="0">
                <a:solidFill>
                  <a:srgbClr val="2D2D2A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Heat doubled unevenly: hottest blocks carry the risk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2142744"/>
            <a:ext cx="10911535" cy="13716"/>
          </a:xfrm>
          <a:prstGeom prst="rect">
            <a:avLst/>
          </a:prstGeom>
          <a:solidFill>
            <a:srgbClr val="D8D8D2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2307336"/>
            <a:ext cx="10911535" cy="66217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5C5C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Days over 86F rose 14 to 32 per summer; 14C block gaps show where extra heat lands.</a:t>
            </a:r>
            <a:endParaRPr lang="en-US" sz="15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640080" y="2969514"/>
          <a:ext cx="6874267" cy="3294126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Shape 5"/>
          <p:cNvSpPr/>
          <p:nvPr/>
        </p:nvSpPr>
        <p:spPr>
          <a:xfrm>
            <a:off x="7788667" y="3115818"/>
            <a:ext cx="36576" cy="384048"/>
          </a:xfrm>
          <a:prstGeom prst="rect">
            <a:avLst/>
          </a:prstGeom>
          <a:solidFill>
            <a:srgbClr val="C05D4E"/>
          </a:solidFill>
          <a:ln/>
        </p:spPr>
      </p:sp>
      <p:sp>
        <p:nvSpPr>
          <p:cNvPr id="9" name="Text 6"/>
          <p:cNvSpPr/>
          <p:nvPr/>
        </p:nvSpPr>
        <p:spPr>
          <a:xfrm>
            <a:off x="7953259" y="3060954"/>
            <a:ext cx="3598356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170" dirty="0">
                <a:solidFill>
                  <a:srgbClr val="2D2D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14C gap: bare blocks vs leafier blocks nearby</a:t>
            </a:r>
            <a:endParaRPr lang="en-US" sz="1170" dirty="0"/>
          </a:p>
        </p:txBody>
      </p:sp>
      <p:sp>
        <p:nvSpPr>
          <p:cNvPr id="10" name="Shape 7"/>
          <p:cNvSpPr/>
          <p:nvPr/>
        </p:nvSpPr>
        <p:spPr>
          <a:xfrm>
            <a:off x="7788667" y="4030218"/>
            <a:ext cx="36576" cy="384048"/>
          </a:xfrm>
          <a:prstGeom prst="rect">
            <a:avLst/>
          </a:prstGeom>
          <a:solidFill>
            <a:srgbClr val="C05D4E"/>
          </a:solidFill>
          <a:ln/>
        </p:spPr>
      </p:sp>
      <p:sp>
        <p:nvSpPr>
          <p:cNvPr id="11" name="Text 8"/>
          <p:cNvSpPr/>
          <p:nvPr/>
        </p:nvSpPr>
        <p:spPr>
          <a:xfrm>
            <a:off x="7953259" y="3975354"/>
            <a:ext cx="3598356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170" dirty="0">
                <a:solidFill>
                  <a:srgbClr val="2D2D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0% to 6% vegetation flags priority blocks</a:t>
            </a:r>
            <a:endParaRPr lang="en-US" sz="1170" dirty="0"/>
          </a:p>
        </p:txBody>
      </p:sp>
      <p:sp>
        <p:nvSpPr>
          <p:cNvPr id="12" name="Shape 9"/>
          <p:cNvSpPr/>
          <p:nvPr/>
        </p:nvSpPr>
        <p:spPr>
          <a:xfrm>
            <a:off x="7788667" y="4944618"/>
            <a:ext cx="36576" cy="384048"/>
          </a:xfrm>
          <a:prstGeom prst="rect">
            <a:avLst/>
          </a:prstGeom>
          <a:solidFill>
            <a:srgbClr val="C05D4E"/>
          </a:solidFill>
          <a:ln/>
        </p:spPr>
      </p:sp>
      <p:sp>
        <p:nvSpPr>
          <p:cNvPr id="13" name="Text 10"/>
          <p:cNvSpPr/>
          <p:nvPr/>
        </p:nvSpPr>
        <p:spPr>
          <a:xfrm>
            <a:off x="7953259" y="4889754"/>
            <a:ext cx="3598356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170" dirty="0">
                <a:solidFill>
                  <a:srgbClr val="2D2D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489 deaths/yr: target where heat concentrates</a:t>
            </a:r>
            <a:endParaRPr lang="en-US" sz="1170" dirty="0"/>
          </a:p>
        </p:txBody>
      </p:sp>
      <p:pic>
        <p:nvPicPr>
          <p:cNvPr id="14" name="Image 0" descr="/home/deepnar/Programs/presentations/brand/generated/cres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84000" y="237744"/>
            <a:ext cx="704776" cy="749808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640080" y="6327648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5C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Asha Rao</a:t>
            </a:r>
            <a:endParaRPr lang="en-US" sz="900" dirty="0"/>
          </a:p>
        </p:txBody>
      </p:sp>
      <p:sp>
        <p:nvSpPr>
          <p:cNvPr id="16" name="Text 12"/>
          <p:cNvSpPr/>
          <p:nvPr/>
        </p:nvSpPr>
        <p:spPr>
          <a:xfrm>
            <a:off x="10454335" y="632764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5C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 / 17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BEB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621792"/>
            <a:ext cx="822960" cy="91440"/>
          </a:xfrm>
          <a:prstGeom prst="rect">
            <a:avLst/>
          </a:prstGeom>
          <a:solidFill>
            <a:srgbClr val="C05D4E"/>
          </a:solidFill>
          <a:ln/>
        </p:spPr>
      </p:sp>
      <p:sp>
        <p:nvSpPr>
          <p:cNvPr id="3" name="Text 1"/>
          <p:cNvSpPr/>
          <p:nvPr/>
        </p:nvSpPr>
        <p:spPr>
          <a:xfrm>
            <a:off x="1664208" y="566928"/>
            <a:ext cx="84511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b="1" spc="120" kern="0" dirty="0">
                <a:solidFill>
                  <a:srgbClr val="5C5C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MEASURING URBAN HEAT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1188720"/>
            <a:ext cx="9475240" cy="899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3500"/>
              </a:lnSpc>
              <a:buNone/>
            </a:pPr>
            <a:r>
              <a:rPr lang="en-US" sz="3000" b="1" spc="-30" kern="0" dirty="0">
                <a:solidFill>
                  <a:srgbClr val="2D2D2A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Dark, bare blocks trap heat that feeds on itself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2142744"/>
            <a:ext cx="10911535" cy="13716"/>
          </a:xfrm>
          <a:prstGeom prst="rect">
            <a:avLst/>
          </a:prstGeom>
          <a:solidFill>
            <a:srgbClr val="D8D8D2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2307336"/>
            <a:ext cx="10911535" cy="66217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5C5C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Low-albedo asphalt and 0% to 6% vegetation leave one zone 14 degrees C hotter.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 flipH="1">
            <a:off x="7078205" y="4273106"/>
            <a:ext cx="1672464" cy="778383"/>
          </a:xfrm>
          <a:prstGeom prst="line">
            <a:avLst/>
          </a:prstGeom>
          <a:noFill/>
          <a:ln w="13970">
            <a:solidFill>
              <a:srgbClr val="D8D8D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452829" y="3358706"/>
            <a:ext cx="2011680" cy="914400"/>
          </a:xfrm>
          <a:prstGeom prst="roundRect">
            <a:avLst>
              <a:gd name="adj" fmla="val 2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03200" dist="50800" dir="5400000">
              <a:srgbClr val="2D2D2A">
                <a:alpha val="9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544269" y="341357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00" b="1" spc="20" kern="0" dirty="0">
                <a:solidFill>
                  <a:srgbClr val="2D2D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Fresh asphalt 0.04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544269" y="3706177"/>
            <a:ext cx="1828800" cy="493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00" spc="20" kern="0" dirty="0">
                <a:solidFill>
                  <a:srgbClr val="5C5C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absorbs almost all sun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090008" y="3358706"/>
            <a:ext cx="2011680" cy="914400"/>
          </a:xfrm>
          <a:prstGeom prst="roundRect">
            <a:avLst>
              <a:gd name="adj" fmla="val 2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03200" dist="50800" dir="5400000">
              <a:srgbClr val="2D2D2A">
                <a:alpha val="9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81448" y="341357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00" b="1" spc="20" kern="0" dirty="0">
                <a:solidFill>
                  <a:srgbClr val="2D2D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Worn asphalt 0.12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181448" y="3706177"/>
            <a:ext cx="1828800" cy="493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00" spc="20" kern="0" dirty="0">
                <a:solidFill>
                  <a:srgbClr val="5C5C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dark streets stay hot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8727186" y="3358706"/>
            <a:ext cx="2011680" cy="914400"/>
          </a:xfrm>
          <a:prstGeom prst="roundRect">
            <a:avLst>
              <a:gd name="adj" fmla="val 2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03200" dist="50800" dir="5400000">
              <a:srgbClr val="2D2D2A">
                <a:alpha val="9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818626" y="341357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00" b="1" spc="20" kern="0" dirty="0">
                <a:solidFill>
                  <a:srgbClr val="2D2D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Green grass 0.25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8818626" y="3706177"/>
            <a:ext cx="1828800" cy="493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00" spc="20" kern="0" dirty="0">
                <a:solidFill>
                  <a:srgbClr val="5C5C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reflects far more sun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090008" y="5051489"/>
            <a:ext cx="2011680" cy="914400"/>
          </a:xfrm>
          <a:prstGeom prst="roundRect">
            <a:avLst>
              <a:gd name="adj" fmla="val 2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03200" dist="50800" dir="5400000">
              <a:srgbClr val="2D2D2A">
                <a:alpha val="9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181448" y="5106353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00" b="1" spc="20" kern="0" dirty="0">
                <a:solidFill>
                  <a:srgbClr val="2D2D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Vegetation 0% to 6%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181448" y="5398961"/>
            <a:ext cx="1828800" cy="493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00" spc="20" kern="0" dirty="0">
                <a:solidFill>
                  <a:srgbClr val="5C5C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northwest zone stripped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286179" y="4572286"/>
            <a:ext cx="1256515" cy="180023"/>
          </a:xfrm>
          <a:prstGeom prst="rect">
            <a:avLst/>
          </a:prstGeom>
          <a:solidFill>
            <a:srgbClr val="EBEBE6"/>
          </a:solidFill>
          <a:ln/>
        </p:spPr>
      </p:sp>
      <p:sp>
        <p:nvSpPr>
          <p:cNvPr id="21" name="Text 19"/>
          <p:cNvSpPr/>
          <p:nvPr/>
        </p:nvSpPr>
        <p:spPr>
          <a:xfrm>
            <a:off x="7286179" y="4572286"/>
            <a:ext cx="1256515" cy="180023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800" spc="20" kern="0" dirty="0">
                <a:solidFill>
                  <a:srgbClr val="5C5C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lost to concrete</a:t>
            </a:r>
            <a:endParaRPr lang="en-US" sz="800" dirty="0"/>
          </a:p>
        </p:txBody>
      </p:sp>
      <p:pic>
        <p:nvPicPr>
          <p:cNvPr id="22" name="Image 0" descr="/home/deepnar/Programs/presentations/brand/generated/cres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84000" y="237744"/>
            <a:ext cx="704776" cy="749808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640080" y="6327648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5C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Asha Rao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10454335" y="632764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5C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 / 17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 standalone="yes"?>
<p:sld xmlns:a="http://schemas.openxmlformats.org/drawingml/2006/main" xmlns:r="http://schemas.openxmlformats.org/officeDocument/2006/relationships" xmlns:p="http://schemas.openxmlformats.org/presentationml/2006/main"><p:cSld name="Slide 7"><p:bg><p:bgPr><a:solidFill><a:srgbClr val="C05D4E"/></a:solidFill></p:bgPr></p:bg><p:spTree><p:nvGrpSpPr><p:cNvPr id="1" name=""/><p:cNvGrpSpPr/><p:nvPr/></p:nvGrpSpPr><p:grpSpPr><a:xfrm><a:off x="0" y="0"/><a:ext cx="0" cy="0"/><a:chOff x="0" y="0"/><a:chExt cx="0" cy="0"/></a:xfrm></p:grpSpPr><p:sp><p:nvSpPr><p:cNvPr id="2" name="Text 0"></p:cNvPr><p:cNvSpPr/><p:nvPr></p:nvPr></p:nvSpPr><p:spPr><a:xfrm><a:off x="640080" y="2606040"/><a:ext cx="10911535" cy="310896"/></a:xfrm><a:prstGeom prst="rect"><a:avLst></a:avLst></a:prstGeom><a:noFill/><a:ln></a:ln></p:spPr><p:txBody><a:bodyPr wrap="square" rtlCol="0" anchor="ctr"></a:bodyPr><a:lstStyle/><a:p><a:pPr indent="0" marL="0"><a:lnSpc><a:spcPts val="1200"/></a:lnSpc><a:buNone/></a:pPr><a:r><a:rPr lang="en-US" sz="1000" b="1" spc="120" kern="0" dirty="0"><a:solidFill><a:srgbClr val="F2DCD7"/></a:solidFill><a:latin typeface="Inter" pitchFamily="34" charset="0"/><a:ea typeface="Inter" pitchFamily="34" charset="-122"/><a:cs typeface="Inter" pitchFamily="34" charset="-120"/></a:rPr><a:t>02</a:t></a:r><a:endParaRPr lang="en-US" sz="1000" dirty="0"/></a:p></p:txBody></p:sp><p:sp><p:nvSpPr><p:cNvPr id="3" name="Shape 1"></p:cNvPr><p:cNvSpPr/><p:nvPr></p:nvPr></p:nvSpPr><p:spPr><a:xfrm><a:off x="640080" y="3008376"/><a:ext cx="914400" cy="45720"/></a:xfrm><a:prstGeom prst="rect"><a:avLst></a:avLst></a:prstGeom><a:solidFill><a:srgbClr val="F2DCD7"/></a:solidFill><a:ln></a:ln></p:spPr></p:sp><p:sp><p:nvSpPr><p:cNvPr id="4" name="Text 2"></p:cNvPr><p:cNvSpPr/><p:nvPr></p:nvPr></p:nvSpPr><p:spPr><a:xfrm><a:off x="640080" y="3227832"/><a:ext cx="10911535" cy="1051560"/></a:xfrm><a:prstGeom prst="rect"><a:avLst></a:avLst></a:prstGeom><a:noFill/><a:ln></a:ln></p:spPr><p:txBody><a:bodyPr wrap="square" rtlCol="0" anchor="t"></a:bodyPr><a:lstStyle/><a:p><a:pPr indent="0" marL="0"><a:lnSpc><a:spcPts val="3600"/></a:lnSpc><a:buNone/></a:pPr><a:r><a:rPr lang="en-US" sz="3200" b="1" spc="-50" kern="0" dirty="0"><a:solidFill><a:srgbClr val="FFFFFF"/></a:solidFill><a:latin typeface="Merriweather" pitchFamily="34" charset="0"/><a:ea typeface="Merriweather" pitchFamily="34" charset="-122"/><a:cs typeface="Merriweather" pitchFamily="34" charset="-120"/></a:rPr><a:t>Cool the Surface and You Cool the Street</a:t></a:r><a:endParaRPr lang="en-US" sz="3200" dirty="0"/></a:p></p:txBody></p:sp><p:sp><p:nvSpPr><p:cNvPr id="5" name="Text 3"></p:cNvPr><p:cNvSpPr/><p:nvPr></p:nvPr></p:nvSpPr><p:spPr><a:xfrm><a:off x="640080" y="4233672"/><a:ext cx="7201613" cy="822960"/></a:xfrm><a:prstGeom prst="rect"><a:avLst></a:avLst></a:prstGeom><a:noFill/><a:ln></a:ln></p:spPr><p:txBody><a:bodyPr wrap="square" rtlCol="0" anchor="t"></a:bodyPr><a:lstStyle/><a:p><a:pPr indent="0" marL="0"><a:lnSpc><a:spcPts val="2200"/></a:lnSpc><a:buNone/></a:pPr><a:r><a:rPr lang="en-US" sz="1500" dirty="0"><a:solidFill><a:srgbClr val="F2DCD7"/></a:solidFill><a:latin typeface="Inter" pitchFamily="34" charset="0"/><a:ea typeface="Inter" pitchFamily="34" charset="-122"/><a:cs typeface="Inter" pitchFamily="34" charset="-120"/></a:rPr><a:t>With Kabir Mehta: fresh asphalt reflects 0.04 of sun, new concrete 0.55 2 materials decide street heat.</a:t></a:r><a:endParaRPr lang="en-US" sz="1500" dirty="0"/></a:p></p:txBody></p:sp><p:pic>  <p:nvPicPr><p:cNvPr id="6" name="Image 0" descr="/home/deepnar/Programs/presentations/brand/generated/crest.png">    </p:cNvPr>    <p:cNvPicPr><a:picLocks noChangeAspect="1"/></p:cNvPicPr>    <p:nvPr></p:nvPr>  </p:nvPicPr><p:blipFill><a:blip r:embed="rId1"></a:blip>  <a:stretch><a:fillRect/></a:stretch></p:blipFill><p:spPr> <a:xfrm>  <a:off x="10984000" y="237744"/>  <a:ext cx="704776" cy="749808"/> </a:xfrm> <a:prstGeom prst="rect"><a:avLst/></a:prstGeom></p:spPr></p:pic><p:sp><p:nvSpPr><p:cNvPr id="7" name="Text 4"></p:cNvPr><p:cNvSpPr/><p:nvPr></p:nvPr></p:nvSpPr><p:spPr><a:xfrm><a:off x="10454335" y="6327648"/><a:ext cx="1097280" cy="274320"/></a:xfrm><a:prstGeom prst="rect"><a:avLst></a:avLst></a:prstGeom><a:noFill/><a:ln></a:ln></p:spPr><p:txBody><a:bodyPr wrap="square" rtlCol="0" anchor="ctr"></a:bodyPr><a:lstStyle/><a:p><a:pPr algn="r" indent="0" marL="0"><a:buNone/></a:pPr><a:r><a:rPr lang="en-US" sz="900" dirty="0"><a:solidFill><a:srgbClr val="FFFFFF"/></a:solidFill><a:latin typeface="Inter" pitchFamily="34" charset="0"/><a:ea typeface="Inter" pitchFamily="34" charset="-122"/><a:cs typeface="Inter" pitchFamily="34" charset="-120"/></a:rPr><a:t>7 / 17</a:t></a:r><a:endParaRPr lang="en-US" sz="900" dirty="0"/></a:p></p:txBody></p:sp></p:spTree></p:cSld><p:clrMapOvr><a:masterClrMapping/></p:clrMapOvr>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BEB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621792"/>
            <a:ext cx="822960" cy="91440"/>
          </a:xfrm>
          <a:prstGeom prst="rect">
            <a:avLst/>
          </a:prstGeom>
          <a:solidFill>
            <a:srgbClr val="C05D4E"/>
          </a:solidFill>
          <a:ln/>
        </p:spPr>
      </p:sp>
      <p:sp>
        <p:nvSpPr>
          <p:cNvPr id="3" name="Text 1"/>
          <p:cNvSpPr/>
          <p:nvPr/>
        </p:nvSpPr>
        <p:spPr>
          <a:xfrm>
            <a:off x="1664208" y="566928"/>
            <a:ext cx="84511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b="1" spc="120" kern="0" dirty="0">
                <a:solidFill>
                  <a:srgbClr val="5C5C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COOLING STREETS &amp; SURFACES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1188720"/>
            <a:ext cx="9475240" cy="899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3500"/>
              </a:lnSpc>
              <a:buNone/>
            </a:pPr>
            <a:r>
              <a:rPr lang="en-US" sz="3000" b="1" spc="-30" kern="0" dirty="0">
                <a:solidFill>
                  <a:srgbClr val="2D2D2A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Cool roofs cut heat most where redlining left it hottest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2142744"/>
            <a:ext cx="10911535" cy="13716"/>
          </a:xfrm>
          <a:prstGeom prst="rect">
            <a:avLst/>
          </a:prstGeom>
          <a:solidFill>
            <a:srgbClr val="D8D8D2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2307336"/>
            <a:ext cx="10911535" cy="66217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5C5C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Atlanta modeling: reflective roofs lower city air 1.4°C, and redlined blocks up to 3.5°C.</a:t>
            </a:r>
            <a:endParaRPr lang="en-US" sz="15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640080" y="2969514"/>
          <a:ext cx="6874267" cy="2654046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Shape 5"/>
          <p:cNvSpPr/>
          <p:nvPr/>
        </p:nvSpPr>
        <p:spPr>
          <a:xfrm>
            <a:off x="7788667" y="3115818"/>
            <a:ext cx="36576" cy="384048"/>
          </a:xfrm>
          <a:prstGeom prst="rect">
            <a:avLst/>
          </a:prstGeom>
          <a:solidFill>
            <a:srgbClr val="C05D4E"/>
          </a:solidFill>
          <a:ln/>
        </p:spPr>
      </p:sp>
      <p:sp>
        <p:nvSpPr>
          <p:cNvPr id="9" name="Text 6"/>
          <p:cNvSpPr/>
          <p:nvPr/>
        </p:nvSpPr>
        <p:spPr>
          <a:xfrm>
            <a:off x="7953259" y="3060954"/>
            <a:ext cx="3598356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170" dirty="0">
                <a:solidFill>
                  <a:srgbClr val="2D2D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Citywide reflective roofs: 1.4°C cooler air</a:t>
            </a:r>
            <a:endParaRPr lang="en-US" sz="1170" dirty="0"/>
          </a:p>
        </p:txBody>
      </p:sp>
      <p:sp>
        <p:nvSpPr>
          <p:cNvPr id="10" name="Shape 7"/>
          <p:cNvSpPr/>
          <p:nvPr/>
        </p:nvSpPr>
        <p:spPr>
          <a:xfrm>
            <a:off x="7788667" y="4030218"/>
            <a:ext cx="36576" cy="384048"/>
          </a:xfrm>
          <a:prstGeom prst="rect">
            <a:avLst/>
          </a:prstGeom>
          <a:solidFill>
            <a:srgbClr val="C05D4E"/>
          </a:solidFill>
          <a:ln/>
        </p:spPr>
      </p:sp>
      <p:sp>
        <p:nvSpPr>
          <p:cNvPr id="11" name="Text 8"/>
          <p:cNvSpPr/>
          <p:nvPr/>
        </p:nvSpPr>
        <p:spPr>
          <a:xfrm>
            <a:off x="7953259" y="3975354"/>
            <a:ext cx="3598356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170" dirty="0">
                <a:solidFill>
                  <a:srgbClr val="2D2D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Redlined blocks: up to 3.5°C cooler air</a:t>
            </a:r>
            <a:endParaRPr lang="en-US" sz="1170" dirty="0"/>
          </a:p>
        </p:txBody>
      </p:sp>
      <p:sp>
        <p:nvSpPr>
          <p:cNvPr id="12" name="Shape 9"/>
          <p:cNvSpPr/>
          <p:nvPr/>
        </p:nvSpPr>
        <p:spPr>
          <a:xfrm>
            <a:off x="640080" y="5806440"/>
            <a:ext cx="10911535" cy="475488"/>
          </a:xfrm>
          <a:prstGeom prst="roundRect">
            <a:avLst>
              <a:gd name="adj" fmla="val 46154"/>
            </a:avLst>
          </a:prstGeom>
          <a:solidFill>
            <a:srgbClr val="FFFFFF"/>
          </a:solidFill>
          <a:ln/>
        </p:spPr>
      </p:sp>
      <p:sp>
        <p:nvSpPr>
          <p:cNvPr id="13" name="Shape 10"/>
          <p:cNvSpPr/>
          <p:nvPr/>
        </p:nvSpPr>
        <p:spPr>
          <a:xfrm>
            <a:off x="640080" y="5806440"/>
            <a:ext cx="54864" cy="475488"/>
          </a:xfrm>
          <a:prstGeom prst="rect">
            <a:avLst/>
          </a:prstGeom>
          <a:solidFill>
            <a:srgbClr val="C05D4E"/>
          </a:solidFill>
          <a:ln/>
        </p:spPr>
      </p:sp>
      <p:sp>
        <p:nvSpPr>
          <p:cNvPr id="14" name="Text 11"/>
          <p:cNvSpPr/>
          <p:nvPr/>
        </p:nvSpPr>
        <p:spPr>
          <a:xfrm>
            <a:off x="841248" y="5806440"/>
            <a:ext cx="10710367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i="1" spc="20" kern="0" dirty="0">
                <a:solidFill>
                  <a:srgbClr val="5C5C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Read the two bars left to right: 1.4 then 3.5 — the biggest win lands in the Westside.</a:t>
            </a:r>
            <a:endParaRPr lang="en-US" sz="1000" dirty="0"/>
          </a:p>
        </p:txBody>
      </p:sp>
      <p:pic>
        <p:nvPicPr>
          <p:cNvPr id="15" name="Image 0" descr="/home/deepnar/Programs/presentations/brand/generated/cres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84000" y="237744"/>
            <a:ext cx="704776" cy="749808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640080" y="6327648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5C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Kabir Mehta</a:t>
            </a:r>
            <a:endParaRPr lang="en-US" sz="900" dirty="0"/>
          </a:p>
        </p:txBody>
      </p:sp>
      <p:sp>
        <p:nvSpPr>
          <p:cNvPr id="17" name="Text 13"/>
          <p:cNvSpPr/>
          <p:nvPr/>
        </p:nvSpPr>
        <p:spPr>
          <a:xfrm>
            <a:off x="10454335" y="632764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5C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 / 17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BEB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621792"/>
            <a:ext cx="822960" cy="91440"/>
          </a:xfrm>
          <a:prstGeom prst="rect">
            <a:avLst/>
          </a:prstGeom>
          <a:solidFill>
            <a:srgbClr val="C05D4E"/>
          </a:solidFill>
          <a:ln/>
        </p:spPr>
      </p:sp>
      <p:sp>
        <p:nvSpPr>
          <p:cNvPr id="3" name="Text 1"/>
          <p:cNvSpPr/>
          <p:nvPr/>
        </p:nvSpPr>
        <p:spPr>
          <a:xfrm>
            <a:off x="1664208" y="566928"/>
            <a:ext cx="84511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b="1" spc="120" kern="0" dirty="0">
                <a:solidFill>
                  <a:srgbClr val="5C5C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COOLING STREETS &amp; SURFACES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1188720"/>
            <a:ext cx="9475240" cy="4495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3500"/>
              </a:lnSpc>
              <a:buNone/>
            </a:pPr>
            <a:r>
              <a:rPr lang="en-US" sz="3000" b="1" spc="-30" kern="0" dirty="0">
                <a:solidFill>
                  <a:srgbClr val="2D2D2A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Same Street, Two Futures: Trap or Reflect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693164"/>
            <a:ext cx="10911535" cy="13716"/>
          </a:xfrm>
          <a:prstGeom prst="rect">
            <a:avLst/>
          </a:prstGeom>
          <a:solidFill>
            <a:srgbClr val="D8D8D2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857756"/>
            <a:ext cx="10911535" cy="66217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5C5C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Fresh asphalt reflects 4% of sun; reflective surfaces, shade and water flip the block from oven to oasis.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2519934"/>
            <a:ext cx="4952848" cy="3743706"/>
          </a:xfrm>
          <a:prstGeom prst="roundRect">
            <a:avLst>
              <a:gd name="adj" fmla="val 586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03200" dist="50800" dir="5400000">
              <a:srgbClr val="2D2D2A">
                <a:alpha val="9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914400" y="2794254"/>
            <a:ext cx="1088762" cy="310896"/>
          </a:xfrm>
          <a:prstGeom prst="roundRect">
            <a:avLst>
              <a:gd name="adj" fmla="val 117647"/>
            </a:avLst>
          </a:prstGeom>
          <a:solidFill>
            <a:srgbClr val="FFFFFF"/>
          </a:solidFill>
          <a:ln w="12700">
            <a:solidFill>
              <a:srgbClr val="D8D8D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2794254"/>
            <a:ext cx="108876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000" b="1" spc="120" kern="0" dirty="0">
                <a:solidFill>
                  <a:srgbClr val="5C5C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BEFORE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914400" y="3251454"/>
            <a:ext cx="4404208" cy="9509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3500"/>
              </a:lnSpc>
              <a:buNone/>
            </a:pPr>
            <a:r>
              <a:rPr lang="en-US" sz="3000" b="1" spc="-30" kern="0" dirty="0">
                <a:solidFill>
                  <a:srgbClr val="2D2D2A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Bare asphalt traps the sun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914400" y="4293870"/>
            <a:ext cx="4404208" cy="169545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5C5C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Fresh asphalt albedo 0.04 absorbs 96% of sun; bare metal and no shade bake the block.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598768" y="2519934"/>
            <a:ext cx="4952848" cy="3743706"/>
          </a:xfrm>
          <a:prstGeom prst="roundRect">
            <a:avLst>
              <a:gd name="adj" fmla="val 586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03200" dist="50800" dir="5400000">
              <a:srgbClr val="2D2D2A">
                <a:alpha val="9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873088" y="2794254"/>
            <a:ext cx="983502" cy="310896"/>
          </a:xfrm>
          <a:prstGeom prst="roundRect">
            <a:avLst>
              <a:gd name="adj" fmla="val 117647"/>
            </a:avLst>
          </a:prstGeom>
          <a:solidFill>
            <a:srgbClr val="C05D4E"/>
          </a:solidFill>
          <a:ln/>
        </p:spPr>
      </p:sp>
      <p:sp>
        <p:nvSpPr>
          <p:cNvPr id="14" name="Text 12"/>
          <p:cNvSpPr/>
          <p:nvPr/>
        </p:nvSpPr>
        <p:spPr>
          <a:xfrm>
            <a:off x="6873088" y="2794254"/>
            <a:ext cx="98350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000" b="1" spc="120" kern="0" dirty="0">
                <a:solidFill>
                  <a:srgbClr val="0A0A0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AFTER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873088" y="3251454"/>
            <a:ext cx="4404208" cy="9509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3500"/>
              </a:lnSpc>
              <a:buNone/>
            </a:pPr>
            <a:r>
              <a:rPr lang="en-US" sz="3000" b="1" spc="-30" kern="0" dirty="0">
                <a:solidFill>
                  <a:srgbClr val="2D2D2A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Cool Reflective Block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6873088" y="4293870"/>
            <a:ext cx="4404208" cy="169545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5C5C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New concrete reflects 0.55, with cool roofs, trees and water cooling the block.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 rot="5400000">
            <a:off x="5958688" y="4254627"/>
            <a:ext cx="274320" cy="274320"/>
          </a:xfrm>
          <a:prstGeom prst="triangle">
            <a:avLst/>
          </a:prstGeom>
          <a:solidFill>
            <a:srgbClr val="C05D4E"/>
          </a:solidFill>
          <a:ln/>
        </p:spPr>
      </p:sp>
      <p:pic>
        <p:nvPicPr>
          <p:cNvPr id="18" name="Image 0" descr="/home/deepnar/Programs/presentations/brand/generated/cres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84000" y="237744"/>
            <a:ext cx="704776" cy="749808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640080" y="6327648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5C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Kabir Mehta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10454335" y="632764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5C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 / 17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BEB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621792"/>
            <a:ext cx="822960" cy="91440"/>
          </a:xfrm>
          <a:prstGeom prst="rect">
            <a:avLst/>
          </a:prstGeom>
          <a:solidFill>
            <a:srgbClr val="C05D4E"/>
          </a:solidFill>
          <a:ln/>
        </p:spPr>
      </p:sp>
      <p:sp>
        <p:nvSpPr>
          <p:cNvPr id="3" name="Text 1"/>
          <p:cNvSpPr/>
          <p:nvPr/>
        </p:nvSpPr>
        <p:spPr>
          <a:xfrm>
            <a:off x="1664208" y="566928"/>
            <a:ext cx="84511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b="1" spc="120" kern="0" dirty="0">
                <a:solidFill>
                  <a:srgbClr val="5C5C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COOLING STREETS &amp; SURFACES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1188720"/>
            <a:ext cx="9475240" cy="4495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3500"/>
              </a:lnSpc>
              <a:buNone/>
            </a:pPr>
            <a:r>
              <a:rPr lang="en-US" sz="3000" b="1" spc="-30" kern="0" dirty="0">
                <a:solidFill>
                  <a:srgbClr val="2D2D2A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No single surface cools the street alone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693164"/>
            <a:ext cx="10911535" cy="13716"/>
          </a:xfrm>
          <a:prstGeom prst="rect">
            <a:avLst/>
          </a:prstGeom>
          <a:solidFill>
            <a:srgbClr val="D8D8D2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857756"/>
            <a:ext cx="10911535" cy="66217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5C5C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Reflective roofs cut hotspot air by as much as 3.5 degrees C — shade, pavement and soil lock in that gain.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2519934"/>
            <a:ext cx="10911535" cy="874205"/>
          </a:xfrm>
          <a:prstGeom prst="roundRect">
            <a:avLst>
              <a:gd name="adj" fmla="val 25103"/>
            </a:avLst>
          </a:prstGeom>
          <a:solidFill>
            <a:srgbClr val="FFFFFF"/>
          </a:solidFill>
          <a:ln/>
        </p:spPr>
      </p:sp>
      <p:sp>
        <p:nvSpPr>
          <p:cNvPr id="8" name="Shape 6"/>
          <p:cNvSpPr/>
          <p:nvPr/>
        </p:nvSpPr>
        <p:spPr>
          <a:xfrm>
            <a:off x="640080" y="2519934"/>
            <a:ext cx="54864" cy="874205"/>
          </a:xfrm>
          <a:prstGeom prst="rect">
            <a:avLst/>
          </a:prstGeom>
          <a:solidFill>
            <a:srgbClr val="C05D4E"/>
          </a:solidFill>
          <a:ln/>
        </p:spPr>
      </p:sp>
      <p:sp>
        <p:nvSpPr>
          <p:cNvPr id="9" name="Text 7"/>
          <p:cNvSpPr/>
          <p:nvPr/>
        </p:nvSpPr>
        <p:spPr>
          <a:xfrm>
            <a:off x="859536" y="2519934"/>
            <a:ext cx="2706624" cy="87420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b="1" dirty="0">
                <a:solidFill>
                  <a:srgbClr val="2D2D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Tree canopy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840480" y="2519934"/>
            <a:ext cx="4924730" cy="87420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spc="20" kern="0" dirty="0">
                <a:solidFill>
                  <a:srgbClr val="5C5C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Intercepts sun first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10124999" y="2819876"/>
            <a:ext cx="1262024" cy="274320"/>
          </a:xfrm>
          <a:prstGeom prst="roundRect">
            <a:avLst>
              <a:gd name="adj" fmla="val 133333"/>
            </a:avLst>
          </a:prstGeom>
          <a:solidFill>
            <a:srgbClr val="FFFFFF"/>
          </a:solidFill>
          <a:ln w="12700">
            <a:solidFill>
              <a:srgbClr val="D8D8D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124999" y="2819876"/>
            <a:ext cx="12620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850" spc="20" kern="0" dirty="0">
                <a:solidFill>
                  <a:srgbClr val="2D2D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0.15 to 0.18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8990914" y="2819876"/>
            <a:ext cx="1024357" cy="274320"/>
          </a:xfrm>
          <a:prstGeom prst="roundRect">
            <a:avLst>
              <a:gd name="adj" fmla="val 133333"/>
            </a:avLst>
          </a:prstGeom>
          <a:solidFill>
            <a:srgbClr val="FFFFFF"/>
          </a:solidFill>
          <a:ln w="12700">
            <a:solidFill>
              <a:srgbClr val="D8D8D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990914" y="2819876"/>
            <a:ext cx="1024357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850" spc="20" kern="0" dirty="0">
                <a:solidFill>
                  <a:srgbClr val="2D2D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Deciduous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640080" y="3476435"/>
            <a:ext cx="10911535" cy="874205"/>
          </a:xfrm>
          <a:prstGeom prst="roundRect">
            <a:avLst>
              <a:gd name="adj" fmla="val 25103"/>
            </a:avLst>
          </a:prstGeom>
          <a:solidFill>
            <a:srgbClr val="FFFFFF"/>
          </a:solidFill>
          <a:ln/>
        </p:spPr>
      </p:sp>
      <p:sp>
        <p:nvSpPr>
          <p:cNvPr id="16" name="Shape 14"/>
          <p:cNvSpPr/>
          <p:nvPr/>
        </p:nvSpPr>
        <p:spPr>
          <a:xfrm>
            <a:off x="640080" y="3476435"/>
            <a:ext cx="54864" cy="874205"/>
          </a:xfrm>
          <a:prstGeom prst="rect">
            <a:avLst/>
          </a:prstGeom>
          <a:solidFill>
            <a:srgbClr val="C05D4E"/>
          </a:solidFill>
          <a:ln/>
        </p:spPr>
      </p:sp>
      <p:sp>
        <p:nvSpPr>
          <p:cNvPr id="17" name="Text 15"/>
          <p:cNvSpPr/>
          <p:nvPr/>
        </p:nvSpPr>
        <p:spPr>
          <a:xfrm>
            <a:off x="859536" y="3476435"/>
            <a:ext cx="2706624" cy="87420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b="1" dirty="0">
                <a:solidFill>
                  <a:srgbClr val="2D2D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Cool roofs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3840480" y="3476435"/>
            <a:ext cx="4924730" cy="87420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spc="20" kern="0" dirty="0">
                <a:solidFill>
                  <a:srgbClr val="5C5C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Reflects heat upward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10289489" y="3776377"/>
            <a:ext cx="1097534" cy="274320"/>
          </a:xfrm>
          <a:prstGeom prst="roundRect">
            <a:avLst>
              <a:gd name="adj" fmla="val 133333"/>
            </a:avLst>
          </a:prstGeom>
          <a:solidFill>
            <a:srgbClr val="FFFFFF"/>
          </a:solidFill>
          <a:ln w="12700">
            <a:solidFill>
              <a:srgbClr val="D8D8D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289489" y="3776377"/>
            <a:ext cx="109753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850" spc="20" kern="0" dirty="0">
                <a:solidFill>
                  <a:srgbClr val="2D2D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Reflective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8856650" y="3776377"/>
            <a:ext cx="1323111" cy="274320"/>
          </a:xfrm>
          <a:prstGeom prst="roundRect">
            <a:avLst>
              <a:gd name="adj" fmla="val 133333"/>
            </a:avLst>
          </a:prstGeom>
          <a:solidFill>
            <a:srgbClr val="FFFFFF"/>
          </a:solidFill>
          <a:ln w="12700">
            <a:solidFill>
              <a:srgbClr val="D8D8D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856650" y="3776377"/>
            <a:ext cx="132311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850" spc="20" kern="0" dirty="0">
                <a:solidFill>
                  <a:srgbClr val="2D2D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3.5 degrees C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640080" y="4432935"/>
            <a:ext cx="10911535" cy="874205"/>
          </a:xfrm>
          <a:prstGeom prst="roundRect">
            <a:avLst>
              <a:gd name="adj" fmla="val 25103"/>
            </a:avLst>
          </a:prstGeom>
          <a:solidFill>
            <a:srgbClr val="FFFFFF"/>
          </a:solidFill>
          <a:ln/>
        </p:spPr>
      </p:sp>
      <p:sp>
        <p:nvSpPr>
          <p:cNvPr id="24" name="Shape 22"/>
          <p:cNvSpPr/>
          <p:nvPr/>
        </p:nvSpPr>
        <p:spPr>
          <a:xfrm>
            <a:off x="640080" y="4432935"/>
            <a:ext cx="54864" cy="874205"/>
          </a:xfrm>
          <a:prstGeom prst="rect">
            <a:avLst/>
          </a:prstGeom>
          <a:solidFill>
            <a:srgbClr val="C05D4E"/>
          </a:solidFill>
          <a:ln/>
        </p:spPr>
      </p:sp>
      <p:sp>
        <p:nvSpPr>
          <p:cNvPr id="25" name="Text 23"/>
          <p:cNvSpPr/>
          <p:nvPr/>
        </p:nvSpPr>
        <p:spPr>
          <a:xfrm>
            <a:off x="859536" y="4432935"/>
            <a:ext cx="2706624" cy="87420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b="1" dirty="0">
                <a:solidFill>
                  <a:srgbClr val="2D2D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Cool pavement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3840480" y="4432935"/>
            <a:ext cx="4924730" cy="87420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spc="20" kern="0" dirty="0">
                <a:solidFill>
                  <a:srgbClr val="5C5C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Cooler ground plane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10362667" y="4732877"/>
            <a:ext cx="1024357" cy="274320"/>
          </a:xfrm>
          <a:prstGeom prst="roundRect">
            <a:avLst>
              <a:gd name="adj" fmla="val 133333"/>
            </a:avLst>
          </a:prstGeom>
          <a:solidFill>
            <a:srgbClr val="FFFFFF"/>
          </a:solidFill>
          <a:ln w="12700">
            <a:solidFill>
              <a:srgbClr val="D8D8D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0362667" y="4732877"/>
            <a:ext cx="1024357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850" spc="20" kern="0" dirty="0">
                <a:solidFill>
                  <a:srgbClr val="2D2D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Permeable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9082227" y="4732877"/>
            <a:ext cx="1170711" cy="274320"/>
          </a:xfrm>
          <a:prstGeom prst="roundRect">
            <a:avLst>
              <a:gd name="adj" fmla="val 133333"/>
            </a:avLst>
          </a:prstGeom>
          <a:solidFill>
            <a:srgbClr val="FFFFFF"/>
          </a:solidFill>
          <a:ln w="12700">
            <a:solidFill>
              <a:srgbClr val="D8D8D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082227" y="4732877"/>
            <a:ext cx="117071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850" spc="20" kern="0" dirty="0">
                <a:solidFill>
                  <a:srgbClr val="2D2D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High albedo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640080" y="5389436"/>
            <a:ext cx="10911535" cy="874205"/>
          </a:xfrm>
          <a:prstGeom prst="roundRect">
            <a:avLst>
              <a:gd name="adj" fmla="val 25103"/>
            </a:avLst>
          </a:prstGeom>
          <a:solidFill>
            <a:srgbClr val="FFFFFF"/>
          </a:solidFill>
          <a:ln/>
        </p:spPr>
      </p:sp>
      <p:sp>
        <p:nvSpPr>
          <p:cNvPr id="32" name="Shape 30"/>
          <p:cNvSpPr/>
          <p:nvPr/>
        </p:nvSpPr>
        <p:spPr>
          <a:xfrm>
            <a:off x="640080" y="5389436"/>
            <a:ext cx="54864" cy="874205"/>
          </a:xfrm>
          <a:prstGeom prst="rect">
            <a:avLst/>
          </a:prstGeom>
          <a:solidFill>
            <a:srgbClr val="C05D4E"/>
          </a:solidFill>
          <a:ln/>
        </p:spPr>
      </p:sp>
      <p:sp>
        <p:nvSpPr>
          <p:cNvPr id="33" name="Text 31"/>
          <p:cNvSpPr/>
          <p:nvPr/>
        </p:nvSpPr>
        <p:spPr>
          <a:xfrm>
            <a:off x="859536" y="5389436"/>
            <a:ext cx="2706624" cy="87420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b="1" dirty="0">
                <a:solidFill>
                  <a:srgbClr val="2D2D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Water-wise base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3840480" y="5389436"/>
            <a:ext cx="4924730" cy="87420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spc="20" kern="0" dirty="0">
                <a:solidFill>
                  <a:srgbClr val="5C5C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Evaporates stored heat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10289489" y="5689378"/>
            <a:ext cx="1097534" cy="274320"/>
          </a:xfrm>
          <a:prstGeom prst="roundRect">
            <a:avLst>
              <a:gd name="adj" fmla="val 133333"/>
            </a:avLst>
          </a:prstGeom>
          <a:solidFill>
            <a:srgbClr val="FFFFFF"/>
          </a:solidFill>
          <a:ln w="12700">
            <a:solidFill>
              <a:srgbClr val="D8D8D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0289489" y="5689378"/>
            <a:ext cx="109753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850" spc="20" kern="0" dirty="0">
                <a:solidFill>
                  <a:srgbClr val="2D2D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Stormwater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9082227" y="5689378"/>
            <a:ext cx="1097534" cy="274320"/>
          </a:xfrm>
          <a:prstGeom prst="roundRect">
            <a:avLst>
              <a:gd name="adj" fmla="val 133333"/>
            </a:avLst>
          </a:prstGeom>
          <a:solidFill>
            <a:srgbClr val="FFFFFF"/>
          </a:solidFill>
          <a:ln w="12700">
            <a:solidFill>
              <a:srgbClr val="D8D8D2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9082227" y="5689378"/>
            <a:ext cx="109753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850" spc="20" kern="0" dirty="0">
                <a:solidFill>
                  <a:srgbClr val="2D2D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Moist soil</a:t>
            </a:r>
            <a:endParaRPr lang="en-US" sz="850" dirty="0"/>
          </a:p>
        </p:txBody>
      </p:sp>
      <p:pic>
        <p:nvPicPr>
          <p:cNvPr id="39" name="Image 0" descr="/home/deepnar/Programs/presentations/brand/generated/cres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84000" y="237744"/>
            <a:ext cx="704776" cy="749808"/>
          </a:xfrm>
          <a:prstGeom prst="rect">
            <a:avLst/>
          </a:prstGeom>
        </p:spPr>
      </p:pic>
      <p:sp>
        <p:nvSpPr>
          <p:cNvPr id="40" name="Text 37"/>
          <p:cNvSpPr/>
          <p:nvPr/>
        </p:nvSpPr>
        <p:spPr>
          <a:xfrm>
            <a:off x="640080" y="6327648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5C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Kabir Mehta</a:t>
            </a:r>
            <a:endParaRPr lang="en-US" sz="900" dirty="0"/>
          </a:p>
        </p:txBody>
      </p:sp>
      <p:sp>
        <p:nvSpPr>
          <p:cNvPr id="41" name="Text 38"/>
          <p:cNvSpPr/>
          <p:nvPr/>
        </p:nvSpPr>
        <p:spPr>
          <a:xfrm>
            <a:off x="10454335" y="632764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5C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 / 17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EBEB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621792"/>
            <a:ext cx="822960" cy="91440"/>
          </a:xfrm>
          <a:prstGeom prst="rect">
            <a:avLst/>
          </a:prstGeom>
          <a:solidFill>
            <a:srgbClr val="C05D4E"/>
          </a:solidFill>
          <a:ln/>
        </p:spPr>
      </p:sp>
      <p:sp>
        <p:nvSpPr>
          <p:cNvPr id="3" name="Text 1"/>
          <p:cNvSpPr/>
          <p:nvPr/>
        </p:nvSpPr>
        <p:spPr>
          <a:xfrm>
            <a:off x="1664208" y="566928"/>
            <a:ext cx="84511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b="1" spc="120" kern="0" dirty="0">
                <a:solidFill>
                  <a:srgbClr val="5C5C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COOLING STREETS &amp; SURFACES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1188720"/>
            <a:ext cx="9475240" cy="899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3500"/>
              </a:lnSpc>
              <a:buNone/>
            </a:pPr>
            <a:r>
              <a:rPr lang="en-US" sz="3000" b="1" spc="-30" kern="0" dirty="0">
                <a:solidFill>
                  <a:srgbClr val="2D2D2A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Cool roofs win cheap and fast; trees win big and slow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2142744"/>
            <a:ext cx="10911535" cy="13716"/>
          </a:xfrm>
          <a:prstGeom prst="rect">
            <a:avLst/>
          </a:prstGeom>
          <a:solidFill>
            <a:srgbClr val="D8D8D2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2307336"/>
            <a:ext cx="10911535" cy="66217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5C5C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Place each fix where it pays: fast reflectors for hot roofs, greening where shade inequity runs deepest.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4648581"/>
            <a:ext cx="10911535" cy="27432"/>
          </a:xfrm>
          <a:prstGeom prst="rect">
            <a:avLst/>
          </a:prstGeom>
          <a:solidFill>
            <a:srgbClr val="D8D8D2"/>
          </a:solidFill>
          <a:ln/>
        </p:spPr>
      </p:sp>
      <p:sp>
        <p:nvSpPr>
          <p:cNvPr id="8" name="Shape 6"/>
          <p:cNvSpPr/>
          <p:nvPr/>
        </p:nvSpPr>
        <p:spPr>
          <a:xfrm>
            <a:off x="6082132" y="2969514"/>
            <a:ext cx="27432" cy="3385566"/>
          </a:xfrm>
          <a:prstGeom prst="rect">
            <a:avLst/>
          </a:prstGeom>
          <a:solidFill>
            <a:srgbClr val="D8D8D2"/>
          </a:solidFill>
          <a:ln/>
        </p:spPr>
      </p:sp>
      <p:sp>
        <p:nvSpPr>
          <p:cNvPr id="9" name="Text 7"/>
          <p:cNvSpPr/>
          <p:nvPr/>
        </p:nvSpPr>
        <p:spPr>
          <a:xfrm>
            <a:off x="804672" y="3079242"/>
            <a:ext cx="4806544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b="1" dirty="0">
                <a:solidFill>
                  <a:srgbClr val="2D2D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Cool roofs: scale fast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04672" y="3426714"/>
            <a:ext cx="4806544" cy="91554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spc="20" kern="0" dirty="0">
                <a:solidFill>
                  <a:srgbClr val="5C5C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Reflective roofs cut city heat; Atlanta models $300M saved over 35 years.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260440" y="3079242"/>
            <a:ext cx="4806544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b="1" dirty="0">
                <a:solidFill>
                  <a:srgbClr val="2D2D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Street trees: deep equity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260440" y="3426714"/>
            <a:ext cx="4806544" cy="91554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spc="20" kern="0" dirty="0">
                <a:solidFill>
                  <a:srgbClr val="5C5C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Canopy cools treeless blocks most, but takes years to grow shade.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804672" y="4772025"/>
            <a:ext cx="4806544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b="1" dirty="0">
                <a:solidFill>
                  <a:srgbClr val="2D2D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Shade sails: instant relief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804672" y="5119497"/>
            <a:ext cx="4806544" cy="91554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spc="20" kern="0" dirty="0">
                <a:solidFill>
                  <a:srgbClr val="5C5C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Shelters cool riders and walkers now along hot transit routes.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260440" y="4772025"/>
            <a:ext cx="4806544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b="1" dirty="0">
                <a:solidFill>
                  <a:srgbClr val="2D2D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Misting: narrow, thirsty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260440" y="5119497"/>
            <a:ext cx="4806544" cy="91554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spc="20" kern="0" dirty="0">
                <a:solidFill>
                  <a:srgbClr val="5C5C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Cools one plaza fast; high water and energy cost per person.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40080" y="4296537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b="1" spc="120" kern="0" dirty="0">
                <a:solidFill>
                  <a:srgbClr val="5C5C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Low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9722815" y="4296537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lnSpc>
                <a:spcPts val="1200"/>
              </a:lnSpc>
              <a:buNone/>
            </a:pPr>
            <a:r>
              <a:rPr lang="en-US" sz="1000" b="1" spc="120" kern="0" dirty="0">
                <a:solidFill>
                  <a:srgbClr val="5C5C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High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40080" y="5971032"/>
            <a:ext cx="109115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000" b="1" spc="120" kern="0" dirty="0">
                <a:solidFill>
                  <a:srgbClr val="5C5C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Cost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 rot="16200000">
            <a:off x="-282893" y="3499580"/>
            <a:ext cx="1334453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lnSpc>
                <a:spcPts val="1200"/>
              </a:lnSpc>
              <a:buNone/>
            </a:pPr>
            <a:r>
              <a:rPr lang="en-US" sz="1000" b="1" spc="120" kern="0" dirty="0">
                <a:solidFill>
                  <a:srgbClr val="5C5C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HIGH BENEFIT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 rot="16200000">
            <a:off x="-282893" y="5550694"/>
            <a:ext cx="1334453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lnSpc>
                <a:spcPts val="1200"/>
              </a:lnSpc>
              <a:buNone/>
            </a:pPr>
            <a:r>
              <a:rPr lang="en-US" sz="1000" b="1" spc="120" kern="0" dirty="0">
                <a:solidFill>
                  <a:srgbClr val="5C5C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LOW BENEFIT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 rot="16200000">
            <a:off x="-282893" y="4525137"/>
            <a:ext cx="1334453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000" b="1" spc="120" kern="0" dirty="0">
                <a:solidFill>
                  <a:srgbClr val="5C5C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COOLING + EQUITY</a:t>
            </a:r>
            <a:endParaRPr lang="en-US" sz="1000" dirty="0"/>
          </a:p>
        </p:txBody>
      </p:sp>
      <p:pic>
        <p:nvPicPr>
          <p:cNvPr id="23" name="Image 0" descr="/home/deepnar/Programs/presentations/brand/generated/cres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84000" y="237744"/>
            <a:ext cx="704776" cy="749808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640080" y="6327648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5C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Kabir Mehta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10454335" y="632764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5C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11 / 17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 standalone="yes"?>
<p:sld xmlns:a="http://schemas.openxmlformats.org/drawingml/2006/main" xmlns:r="http://schemas.openxmlformats.org/officeDocument/2006/relationships" xmlns:p="http://schemas.openxmlformats.org/presentationml/2006/main"><p:cSld name="Slide 12"><p:bg><p:bgPr><a:solidFill><a:srgbClr val="C05D4E"/></a:solidFill></p:bgPr></p:bg><p:spTree><p:nvGrpSpPr><p:cNvPr id="1" name=""/><p:cNvGrpSpPr/><p:nvPr/></p:nvGrpSpPr><p:grpSpPr><a:xfrm><a:off x="0" y="0"/><a:ext cx="0" cy="0"/><a:chOff x="0" y="0"/><a:chExt cx="0" cy="0"/></a:xfrm></p:grpSpPr><p:sp><p:nvSpPr><p:cNvPr id="2" name="Text 0"></p:cNvPr><p:cNvSpPr/><p:nvPr></p:nvPr></p:nvSpPr><p:spPr><a:xfrm><a:off x="640080" y="2606040"/><a:ext cx="10911535" cy="310896"/></a:xfrm><a:prstGeom prst="rect"><a:avLst></a:avLst></a:prstGeom><a:noFill/><a:ln></a:ln></p:spPr><p:txBody><a:bodyPr wrap="square" rtlCol="0" anchor="ctr"></a:bodyPr><a:lstStyle/><a:p><a:pPr indent="0" marL="0"><a:lnSpc><a:spcPts val="1200"/></a:lnSpc><a:buNone/></a:pPr><a:r><a:rPr lang="en-US" sz="1000" b="1" spc="120" kern="0" dirty="0"><a:solidFill><a:srgbClr val="F2DCD7"/></a:solidFill><a:latin typeface="Inter" pitchFamily="34" charset="0"/><a:ea typeface="Inter" pitchFamily="34" charset="-122"/><a:cs typeface="Inter" pitchFamily="34" charset="-120"/></a:rPr><a:t>03</a:t></a:r><a:endParaRPr lang="en-US" sz="1000" dirty="0"/></a:p></p:txBody></p:sp><p:sp><p:nvSpPr><p:cNvPr id="3" name="Shape 1"></p:cNvPr><p:cNvSpPr/><p:nvPr></p:nvPr></p:nvSpPr><p:spPr><a:xfrm><a:off x="640080" y="3008376"/><a:ext cx="914400" cy="45720"/></a:xfrm><a:prstGeom prst="rect"><a:avLst></a:avLst></a:prstGeom><a:solidFill><a:srgbClr val="F2DCD7"/></a:solidFill><a:ln></a:ln></p:spPr></p:sp><p:sp><p:nvSpPr><p:cNvPr id="4" name="Text 2"></p:cNvPr><p:cNvSpPr/><p:nvPr></p:nvPr></p:nvSpPr><p:spPr><a:xfrm><a:off x="640080" y="3227832"/><a:ext cx="10911535" cy="1051560"/></a:xfrm><a:prstGeom prst="rect"><a:avLst></a:avLst></a:prstGeom><a:noFill/><a:ln></a:ln></p:spPr><p:txBody><a:bodyPr wrap="square" rtlCol="0" anchor="t"></a:bodyPr><a:lstStyle/><a:p><a:pPr indent="0" marL="0"><a:lnSpc><a:spcPts val="3600"/></a:lnSpc><a:buNone/></a:pPr><a:r><a:rPr lang="en-US" sz="3200" b="1" spc="-50" kern="0" dirty="0"><a:solidFill><a:srgbClr val="FFFFFF"/></a:solidFill><a:latin typeface="Merriweather" pitchFamily="34" charset="0"/><a:ea typeface="Merriweather" pitchFamily="34" charset="-122"/><a:cs typeface="Merriweather" pitchFamily="34" charset="-120"/></a:rPr><a:t>Protect the People Heat Hits First and Worst</a:t></a:r><a:endParaRPr lang="en-US" sz="3200" dirty="0"/></a:p></p:txBody></p:sp><p:sp><p:nvSpPr><p:cNvPr id="5" name="Text 3"></p:cNvPr><p:cNvSpPr/><p:nvPr></p:nvPr></p:nvSpPr><p:spPr><a:xfrm><a:off x="640080" y="4233672"/><a:ext cx="7201613" cy="822960"/></a:xfrm><a:prstGeom prst="rect"><a:avLst></a:avLst></a:prstGeom><a:noFill/><a:ln></a:ln></p:spPr><p:txBody><a:bodyPr wrap="square" rtlCol="0" anchor="t"></a:bodyPr><a:lstStyle/><a:p><a:pPr indent="0" marL="0"><a:lnSpc><a:spcPts val="2200"/></a:lnSpc><a:buNone/></a:pPr><a:r><a:rPr lang="en-US" sz="1500" dirty="0"><a:solidFill><a:srgbClr val="F2DCD7"/></a:solidFill><a:latin typeface="Inter" pitchFamily="34" charset="0"/><a:ea typeface="Inter" pitchFamily="34" charset="-122"/><a:cs typeface="Inter" pitchFamily="34" charset="-120"/></a:rPr><a:t>Nia Thomas on the 88% with chronic illness 20301 and how to keep them alive</a:t></a:r><a:endParaRPr lang="en-US" sz="1500" dirty="0"/></a:p></p:txBody></p:sp><p:pic>  <p:nvPicPr><p:cNvPr id="6" name="Image 0" descr="/home/deepnar/Programs/presentations/brand/generated/crest.png">    </p:cNvPr>    <p:cNvPicPr><a:picLocks noChangeAspect="1"/></p:cNvPicPr>    <p:nvPr></p:nvPr>  </p:nvPicPr><p:blipFill><a:blip r:embed="rId1"></a:blip>  <a:stretch><a:fillRect/></a:stretch></p:blipFill><p:spPr> <a:xfrm>  <a:off x="10984000" y="237744"/>  <a:ext cx="704776" cy="749808"/> </a:xfrm> <a:prstGeom prst="rect"><a:avLst/></a:prstGeom></p:spPr></p:pic><p:sp><p:nvSpPr><p:cNvPr id="7" name="Text 4"></p:cNvPr><p:cNvSpPr/><p:nvPr></p:nvPr></p:nvSpPr><p:spPr><a:xfrm><a:off x="10454335" y="6327648"/><a:ext cx="1097280" cy="274320"/></a:xfrm><a:prstGeom prst="rect"><a:avLst></a:avLst></a:prstGeom><a:noFill/><a:ln></a:ln></p:spPr><p:txBody><a:bodyPr wrap="square" rtlCol="0" anchor="ctr"></a:bodyPr><a:lstStyle/><a:p><a:pPr algn="r" indent="0" marL="0"><a:buNone/></a:pPr><a:r><a:rPr lang="en-US" sz="900" dirty="0"><a:solidFill><a:srgbClr val="FFFFFF"/></a:solidFill><a:latin typeface="Inter" pitchFamily="34" charset="0"/><a:ea typeface="Inter" pitchFamily="34" charset="-122"/><a:cs typeface="Inter" pitchFamily="34" charset="-120"/></a:rPr><a:t>12 / 17</a:t></a:r><a:endParaRPr lang="en-US" sz="900" dirty="0"/></a:p></p:txBody></p:sp></p:spTree></p:cSld><p:clrMapOvr><a:masterClrMapping/></p:clrMapOvr></p:sld>
</file>

<file path=ppt/slides/slide13.xml><?xml version="1.0" encoding="UTF-8" standalone="yes"?>
<p:sld xmlns:a="http://schemas.openxmlformats.org/drawingml/2006/main" xmlns:r="http://schemas.openxmlformats.org/officeDocument/2006/relationships" xmlns:p="http://schemas.openxmlformats.org/presentationml/2006/main"><p:cSld name="Slide 13"><p:bg><p:bgPr><a:solidFill><a:srgbClr val="EBEBE6"/></a:solidFill></p:bgPr></p:bg><p:spTree><p:nvGrpSpPr><p:cNvPr id="1" name=""/><p:cNvGrpSpPr/><p:nvPr/></p:nvGrpSpPr><p:grpSpPr><a:xfrm><a:off x="0" y="0"/><a:ext cx="0" cy="0"/><a:chOff x="0" y="0"/><a:chExt cx="0" cy="0"/></a:xfrm></p:grpSpPr><p:sp><p:nvSpPr><p:cNvPr id="2" name="Shape 0"></p:cNvPr><p:cNvSpPr/><p:nvPr></p:nvPr></p:nvSpPr><p:spPr><a:xfrm><a:off x="640080" y="621792"/><a:ext cx="822960" cy="91440"/></a:xfrm><a:prstGeom prst="rect"><a:avLst></a:avLst></a:prstGeom><a:solidFill><a:srgbClr val="C05D4E"/></a:solidFill><a:ln></a:ln></p:spPr></p:sp><p:sp><p:nvSpPr><p:cNvPr id="3" name="Text 1"></p:cNvPr><p:cNvSpPr/><p:nvPr></p:nvPr></p:nvSpPr><p:spPr><a:xfrm><a:off x="1664208" y="566928"/><a:ext cx="8451112" cy="292608"/></a:xfrm><a:prstGeom prst="rect"><a:avLst></a:avLst></a:prstGeom><a:noFill/><a:ln></a:ln></p:spPr><p:txBody><a:bodyPr wrap="square" rtlCol="0" anchor="ctr"></a:bodyPr><a:lstStyle/><a:p><a:pPr algn="l" indent="0" marL="0"><a:lnSpc><a:spcPts val="1200"/></a:lnSpc><a:buNone/></a:pPr><a:r><a:rPr lang="en-US" sz="1000" b="1" spc="120" kern="0" dirty="0"><a:solidFill><a:srgbClr val="5C5C59"/></a:solidFill><a:latin typeface="Inter" pitchFamily="34" charset="0"/><a:ea typeface="Inter" pitchFamily="34" charset="-122"/><a:cs typeface="Inter" pitchFamily="34" charset="-120"/></a:rPr><a:t>PROTECTING COMMUNITIES</a:t></a:r><a:endParaRPr lang="en-US" sz="1000" dirty="0"/></a:p></p:txBody></p:sp><p:sp><p:nvSpPr><p:cNvPr id="4" name="Text 2"></p:cNvPr><p:cNvSpPr/><p:nvPr></p:nvPr></p:nvSpPr><p:spPr><a:xfrm><a:off x="640080" y="1188720"/><a:ext cx="9475240" cy="899160"/></a:xfrm><a:prstGeom prst="rect"><a:avLst></a:avLst></a:prstGeom><a:noFill/><a:ln></a:ln></p:spPr><p:txBody><a:bodyPr wrap="square" rtlCol="0" anchor="t"></a:bodyPr><a:lstStyle/><a:p><a:pPr indent="0" marL="0"><a:lnSpc><a:spcPts val="3500"/></a:lnSpc><a:buNone/></a:pPr><a:r><a:rPr lang="en-US" sz="3000" b="1" spc="-30" kern="0" dirty="0"><a:solidFill><a:srgbClr val="2D2D2A"/></a:solidFill><a:latin typeface="Merriweather" pitchFamily="34" charset="0"/><a:ea typeface="Merriweather" pitchFamily="34" charset="-122"/><a:cs typeface="Merriweather" pitchFamily="34" charset="-120"/></a:rPr><a:t>Warning Means Nothing Without a Cool Place to Go</a:t></a:r><a:endParaRPr lang="en-US" sz="3000" dirty="0"/></a:p></p:txBody></p:sp><p:sp><p:nvSpPr><p:cNvPr id="5" name="Shape 3"></p:cNvPr><p:cNvSpPr/><p:nvPr></p:nvPr></p:nvSpPr><p:spPr><a:xfrm><a:off x="640080" y="2142744"/><a:ext cx="10911535" cy="13716"/></a:xfrm><a:prstGeom prst="rect"><a:avLst></a:avLst></a:prstGeom><a:solidFill><a:srgbClr val="D8D8D2"/></a:solidFill><a:ln></a:ln></p:spPr></p:sp><p:sp><p:nvSpPr><p:cNvPr id="6" name="Text 4"></p:cNvPr><p:cNvSpPr/><p:nvPr></p:nvPr></p:nvSpPr><p:spPr><a:xfrm><a:off x="640080" y="2307336"/><a:ext cx="10911535" cy="662178"/></a:xfrm><a:prstGeom prst="rect"><a:avLst></a:avLst></a:prstGeom><a:noFill/><a:ln></a:ln></p:spPr><p:txBody><a:bodyPr wrap="square" rtlCol="0" anchor="t"></a:bodyPr><a:lstStyle/><a:p><a:pPr indent="0" marL="0"><a:lnSpc><a:spcPts val="2200"/></a:lnSpc><a:buNone/></a:pPr><a:r><a:rPr lang="en-US" sz="1500" dirty="0"><a:solidFill><a:srgbClr val="5C5C59"/></a:solidFill><a:latin typeface="Inter" pitchFamily="34" charset="0"/><a:ea typeface="Inter" pitchFamily="34" charset="-122"/><a:cs typeface="Inter" pitchFamily="34" charset="-120"/></a:rPr><a:t>Nearly 500 New Yorkers die each summer 22 link sensing to alerts, cooling, and home care.</a:t></a:r><a:endParaRPr lang="en-US" sz="1500" dirty="0"/></a:p></p:txBody></p:sp><p:sp><p:nvSpPr><p:cNvPr id="7" name="Shape 5"></p:cNvPr><p:cNvSpPr/><p:nvPr></p:nvPr></p:nvSpPr><p:spPr><a:xfrm><a:off x="640080" y="4248404"/><a:ext cx="10911535" cy="27432"/></a:xfrm><a:prstGeom prst="rect"><a:avLst></a:avLst></a:prstGeom><a:solidFill><a:srgbClr val="D8D8D2"/></a:solidFill><a:ln></a:ln></p:spPr></p:sp><p:sp><p:nvSpPr><p:cNvPr id="8" name="Shape 6"></p:cNvPr><p:cNvSpPr/><p:nvPr></p:nvPr></p:nvSpPr><p:spPr><a:xfrm><a:off x="1784566" y="4042664"/><a:ext cx="438912" cy="438912"/></a:xfrm><a:prstGeom prst="ellipse"><a:avLst></a:avLst></a:prstGeom><a:solidFill><a:srgbClr val="C05D4E"/></a:solidFill><a:ln></a:ln></p:spPr></p:sp><p:sp><p:nvSpPr><p:cNvPr id="9" name="Text 7"></p:cNvPr><p:cNvSpPr/><p:nvPr></p:nvPr></p:nvSpPr><p:spPr><a:xfrm><a:off x="1784566" y="4042664"/><a:ext cx="438912" cy="438912"/></a:xfrm><a:prstGeom prst="rect"><a:avLst></a:avLst></a:prstGeom><a:noFill/><a:ln></a:ln></p:spPr><p:txBody><a:bodyPr wrap="square" rtlCol="0" anchor="ctr"></a:bodyPr><a:lstStyle/><a:p><a:pPr algn="ctr" indent="0" marL="0"><a:lnSpc><a:spcPts val="1200"/></a:lnSpc><a:buNone/></a:pPr><a:r><a:rPr lang="en-US" sz="1000" b="1" spc="120" kern="0" dirty="0"><a:solidFill><a:srgbClr val="0A0A0A"/></a:solidFill><a:latin typeface="Inter" pitchFamily="34" charset="0"/><a:ea typeface="Inter" pitchFamily="34" charset="-122"/><a:cs typeface="Inter" pitchFamily="34" charset="-120"/></a:rPr><a:t>1</a:t></a:r><a:endParaRPr lang="en-US" sz="1000" dirty="0"/></a:p></p:txBody></p:sp><p:sp><p:nvSpPr><p:cNvPr id="10" name="Shape 8"></p:cNvPr><p:cNvSpPr/><p:nvPr></p:nvPr></p:nvSpPr><p:spPr><a:xfrm rot="5400000"><a:off x="2314918" y="4170680"/><a:ext cx="182880" cy="182880"/></a:xfrm><a:prstGeom prst="triangle"><a:avLst></a:avLst></a:prstGeom><a:solidFill><a:srgbClr val="C05D4E"/></a:solidFill><a:ln></a:ln></p:spPr></p:sp><p:sp><p:nvSpPr><p:cNvPr id="11" name="Text 9"></p:cNvPr><p:cNvSpPr/><p:nvPr></p:nvPr></p:nvSpPr><p:spPr><a:xfrm><a:off x="777240" y="2969514"/><a:ext cx="2453564" cy="1091438"/></a:xfrm><a:prstGeom prst="rect"><a:avLst></a:avLst></a:prstGeom><a:noFill/><a:ln></a:ln></p:spPr><p:txBody><a:bodyPr wrap="square" rtlCol="0" anchor="b"></a:bodyPr><a:lstStyle/><a:p><a:pPr algn="ctr" indent="0" marL="0"><a:lnSpc><a:spcPts val="2200"/></a:lnSpc><a:buNone/></a:pPr><a:r><a:rPr lang="en-US" sz="1500" b="1" dirty="0"><a:solidFill><a:srgbClr val="2D2D2A"/></a:solidFill><a:latin typeface="Inter" pitchFamily="34" charset="0"/><a:ea typeface="Inter" pitchFamily="34" charset="-122"/><a:cs typeface="Inter" pitchFamily="34" charset="-120"/></a:rPr><a:t>Sense block-level heat</a:t></a:r><a:endParaRPr lang="en-US" sz="1500" dirty="0"/></a:p></p:txBody></p:sp><p:sp><p:nvSpPr><p:cNvPr id="12" name="Text 10"></p:cNvPr><p:cNvSpPr/><p:nvPr></p:nvPr></p:nvSpPr><p:spPr><a:xfrm><a:off x="777240" y="4701032"/><a:ext cx="2453564" cy="1562608"/></a:xfrm><a:prstGeom prst="rect"><a:avLst></a:avLst></a:prstGeom><a:noFill/><a:ln></a:ln></p:spPr><p:txBody><a:bodyPr wrap="square" rtlCol="0" anchor="t"></a:bodyPr><a:lstStyle/><a:p><a:pPr algn="ctr" indent="0" marL="0"><a:lnSpc><a:spcPts val="2000"/></a:lnSpc><a:buNone/></a:pPr><a:r><a:rPr lang="en-US" sz="1300" dirty="0"><a:solidFill><a:srgbClr val="5C5C59"/></a:solidFill><a:latin typeface="Inter" pitchFamily="34" charset="0"/><a:ea typeface="Inter" pitchFamily="34" charset="-122"/><a:cs typeface="Inter" pitchFamily="34" charset="-120"/></a:rPr><a:t>Flag hottest low-shade blocks with hyperlocal risk maps before 826F days turn deadly.</a:t></a:r><a:endParaRPr lang="en-US" sz="1300" dirty="0"/></a:p></p:txBody></p:sp><p:sp><p:nvSpPr><p:cNvPr id="13" name="Shape 11"></p:cNvPr><p:cNvSpPr/><p:nvPr></p:nvPr></p:nvSpPr><p:spPr><a:xfrm><a:off x="4512450" y="4042664"/><a:ext cx="438912" cy="438912"/></a:xfrm><a:prstGeom prst="ellipse"><a:avLst></a:avLst></a:prstGeom><a:solidFill><a:srgbClr val="C05D4E"/></a:solidFill><a:ln></a:ln></p:spPr></p:sp><p:sp><p:nvSpPr><p:cNvPr id="14" name="Text 12"></p:cNvPr><p:cNvSpPr/><p:nvPr></p:nvPr></p:nvSpPr><p:spPr><a:xfrm><a:off x="4512450" y="4042664"/><a:ext cx="438912" cy="438912"/></a:xfrm><a:prstGeom prst="rect"><a:avLst></a:avLst></a:prstGeom><a:noFill/><a:ln></a:ln></p:spPr><p:txBody><a:bodyPr wrap="square" rtlCol="0" anchor="ctr"></a:bodyPr><a:lstStyle/><a:p><a:pPr algn="ctr" indent="0" marL="0"><a:lnSpc><a:spcPts val="1200"/></a:lnSpc><a:buNone/></a:pPr><a:r><a:rPr lang="en-US" sz="1000" b="1" spc="120" kern="0" dirty="0"><a:solidFill><a:srgbClr val="0A0A0A"/></a:solidFill><a:latin typeface="Inter" pitchFamily="34" charset="0"/><a:ea typeface="Inter" pitchFamily="34" charset="-122"/><a:cs typeface="Inter" pitchFamily="34" charset="-120"/></a:rPr><a:t>2</a:t></a:r><a:endParaRPr lang="en-US" sz="1000" dirty="0"/></a:p></p:txBody></p:sp><p:sp><p:nvSpPr><p:cNvPr id="15" name="Shape 13"></p:cNvPr><p:cNvSpPr/><p:nvPr></p:nvPr></p:nvSpPr><p:spPr><a:xfrm rot="5400000"><a:off x="5042802" y="4170680"/><a:ext cx="182880" cy="182880"/></a:xfrm><a:prstGeom prst="triangle"><a:avLst></a:avLst></a:prstGeom><a:solidFill><a:srgbClr val="C05D4E"/></a:solidFill><a:ln></a:ln></p:spPr></p:sp><p:sp><p:nvSpPr><p:cNvPr id="16" name="Text 14"></p:cNvPr><p:cNvSpPr/><p:nvPr></p:nvPr></p:nvSpPr><p:spPr><a:xfrm><a:off x="3505124" y="2969514"/><a:ext cx="2453564" cy="1091438"/></a:xfrm><a:prstGeom prst="rect"><a:avLst></a:avLst></a:prstGeom><a:noFill/><a:ln></a:ln></p:spPr><p:txBody><a:bodyPr wrap="square" rtlCol="0" anchor="b"></a:bodyPr><a:lstStyle/><a:p><a:pPr algn="ctr" indent="0" marL="0"><a:lnSpc><a:spcPts val="2200"/></a:lnSpc><a:buNone/></a:pPr><a:r><a:rPr lang="en-US" sz="1500" b="1" dirty="0"><a:solidFill><a:srgbClr val="2D2D2A"/></a:solidFill><a:latin typeface="Inter" pitchFamily="34" charset="0"/><a:ea typeface="Inter" pitchFamily="34" charset="-122"/><a:cs typeface="Inter" pitchFamily="34" charset="-120"/></a:rPr><a:t>Alert highest-risk first</a:t></a:r><a:endParaRPr lang="en-US" sz="1500" dirty="0"/></a:p></p:txBody></p:sp><p:sp><p:nvSpPr><p:cNvPr id="17" name="Text 15"></p:cNvPr><p:cNvSpPr/><p:nvPr></p:nvPr></p:nvSpPr><p:spPr><a:xfrm><a:off x="3505124" y="4701032"/><a:ext cx="2453564" cy="1562608"/></a:xfrm><a:prstGeom prst="rect"><a:avLst></a:avLst></a:prstGeom><a:noFill/><a:ln></a:ln></p:spPr><p:txBody><a:bodyPr wrap="square" rtlCol="0" anchor="t"></a:bodyPr><a:lstStyle/><a:p><a:pPr algn="ctr" indent="0" marL="0"><a:lnSpc><a:spcPts val="2000"/></a:lnSpc><a:buNone/></a:pPr><a:r><a:rPr lang="en-US" sz="1300" dirty="0"><a:solidFill><a:srgbClr val="5C5C59"/></a:solidFill><a:latin typeface="Inter" pitchFamily="34" charset="0"/><a:ea typeface="Inter" pitchFamily="34" charset="-122"/><a:cs typeface="Inter" pitchFamily="34" charset="-120"/></a:rPr><a:t>Push heat-health warnings to vulnerable residents, prioritizing greatest need.</a:t></a:r><a:endParaRPr lang="en-US" sz="1300" dirty="0"/></a:p></p:txBody></p:sp><p:sp><p:nvSpPr><p:cNvPr id="18" name="Shape 16"></p:cNvPr><p:cNvSpPr/><p:nvPr></p:nvPr></p:nvSpPr><p:spPr><a:xfrm><a:off x="7240334" y="4042664"/><a:ext cx="438912" cy="438912"/></a:xfrm><a:prstGeom prst="ellipse"><a:avLst></a:avLst></a:prstGeom><a:solidFill><a:srgbClr val="C05D4E"/></a:solidFill><a:ln></a:ln></p:spPr></p:sp><p:sp><p:nvSpPr><p:cNvPr id="19" name="Text 17"></p:cNvPr><p:cNvSpPr/><p:nvPr></p:nvPr></p:nvSpPr><p:spPr><a:xfrm><a:off x="7240334" y="4042664"/><a:ext cx="438912" cy="438912"/></a:xfrm><a:prstGeom prst="rect"><a:avLst></a:avLst></a:prstGeom><a:noFill/><a:ln></a:ln></p:spPr><p:txBody><a:bodyPr wrap="square" rtlCol="0" anchor="ctr"></a:bodyPr><a:lstStyle/><a:p><a:pPr algn="ctr" indent="0" marL="0"><a:lnSpc><a:spcPts val="1200"/></a:lnSpc><a:buNone/></a:pPr><a:r><a:rPr lang="en-US" sz="1000" b="1" spc="120" kern="0" dirty="0"><a:solidFill><a:srgbClr val="0A0A0A"/></a:solidFill><a:latin typeface="Inter" pitchFamily="34" charset="0"/><a:ea typeface="Inter" pitchFamily="34" charset="-122"/><a:cs typeface="Inter" pitchFamily="34" charset="-120"/></a:rPr><a:t>3</a:t></a:r><a:endParaRPr lang="en-US" sz="1000" dirty="0"/></a:p></p:txBody></p:sp><p:sp><p:nvSpPr><p:cNvPr id="20" name="Shape 18"></p:cNvPr><p:cNvSpPr/><p:nvPr></p:nvPr></p:nvSpPr><p:spPr><a:xfrm rot="5400000"><a:off x="7770686" y="4170680"/><a:ext cx="182880" cy="182880"/></a:xfrm><a:prstGeom prst="triangle"><a:avLst></a:avLst></a:prstGeom><a:solidFill><a:srgbClr val="C05D4E"/></a:solidFill><a:ln></a:ln></p:spPr></p:sp><p:sp><p:nvSpPr><p:cNvPr id="21" name="Text 19"></p:cNvPr><p:cNvSpPr/><p:nvPr></p:nvPr></p:nvSpPr><p:spPr><a:xfrm><a:off x="6233008" y="2969514"/><a:ext cx="2453564" cy="1091438"/></a:xfrm><a:prstGeom prst="rect"><a:avLst></a:avLst></a:prstGeom><a:noFill/><a:ln></a:ln></p:spPr><p:txBody><a:bodyPr wrap="square" rtlCol="0" anchor="b"></a:bodyPr><a:lstStyle/><a:p><a:pPr algn="ctr" indent="0" marL="0"><a:lnSpc><a:spcPts val="2200"/></a:lnSpc><a:buNone/></a:pPr><a:r><a:rPr lang="en-US" sz="1500" b="1" dirty="0"><a:solidFill><a:srgbClr val="2D2D2A"/></a:solidFill><a:latin typeface="Inter" pitchFamily="34" charset="0"/><a:ea typeface="Inter" pitchFamily="34" charset="-122"/><a:cs typeface="Inter" pitchFamily="34" charset="-120"/></a:rPr><a:t>Open nearby cooling</a:t></a:r><a:endParaRPr lang="en-US" sz="1500" dirty="0"/></a:p></p:txBody></p:sp><p:sp><p:nvSpPr><p:cNvPr id="22" name="Text 20"></p:cNvPr><p:cNvSpPr/><p:nvPr></p:nvPr></p:nvSpPr><p:spPr><a:xfrm><a:off x="6233008" y="4701032"/><a:ext cx="2453564" cy="1562608"/></a:xfrm><a:prstGeom prst="rect"><a:avLst></a:avLst></a:prstGeom><a:noFill/><a:ln></a:ln></p:spPr><p:txBody><a:bodyPr wrap="square" rtlCol="0" anchor="t"></a:bodyPr><a:lstStyle/><a:p><a:pPr algn="ctr" indent="0" marL="0"><a:lnSpc><a:spcPts val="2000"/></a:lnSpc><a:buNone/></a:pPr><a:r><a:rPr lang="en-US" sz="1300" dirty="0"><a:solidFill><a:srgbClr val="5C5C59"/></a:solidFill><a:latin typeface="Inter" pitchFamily="34" charset="0"/><a:ea typeface="Inter" pitchFamily="34" charset="-122"/><a:cs typeface="Inter" pitchFamily="34" charset="-120"/></a:rPr><a:t>Open cooling centers nearby; connect eligible homes to free HEAP air conditioners.</a:t></a:r><a:endParaRPr lang="en-US" sz="1300" dirty="0"/></a:p></p:txBody></p:sp><p:sp><p:nvSpPr><p:cNvPr id="23" name="Shape 21"></p:cNvPr><p:cNvSpPr/><p:nvPr></p:nvPr></p:nvSpPr><p:spPr><a:xfrm><a:off x="9968217" y="4042664"/><a:ext cx="438912" cy="438912"/></a:xfrm><a:prstGeom prst="ellipse"><a:avLst></a:avLst></a:prstGeom><a:solidFill><a:srgbClr val="C05D4E"/></a:solidFill><a:ln></a:ln></p:spPr></p:sp><p:sp><p:nvSpPr><p:cNvPr id="24" name="Text 22"></p:cNvPr><p:cNvSpPr/><p:nvPr></p:nvPr></p:nvSpPr><p:spPr><a:xfrm><a:off x="9968217" y="4042664"/><a:ext cx="438912" cy="438912"/></a:xfrm><a:prstGeom prst="rect"><a:avLst></a:avLst></a:prstGeom><a:noFill/><a:ln></a:ln></p:spPr><p:txBody><a:bodyPr wrap="square" rtlCol="0" anchor="ctr"></a:bodyPr><a:lstStyle/><a:p><a:pPr algn="ctr" indent="0" marL="0"><a:lnSpc><a:spcPts val="1200"/></a:lnSpc><a:buNone/></a:pPr><a:r><a:rPr lang="en-US" sz="1000" b="1" spc="120" kern="0" dirty="0"><a:solidFill><a:srgbClr val="0A0A0A"/></a:solidFill><a:latin typeface="Inter" pitchFamily="34" charset="0"/><a:ea typeface="Inter" pitchFamily="34" charset="-122"/><a:cs typeface="Inter" pitchFamily="34" charset="-120"/></a:rPr><a:t>4</a:t></a:r><a:endParaRPr lang="en-US" sz="1000" dirty="0"/></a:p></p:txBody></p:sp><p:sp><p:nvSpPr><p:cNvPr id="25" name="Text 23"></p:cNvPr><p:cNvSpPr/><p:nvPr></p:nvPr></p:nvSpPr><p:spPr><a:xfrm><a:off x="8960891" y="2969514"/><a:ext cx="2453564" cy="1091438"/></a:xfrm><a:prstGeom prst="rect"><a:avLst></a:avLst></a:prstGeom><a:noFill/><a:ln></a:ln></p:spPr><p:txBody><a:bodyPr wrap="square" rtlCol="0" anchor="b"></a:bodyPr><a:lstStyle/><a:p><a:pPr algn="ctr" indent="0" marL="0"><a:lnSpc><a:spcPts val="2200"/></a:lnSpc><a:buNone/></a:pPr><a:r><a:rPr lang="en-US" sz="1500" b="1" dirty="0"><a:solidFill><a:srgbClr val="2D2D2A"/></a:solidFill><a:latin typeface="Inter" pitchFamily="34" charset="0"/><a:ea typeface="Inter" pitchFamily="34" charset="-122"/><a:cs typeface="Inter" pitchFamily="34" charset="-120"/></a:rPr><a:t>Bring care back home</a:t></a:r><a:endParaRPr lang="en-US" sz="1500" dirty="0"/></a:p></p:txBody></p:sp><p:sp><p:nvSpPr><p:cNvPr id="26" name="Text 24"></p:cNvPr><p:cNvSpPr/><p:nvPr></p:nvPr></p:nvSpPr><p:spPr><a:xfrm><a:off x="8960891" y="4701032"/><a:ext cx="2453564" cy="1562608"/></a:xfrm><a:prstGeom prst="rect"><a:avLst></a:avLst></a:prstGeom><a:noFill/><a:ln></a:ln></p:spPr><p:txBody><a:bodyPr wrap="square" rtlCol="0" anchor="t"></a:bodyPr><a:lstStyle/><a:p><a:pPr algn="ctr" indent="0" marL="0"><a:lnSpc><a:spcPts val="2000"/></a:lnSpc><a:buNone/></a:pPr><a:r><a:rPr lang="en-US" sz="1300" dirty="0"><a:solidFill><a:srgbClr val="5C5C59"/></a:solidFill><a:latin typeface="Inter" pitchFamily="34" charset="0"/><a:ea typeface="Inter" pitchFamily="34" charset="-122"/><a:cs typeface="Inter" pitchFamily="34" charset="-120"/></a:rPr><a:t>Check on isolated neighbors at home, where heat-stress deaths strike most often.</a:t></a:r><a:endParaRPr lang="en-US" sz="1300" dirty="0"/></a:p></p:txBody></p:sp><p:pic>  <p:nvPicPr><p:cNvPr id="27" name="Image 0" descr="/home/deepnar/Programs/presentations/brand/generated/crest.png">    </p:cNvPr>    <p:cNvPicPr><a:picLocks noChangeAspect="1"/></p:cNvPicPr>    <p:nvPr></p:nvPr>  </p:nvPicPr><p:blipFill><a:blip r:embed="rId1"></a:blip>  <a:stretch><a:fillRect/></a:stretch></p:blipFill><p:spPr> <a:xfrm>  <a:off x="10984000" y="237744"/>  <a:ext cx="704776" cy="749808"/> </a:xfrm> <a:prstGeom prst="rect"><a:avLst/></a:prstGeom></p:spPr></p:pic><p:sp><p:nvSpPr><p:cNvPr id="28" name="Text 25"></p:cNvPr><p:cNvSpPr/><p:nvPr></p:nvPr></p:nvSpPr><p:spPr><a:xfrm><a:off x="640080" y="6327648"/><a:ext cx="5943600" cy="274320"/></a:xfrm><a:prstGeom prst="rect"><a:avLst></a:avLst></a:prstGeom><a:noFill/><a:ln></a:ln></p:spPr><p:txBody><a:bodyPr wrap="square" rtlCol="0" anchor="ctr"></a:bodyPr><a:lstStyle/><a:p><a:pPr algn="l" indent="0" marL="0"><a:buNone/></a:pPr><a:r><a:rPr lang="en-US" sz="900" dirty="0"><a:solidFill><a:srgbClr val="5C5C59"/></a:solidFill><a:latin typeface="Inter" pitchFamily="34" charset="0"/><a:ea typeface="Inter" pitchFamily="34" charset="-122"/><a:cs typeface="Inter" pitchFamily="34" charset="-120"/></a:rPr><a:t>Nia Thomas</a:t></a:r><a:endParaRPr lang="en-US" sz="900" dirty="0"/></a:p></p:txBody></p:sp><p:sp><p:nvSpPr><p:cNvPr id="29" name="Text 26"></p:cNvPr><p:cNvSpPr/><p:nvPr></p:nvPr></p:nvSpPr><p:spPr><a:xfrm><a:off x="10454335" y="6327648"/><a:ext cx="1097280" cy="274320"/></a:xfrm><a:prstGeom prst="rect"><a:avLst></a:avLst></a:prstGeom><a:noFill/><a:ln></a:ln></p:spPr><p:txBody><a:bodyPr wrap="square" rtlCol="0" anchor="ctr"></a:bodyPr><a:lstStyle/><a:p><a:pPr algn="r" indent="0" marL="0"><a:buNone/></a:pPr><a:r><a:rPr lang="en-US" sz="900" dirty="0"><a:solidFill><a:srgbClr val="5C5C59"/></a:solidFill><a:latin typeface="Inter" pitchFamily="34" charset="0"/><a:ea typeface="Inter" pitchFamily="34" charset="-122"/><a:cs typeface="Inter" pitchFamily="34" charset="-120"/></a:rPr><a:t>13 / 17</a:t></a:r><a:endParaRPr lang="en-US" sz="900" dirty="0"/></a:p></p:txBody></p:sp></p:spTree></p:cSld><p:clrMapOvr><a:masterClrMapping/></p:clrMapOvr>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EBEB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621792"/>
            <a:ext cx="822960" cy="91440"/>
          </a:xfrm>
          <a:prstGeom prst="rect">
            <a:avLst/>
          </a:prstGeom>
          <a:solidFill>
            <a:srgbClr val="C05D4E"/>
          </a:solidFill>
          <a:ln/>
        </p:spPr>
      </p:sp>
      <p:sp>
        <p:nvSpPr>
          <p:cNvPr id="3" name="Text 1"/>
          <p:cNvSpPr/>
          <p:nvPr/>
        </p:nvSpPr>
        <p:spPr>
          <a:xfrm>
            <a:off x="1664208" y="566928"/>
            <a:ext cx="84511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b="1" spc="120" kern="0" dirty="0">
                <a:solidFill>
                  <a:srgbClr val="5C5C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PROTECTING COMMUNITIES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1188720"/>
            <a:ext cx="9475240" cy="899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3500"/>
              </a:lnSpc>
              <a:buNone/>
            </a:pPr>
            <a:r>
              <a:rPr lang="en-US" sz="3000" b="1" spc="-30" kern="0" dirty="0">
                <a:solidFill>
                  <a:srgbClr val="2D2D2A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Black New Yorkers face 3x the heat death rate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2142744"/>
            <a:ext cx="10911535" cy="13716"/>
          </a:xfrm>
          <a:prstGeom prst="rect">
            <a:avLst/>
          </a:prstGeom>
          <a:solidFill>
            <a:srgbClr val="D8D8D2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2307336"/>
            <a:ext cx="10911535" cy="66217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5C5C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Age-adjusted 1.2 vs 0.4 per million; Westside AC below 80% vs 96% leaves risk at home</a:t>
            </a:r>
            <a:endParaRPr lang="en-US" sz="15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640080" y="2969514"/>
          <a:ext cx="6874267" cy="2654046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Shape 5"/>
          <p:cNvSpPr/>
          <p:nvPr/>
        </p:nvSpPr>
        <p:spPr>
          <a:xfrm>
            <a:off x="7788667" y="3115818"/>
            <a:ext cx="36576" cy="384048"/>
          </a:xfrm>
          <a:prstGeom prst="rect">
            <a:avLst/>
          </a:prstGeom>
          <a:solidFill>
            <a:srgbClr val="C05D4E"/>
          </a:solidFill>
          <a:ln/>
        </p:spPr>
      </p:sp>
      <p:sp>
        <p:nvSpPr>
          <p:cNvPr id="9" name="Text 6"/>
          <p:cNvSpPr/>
          <p:nvPr/>
        </p:nvSpPr>
        <p:spPr>
          <a:xfrm>
            <a:off x="7953259" y="3060954"/>
            <a:ext cx="3598356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170" dirty="0">
                <a:solidFill>
                  <a:srgbClr val="2D2D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2016-2025 age-adjusted rates per million residents</a:t>
            </a:r>
            <a:endParaRPr lang="en-US" sz="1170" dirty="0"/>
          </a:p>
        </p:txBody>
      </p:sp>
      <p:sp>
        <p:nvSpPr>
          <p:cNvPr id="10" name="Shape 7"/>
          <p:cNvSpPr/>
          <p:nvPr/>
        </p:nvSpPr>
        <p:spPr>
          <a:xfrm>
            <a:off x="7788667" y="4030218"/>
            <a:ext cx="36576" cy="384048"/>
          </a:xfrm>
          <a:prstGeom prst="rect">
            <a:avLst/>
          </a:prstGeom>
          <a:solidFill>
            <a:srgbClr val="C05D4E"/>
          </a:solidFill>
          <a:ln/>
        </p:spPr>
      </p:sp>
      <p:sp>
        <p:nvSpPr>
          <p:cNvPr id="11" name="Text 8"/>
          <p:cNvSpPr/>
          <p:nvPr/>
        </p:nvSpPr>
        <p:spPr>
          <a:xfrm>
            <a:off x="7953259" y="3975354"/>
            <a:ext cx="3598356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170" dirty="0">
                <a:solidFill>
                  <a:srgbClr val="2D2D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Westside AC &lt;80% vs 96% elsewhere in Atlanta</a:t>
            </a:r>
            <a:endParaRPr lang="en-US" sz="1170" dirty="0"/>
          </a:p>
        </p:txBody>
      </p:sp>
      <p:sp>
        <p:nvSpPr>
          <p:cNvPr id="12" name="Shape 9"/>
          <p:cNvSpPr/>
          <p:nvPr/>
        </p:nvSpPr>
        <p:spPr>
          <a:xfrm>
            <a:off x="640080" y="5806440"/>
            <a:ext cx="10911535" cy="475488"/>
          </a:xfrm>
          <a:prstGeom prst="roundRect">
            <a:avLst>
              <a:gd name="adj" fmla="val 46154"/>
            </a:avLst>
          </a:prstGeom>
          <a:solidFill>
            <a:srgbClr val="FFFFFF"/>
          </a:solidFill>
          <a:ln/>
        </p:spPr>
      </p:sp>
      <p:sp>
        <p:nvSpPr>
          <p:cNvPr id="13" name="Shape 10"/>
          <p:cNvSpPr/>
          <p:nvPr/>
        </p:nvSpPr>
        <p:spPr>
          <a:xfrm>
            <a:off x="640080" y="5806440"/>
            <a:ext cx="54864" cy="475488"/>
          </a:xfrm>
          <a:prstGeom prst="rect">
            <a:avLst/>
          </a:prstGeom>
          <a:solidFill>
            <a:srgbClr val="C05D4E"/>
          </a:solidFill>
          <a:ln/>
        </p:spPr>
      </p:sp>
      <p:sp>
        <p:nvSpPr>
          <p:cNvPr id="14" name="Text 11"/>
          <p:cNvSpPr/>
          <p:nvPr/>
        </p:nvSpPr>
        <p:spPr>
          <a:xfrm>
            <a:off x="841248" y="5806440"/>
            <a:ext cx="10710367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i="1" spc="20" kern="0" dirty="0">
                <a:solidFill>
                  <a:srgbClr val="5C5C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If exposure is at home, protection must start at home — not at a distant center.</a:t>
            </a:r>
            <a:endParaRPr lang="en-US" sz="1000" dirty="0"/>
          </a:p>
        </p:txBody>
      </p:sp>
      <p:pic>
        <p:nvPicPr>
          <p:cNvPr id="15" name="Image 0" descr="/home/deepnar/Programs/presentations/brand/generated/cres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84000" y="237744"/>
            <a:ext cx="704776" cy="749808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640080" y="6327648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5C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Nia Thomas</a:t>
            </a:r>
            <a:endParaRPr lang="en-US" sz="900" dirty="0"/>
          </a:p>
        </p:txBody>
      </p:sp>
      <p:sp>
        <p:nvSpPr>
          <p:cNvPr id="17" name="Text 13"/>
          <p:cNvSpPr/>
          <p:nvPr/>
        </p:nvSpPr>
        <p:spPr>
          <a:xfrm>
            <a:off x="10454335" y="632764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5C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14 / 17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EBEB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621792"/>
            <a:ext cx="822960" cy="91440"/>
          </a:xfrm>
          <a:prstGeom prst="rect">
            <a:avLst/>
          </a:prstGeom>
          <a:solidFill>
            <a:srgbClr val="C05D4E"/>
          </a:solidFill>
          <a:ln/>
        </p:spPr>
      </p:sp>
      <p:sp>
        <p:nvSpPr>
          <p:cNvPr id="3" name="Text 1"/>
          <p:cNvSpPr/>
          <p:nvPr/>
        </p:nvSpPr>
        <p:spPr>
          <a:xfrm>
            <a:off x="1664208" y="566928"/>
            <a:ext cx="84511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b="1" spc="120" kern="0" dirty="0">
                <a:solidFill>
                  <a:srgbClr val="5C5C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PROTECTING COMMUNITIES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1188720"/>
            <a:ext cx="9475240" cy="899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3500"/>
              </a:lnSpc>
              <a:buNone/>
            </a:pPr>
            <a:r>
              <a:rPr lang="en-US" sz="3000" b="1" spc="-30" kern="0" dirty="0">
                <a:solidFill>
                  <a:srgbClr val="2D2D2A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0 to 36 months: paint now, protect homes, change code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2142744"/>
            <a:ext cx="10911535" cy="13716"/>
          </a:xfrm>
          <a:prstGeom prst="rect">
            <a:avLst/>
          </a:prstGeom>
          <a:solidFill>
            <a:srgbClr val="D8D8D2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2307336"/>
            <a:ext cx="10911535" cy="66217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5C5C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Start with fast reflective roofs, then secure home cooling, then lock in 30% canopy and cool-home law.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2423160" y="2969514"/>
            <a:ext cx="228211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000" b="1" spc="120" kern="0" dirty="0">
                <a:solidFill>
                  <a:srgbClr val="5C5C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Month 0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705274" y="2969514"/>
            <a:ext cx="228211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000" b="1" spc="120" kern="0" dirty="0">
                <a:solidFill>
                  <a:srgbClr val="5C5C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Month 6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987388" y="2969514"/>
            <a:ext cx="228211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000" b="1" spc="120" kern="0" dirty="0">
                <a:solidFill>
                  <a:srgbClr val="5C5C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Month 12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9269501" y="2969514"/>
            <a:ext cx="228211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000" b="1" spc="120" kern="0" dirty="0">
                <a:solidFill>
                  <a:srgbClr val="5C5C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Month 36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40080" y="3326130"/>
            <a:ext cx="1463040" cy="9182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b="1" dirty="0">
                <a:solidFill>
                  <a:srgbClr val="2D2D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0-6 MO: QUICK WINS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2505456" y="3326130"/>
            <a:ext cx="2878226" cy="918210"/>
          </a:xfrm>
          <a:prstGeom prst="roundRect">
            <a:avLst>
              <a:gd name="adj" fmla="val 239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03200" dist="50800" dir="5400000">
              <a:srgbClr val="2D2D2A">
                <a:alpha val="9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596896" y="3390138"/>
            <a:ext cx="2695346" cy="37680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00" b="1" spc="20" kern="0" dirty="0">
                <a:solidFill>
                  <a:srgbClr val="2D2D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Paint roofs reflective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596896" y="3830955"/>
            <a:ext cx="2695346" cy="42405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880" spc="20" kern="0" dirty="0">
                <a:solidFill>
                  <a:srgbClr val="5C5C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Indoor cut 1.5 to 5 degrees C</a:t>
            </a:r>
            <a:endParaRPr lang="en-US" sz="880" dirty="0"/>
          </a:p>
        </p:txBody>
      </p:sp>
      <p:sp>
        <p:nvSpPr>
          <p:cNvPr id="15" name="Shape 13"/>
          <p:cNvSpPr/>
          <p:nvPr/>
        </p:nvSpPr>
        <p:spPr>
          <a:xfrm>
            <a:off x="5548274" y="3326130"/>
            <a:ext cx="2878226" cy="918210"/>
          </a:xfrm>
          <a:prstGeom prst="roundRect">
            <a:avLst>
              <a:gd name="adj" fmla="val 239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03200" dist="50800" dir="5400000">
              <a:srgbClr val="2D2D2A">
                <a:alpha val="9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639714" y="3390138"/>
            <a:ext cx="2695346" cy="37680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00" b="1" spc="20" kern="0" dirty="0">
                <a:solidFill>
                  <a:srgbClr val="2D2D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Open cooling centers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639714" y="3830955"/>
            <a:ext cx="2695346" cy="42405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880" spc="20" kern="0" dirty="0">
                <a:solidFill>
                  <a:srgbClr val="5C5C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Prioritize greatest need areas</a:t>
            </a:r>
            <a:endParaRPr lang="en-US" sz="880" dirty="0"/>
          </a:p>
        </p:txBody>
      </p:sp>
      <p:sp>
        <p:nvSpPr>
          <p:cNvPr id="18" name="Shape 16"/>
          <p:cNvSpPr/>
          <p:nvPr/>
        </p:nvSpPr>
        <p:spPr>
          <a:xfrm>
            <a:off x="8591093" y="3326130"/>
            <a:ext cx="2878226" cy="918210"/>
          </a:xfrm>
          <a:prstGeom prst="roundRect">
            <a:avLst>
              <a:gd name="adj" fmla="val 239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03200" dist="50800" dir="5400000">
              <a:srgbClr val="2D2D2A">
                <a:alpha val="9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8682533" y="3390138"/>
            <a:ext cx="2695346" cy="37680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00" b="1" spc="20" kern="0" dirty="0">
                <a:solidFill>
                  <a:srgbClr val="2D2D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Add shade + greenery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682533" y="3830955"/>
            <a:ext cx="2695346" cy="42405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880" spc="20" kern="0" dirty="0">
                <a:solidFill>
                  <a:srgbClr val="5C5C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Relief while trees mature</a:t>
            </a:r>
            <a:endParaRPr lang="en-US" sz="880" dirty="0"/>
          </a:p>
        </p:txBody>
      </p:sp>
      <p:sp>
        <p:nvSpPr>
          <p:cNvPr id="21" name="Shape 19"/>
          <p:cNvSpPr/>
          <p:nvPr/>
        </p:nvSpPr>
        <p:spPr>
          <a:xfrm>
            <a:off x="640080" y="4322064"/>
            <a:ext cx="10911535" cy="13716"/>
          </a:xfrm>
          <a:prstGeom prst="rect">
            <a:avLst/>
          </a:prstGeom>
          <a:solidFill>
            <a:srgbClr val="D8D8D2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" y="4335780"/>
            <a:ext cx="1463040" cy="9182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b="1" dirty="0">
                <a:solidFill>
                  <a:srgbClr val="2D2D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6-12 MO: COOL ACCESS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2505456" y="4335780"/>
            <a:ext cx="2878226" cy="918210"/>
          </a:xfrm>
          <a:prstGeom prst="roundRect">
            <a:avLst>
              <a:gd name="adj" fmla="val 239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03200" dist="50800" dir="5400000">
              <a:srgbClr val="2D2D2A">
                <a:alpha val="9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2596896" y="4399788"/>
            <a:ext cx="2695346" cy="37680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00" b="1" spc="20" kern="0" dirty="0">
                <a:solidFill>
                  <a:srgbClr val="2D2D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Free AC via HEAP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2596896" y="4840605"/>
            <a:ext cx="2695346" cy="42405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880" spc="20" kern="0" dirty="0">
                <a:solidFill>
                  <a:srgbClr val="5C5C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Free unit + install if eligible</a:t>
            </a:r>
            <a:endParaRPr lang="en-US" sz="880" dirty="0"/>
          </a:p>
        </p:txBody>
      </p:sp>
      <p:sp>
        <p:nvSpPr>
          <p:cNvPr id="26" name="Shape 24"/>
          <p:cNvSpPr/>
          <p:nvPr/>
        </p:nvSpPr>
        <p:spPr>
          <a:xfrm>
            <a:off x="5548274" y="4335780"/>
            <a:ext cx="2878226" cy="918210"/>
          </a:xfrm>
          <a:prstGeom prst="roundRect">
            <a:avLst>
              <a:gd name="adj" fmla="val 239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03200" dist="50800" dir="5400000">
              <a:srgbClr val="2D2D2A">
                <a:alpha val="9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639714" y="4399788"/>
            <a:ext cx="2695346" cy="37680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00" b="1" spc="20" kern="0" dirty="0">
                <a:solidFill>
                  <a:srgbClr val="2D2D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Ban summer shut-offs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639714" y="4840605"/>
            <a:ext cx="2695346" cy="42405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880" spc="20" kern="0" dirty="0">
                <a:solidFill>
                  <a:srgbClr val="5C5C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shut-off even if unpaid</a:t>
            </a:r>
            <a:endParaRPr lang="en-US" sz="880" dirty="0"/>
          </a:p>
        </p:txBody>
      </p:sp>
      <p:sp>
        <p:nvSpPr>
          <p:cNvPr id="29" name="Shape 27"/>
          <p:cNvSpPr/>
          <p:nvPr/>
        </p:nvSpPr>
        <p:spPr>
          <a:xfrm>
            <a:off x="8591093" y="4335780"/>
            <a:ext cx="2878226" cy="918210"/>
          </a:xfrm>
          <a:prstGeom prst="roundRect">
            <a:avLst>
              <a:gd name="adj" fmla="val 239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03200" dist="50800" dir="5400000">
              <a:srgbClr val="2D2D2A">
                <a:alpha val="9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8682533" y="4399788"/>
            <a:ext cx="2695346" cy="37680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00" b="1" spc="20" kern="0" dirty="0">
                <a:solidFill>
                  <a:srgbClr val="2D2D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Subsidize summer bills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8682533" y="4840605"/>
            <a:ext cx="2695346" cy="42405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880" spc="20" kern="0" dirty="0">
                <a:solidFill>
                  <a:srgbClr val="5C5C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Affordable clean energy help</a:t>
            </a:r>
            <a:endParaRPr lang="en-US" sz="880" dirty="0"/>
          </a:p>
        </p:txBody>
      </p:sp>
      <p:sp>
        <p:nvSpPr>
          <p:cNvPr id="32" name="Shape 30"/>
          <p:cNvSpPr/>
          <p:nvPr/>
        </p:nvSpPr>
        <p:spPr>
          <a:xfrm>
            <a:off x="640080" y="5331714"/>
            <a:ext cx="10911535" cy="13716"/>
          </a:xfrm>
          <a:prstGeom prst="rect">
            <a:avLst/>
          </a:prstGeom>
          <a:solidFill>
            <a:srgbClr val="D8D8D2"/>
          </a:solidFill>
          <a:ln/>
        </p:spPr>
      </p:sp>
      <p:sp>
        <p:nvSpPr>
          <p:cNvPr id="33" name="Text 31"/>
          <p:cNvSpPr/>
          <p:nvPr/>
        </p:nvSpPr>
        <p:spPr>
          <a:xfrm>
            <a:off x="640080" y="5345430"/>
            <a:ext cx="1463040" cy="9182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b="1" dirty="0">
                <a:solidFill>
                  <a:srgbClr val="2D2D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12-36 MO: COOL CODE</a:t>
            </a:r>
            <a:endParaRPr lang="en-US" sz="1500" dirty="0"/>
          </a:p>
        </p:txBody>
      </p:sp>
      <p:sp>
        <p:nvSpPr>
          <p:cNvPr id="34" name="Shape 32"/>
          <p:cNvSpPr/>
          <p:nvPr/>
        </p:nvSpPr>
        <p:spPr>
          <a:xfrm>
            <a:off x="2505456" y="5345430"/>
            <a:ext cx="2878226" cy="918210"/>
          </a:xfrm>
          <a:prstGeom prst="roundRect">
            <a:avLst>
              <a:gd name="adj" fmla="val 239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03200" dist="50800" dir="5400000">
              <a:srgbClr val="2D2D2A">
                <a:alpha val="9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2596896" y="5409438"/>
            <a:ext cx="2695346" cy="37680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00" b="1" spc="20" kern="0" dirty="0">
                <a:solidFill>
                  <a:srgbClr val="2D2D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Cap indoor summer heat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2596896" y="5850255"/>
            <a:ext cx="2695346" cy="42405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880" spc="20" kern="0" dirty="0">
                <a:solidFill>
                  <a:srgbClr val="5C5C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Local Law 23 of 2026</a:t>
            </a:r>
            <a:endParaRPr lang="en-US" sz="880" dirty="0"/>
          </a:p>
        </p:txBody>
      </p:sp>
      <p:sp>
        <p:nvSpPr>
          <p:cNvPr id="37" name="Shape 35"/>
          <p:cNvSpPr/>
          <p:nvPr/>
        </p:nvSpPr>
        <p:spPr>
          <a:xfrm>
            <a:off x="5548274" y="5345430"/>
            <a:ext cx="2878226" cy="918210"/>
          </a:xfrm>
          <a:prstGeom prst="roundRect">
            <a:avLst>
              <a:gd name="adj" fmla="val 239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03200" dist="50800" dir="5400000">
              <a:srgbClr val="2D2D2A">
                <a:alpha val="9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5639714" y="5409438"/>
            <a:ext cx="2695346" cy="37680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00" b="1" spc="20" kern="0" dirty="0">
                <a:solidFill>
                  <a:srgbClr val="2D2D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Grow canopy to 30%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5639714" y="5850255"/>
            <a:ext cx="2695346" cy="42405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880" spc="20" kern="0" dirty="0">
                <a:solidFill>
                  <a:srgbClr val="5C5C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City goal: 30% tree canopy</a:t>
            </a:r>
            <a:endParaRPr lang="en-US" sz="880" dirty="0"/>
          </a:p>
        </p:txBody>
      </p:sp>
      <p:sp>
        <p:nvSpPr>
          <p:cNvPr id="40" name="Shape 38"/>
          <p:cNvSpPr/>
          <p:nvPr/>
        </p:nvSpPr>
        <p:spPr>
          <a:xfrm>
            <a:off x="8591093" y="5345430"/>
            <a:ext cx="2878226" cy="918210"/>
          </a:xfrm>
          <a:prstGeom prst="roundRect">
            <a:avLst>
              <a:gd name="adj" fmla="val 239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03200" dist="50800" dir="5400000">
              <a:srgbClr val="2D2D2A">
                <a:alpha val="9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8682533" y="5409438"/>
            <a:ext cx="2695346" cy="37680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00" b="1" spc="20" kern="0" dirty="0">
                <a:solidFill>
                  <a:srgbClr val="2D2D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Protect strained grid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8682533" y="5850255"/>
            <a:ext cx="2695346" cy="42405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880" spc="20" kern="0" dirty="0">
                <a:solidFill>
                  <a:srgbClr val="5C5C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Curb excess office cooling</a:t>
            </a:r>
            <a:endParaRPr lang="en-US" sz="880" dirty="0"/>
          </a:p>
        </p:txBody>
      </p:sp>
      <p:pic>
        <p:nvPicPr>
          <p:cNvPr id="43" name="Image 0" descr="/home/deepnar/Programs/presentations/brand/generated/cres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84000" y="237744"/>
            <a:ext cx="704776" cy="749808"/>
          </a:xfrm>
          <a:prstGeom prst="rect">
            <a:avLst/>
          </a:prstGeom>
        </p:spPr>
      </p:pic>
      <p:sp>
        <p:nvSpPr>
          <p:cNvPr id="44" name="Text 41"/>
          <p:cNvSpPr/>
          <p:nvPr/>
        </p:nvSpPr>
        <p:spPr>
          <a:xfrm>
            <a:off x="640080" y="6327648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5C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Nia Thomas</a:t>
            </a:r>
            <a:endParaRPr lang="en-US" sz="900" dirty="0"/>
          </a:p>
        </p:txBody>
      </p:sp>
      <p:sp>
        <p:nvSpPr>
          <p:cNvPr id="45" name="Text 42"/>
          <p:cNvSpPr/>
          <p:nvPr/>
        </p:nvSpPr>
        <p:spPr>
          <a:xfrm>
            <a:off x="10454335" y="632764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5C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15 / 17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EBEB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621792"/>
            <a:ext cx="822960" cy="91440"/>
          </a:xfrm>
          <a:prstGeom prst="rect">
            <a:avLst/>
          </a:prstGeom>
          <a:solidFill>
            <a:srgbClr val="C05D4E"/>
          </a:solidFill>
          <a:ln/>
        </p:spPr>
      </p:sp>
      <p:sp>
        <p:nvSpPr>
          <p:cNvPr id="3" name="Text 1"/>
          <p:cNvSpPr/>
          <p:nvPr/>
        </p:nvSpPr>
        <p:spPr>
          <a:xfrm>
            <a:off x="1664208" y="566928"/>
            <a:ext cx="84511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b="1" spc="120" kern="0" dirty="0">
                <a:solidFill>
                  <a:srgbClr val="5C5C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PROTECTING COMMUNITIES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1188720"/>
            <a:ext cx="9475240" cy="899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3500"/>
              </a:lnSpc>
              <a:buNone/>
            </a:pPr>
            <a:r>
              <a:rPr lang="en-US" sz="3000" b="1" spc="-30" kern="0" dirty="0">
                <a:solidFill>
                  <a:srgbClr val="2D2D2A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Check the receipts: where every claim came from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2142744"/>
            <a:ext cx="10911535" cy="13716"/>
          </a:xfrm>
          <a:prstGeom prst="rect">
            <a:avLst/>
          </a:prstGeom>
          <a:solidFill>
            <a:srgbClr val="D8D8D2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2307336"/>
            <a:ext cx="10911535" cy="66217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5C5C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Full source record for mortality, inequity maps, and surface cooling numbers.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0080" y="2969514"/>
            <a:ext cx="10911535" cy="526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2D2D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NYC Dept. of Health - 2026 NYC Heat-Related Mortality Report, Environment &amp; Health Data Portal.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3495866"/>
            <a:ext cx="10911535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i="1" spc="20" kern="0" dirty="0">
                <a:solidFill>
                  <a:srgbClr val="5C5C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City heat-death counts and 3x disparity by race used in Section 2.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40080" y="3815906"/>
            <a:ext cx="10911535" cy="526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2D2D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WRI Ross Center - Cool Cities Lab data platform: hyperlocal heat-risk analysis and scenario modeling.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" y="4342257"/>
            <a:ext cx="10911535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i="1" spc="20" kern="0" dirty="0">
                <a:solidFill>
                  <a:srgbClr val="5C5C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Land-surface temperature, canopy and cool-roof priority maps.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40080" y="4662297"/>
            <a:ext cx="10911535" cy="526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2D2D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WRI (Sept. 4, 2026, corr.) - Most Cities Are Getting Hotter. Not All Residents Feel It Equally.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40080" y="5188649"/>
            <a:ext cx="10911535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i="1" spc="20" kern="0" dirty="0">
                <a:solidFill>
                  <a:srgbClr val="5C5C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Cape Town, Hermosillo, Atlanta cases; 489,000 deaths/year; cool-roof savings.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40080" y="5508689"/>
            <a:ext cx="10911535" cy="526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2D2D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Ferreira via WRI - Cape Town to face 20+ more 35C days and 10 more heatwaves/yr by 2050.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40080" y="6035040"/>
            <a:ext cx="10911535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i="1" spc="20" kern="0" dirty="0">
                <a:solidFill>
                  <a:srgbClr val="5C5C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Chief Heat Officer projection; Khayelitsha reflective-roof pilot context.</a:t>
            </a:r>
            <a:endParaRPr lang="en-US" sz="1000" dirty="0"/>
          </a:p>
        </p:txBody>
      </p:sp>
      <p:pic>
        <p:nvPicPr>
          <p:cNvPr id="15" name="Image 0" descr="/home/deepnar/Programs/presentations/brand/generated/cres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84000" y="237744"/>
            <a:ext cx="704776" cy="749808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640080" y="6327648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5C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Nia Thomas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10454335" y="632764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5C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16 / 17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2D2D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691640"/>
            <a:ext cx="10911535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4500"/>
              </a:lnSpc>
              <a:buNone/>
            </a:pPr>
            <a:r>
              <a:rPr lang="en-US" sz="4000" b="1" spc="-50" kern="0" dirty="0">
                <a:solidFill>
                  <a:srgbClr val="FFFFFF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Don't cool the average — cool the block at risk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2167695" y="3383280"/>
            <a:ext cx="7856305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A8A8A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Measure it, reflect it, get help indoors: that is how 500 preventable deaths end.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2167695" y="4096512"/>
            <a:ext cx="7856305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A8A8A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About 500 New Yorkers die each warm season, May through September. Measure block heat, reflect it with roofs that cut indoor heat 1.5 to 5 degrees C, grow canopy to 30%, and bring cooling home.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329388" y="5650992"/>
            <a:ext cx="5532920" cy="548640"/>
          </a:xfrm>
          <a:prstGeom prst="roundRect">
            <a:avLst>
              <a:gd name="adj" fmla="val 66667"/>
            </a:avLst>
          </a:prstGeom>
          <a:solidFill>
            <a:srgbClr val="D97706"/>
          </a:solidFill>
          <a:ln/>
        </p:spPr>
      </p:sp>
      <p:sp>
        <p:nvSpPr>
          <p:cNvPr id="6" name="Text 4"/>
          <p:cNvSpPr/>
          <p:nvPr/>
        </p:nvSpPr>
        <p:spPr>
          <a:xfrm>
            <a:off x="3557988" y="5650992"/>
            <a:ext cx="5075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0A0A0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Start with your hottest block this summer</a:t>
            </a:r>
            <a:endParaRPr lang="en-US" sz="1500" dirty="0"/>
          </a:p>
        </p:txBody>
      </p:sp>
      <p:pic>
        <p:nvPicPr>
          <p:cNvPr id="7" name="Image 0" descr="/home/deepnar/Programs/presentations/brand/generated/cres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84000" y="237744"/>
            <a:ext cx="704776" cy="7498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454335" y="632764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17 / 17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EIT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Cooling the City</dc:title>
  <dc:subject>PptxGenJS Presentation</dc:subject>
  <dc:creator>Asha Rao, Kabir Mehta, Nia Thomas</dc:creator>
  <cp:lastModifiedBy>Asha Rao, Kabir Mehta, Nia Thomas</cp:lastModifiedBy>
  <cp:revision>1</cp:revision>
  <dcterms:created xsi:type="dcterms:W3CDTF">2026-09-09T10:33:47Z</dcterms:created>
  <dcterms:modified xsi:type="dcterms:W3CDTF">2026-09-09T10:33:47Z</dcterms:modified>
</cp:coreProperties>
</file>