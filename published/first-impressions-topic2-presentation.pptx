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Seconds</c:v>
                </c:pt>
              </c:strCache>
            </c:strRef>
          </c:tx>
          <c:spPr>
            <a:solidFill>
              <a:srgbClr val="5E6AD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Inter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Facial trait inference</c:v>
                  </c:pt>
                  <c:pt idx="1">
                    <c:v>Teacher effectiveness</c:v>
                  </c:pt>
                  <c:pt idx="2">
                    <c:v>First impression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</c:v>
                </c:pt>
                <c:pt idx="1">
                  <c:v>6</c:v>
                </c:pt>
                <c:pt idx="2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F9C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FFFF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F9C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We'll look at the science behind first impressions, the body language and introduction cues that drive them, and how to apply this in networking.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Introduction. Frame the stakes: students are evaluated constantly — in classes, clubs, career fairs — by strangers who thin-slice in seconds. This section sets up the science, then the practical levers.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from the seven-second research into the networking context; the point is that first impressions are fast, sticky, and manageable.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science section: we move from why first impressions matter to the measurable evidence — thin-slicing, snap judgments, and the studies that quantify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Benchmarks: Willis &amp; Todorov 100-ms exposure; Ambady-style 6-second video-clip teacher ratings; popular 7-second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1966 University of Michigan study: peer ratings agreed with self-ratings, especially on sociable and responsible.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asking the room how many have decided within a few seconds whether they liked someone at a career fair. Tease that what they read was mostly nonverbal — and that this section shows how to control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section frames introductions as trainable behaviour, not innate charm. Emphasise that every element of an opening can be drilled ahead of high-stakes meetings.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move maps to a researched lever: nonverbal warmth, thin-slice timing, and responsiveness through listening.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each checklist item maps to a thin-slice cue: smile, posture, grooming, interest, and rehearsal.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Elements drawn from Earley &amp; Ang's four-factor CQ model: cognitive, motivational, metacognitive, behavioral.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the typical successful exchange: approach, thin-slice judgment, rapport building, the liking-gap dip, exchange, follow-up. Emphasise that the dip is a bias, not a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section divider. Bridge from the training section to the conclusion. Emphasize that the research all points to one practical message: first impressions can be rehearsed, so go rehearse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83080"/>
            <a:ext cx="10911535" cy="2286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4300"/>
              </a:lnSpc>
              <a:buNone/>
            </a:pPr>
            <a:r>
              <a:rPr lang="en-US" sz="4000" b="1" spc="-8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Impressions &amp; Networking Behaviour Among College Students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519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A0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Language, Introductions, and Cultural Background — Soft Skill &amp; Interpersonal Communications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A0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Raunak Singh (13) · Rishit Singh (14) · Rudrapratap Singh (15) · Sakshi Singh (16) · Udaypratap Singh (17) · Vicky Singh (18) · Vishesh Singh (19) · Divyajyot Sinha (20) · Deepesh Sonar (21) · Vedant Sud  (23) · Dhwani Tandon (24)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509320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A0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Guide: SHRIKRISHNA SONAWANE · Assistant Professor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971032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7C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 Skill And Interpersonal Communications  ·  2026-27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06040"/>
            <a:ext cx="109115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9AA0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3008376"/>
            <a:ext cx="914400" cy="45720"/>
          </a:xfrm>
          <a:prstGeom prst="rect">
            <a:avLst/>
          </a:prstGeom>
          <a:solidFill>
            <a:srgbClr val="9AA0A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27832"/>
            <a:ext cx="1091153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200" b="1" spc="-80" kern="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Seven Seconds to a First Impression That Sticks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4233672"/>
            <a:ext cx="720161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AA0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Judgments begin in a tenth of a second, before a single word is spoken — and people resist revising them even with contrary evidence. For college students, those snap calls steer networking outcomes.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66928" cy="292608"/>
          </a:xfrm>
          <a:prstGeom prst="roundRect">
            <a:avLst>
              <a:gd name="adj" fmla="val 125000"/>
            </a:avLst>
          </a:prstGeom>
          <a:solidFill>
            <a:srgbClr val="5E6AD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71600" y="566928"/>
            <a:ext cx="101800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11535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spc="-40" kern="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Seven Seconds That Decide a Career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688592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a CS student speaks, a recruiter or collaborator has already drawn conclusions from a thin slice of behaviour.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346960"/>
            <a:ext cx="10911535" cy="3825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suggests it takes just seven seconds to form a first impression — and people stick to it even when shown contrary evidence.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Willis and Todorov (2006) found that a 100-millisecond exposure to a face is enough for a specific trait inference.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'liking gap' means students often wrongly assume they made a bad impression; self-criticism after a first chat is common.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judgments are stubborn: people get attached to their first read of you and rarely revise it.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Online, grammar and spelling errors in a profile make someone seem less intelligent and less attractive — text allows slower, more thoughtful judgments.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future CS careers, networking behaviour at campus mixers, hackathons, and GitHub is a first impression you can actively manage.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Raunak Singh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06040"/>
            <a:ext cx="109115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9AA0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3008376"/>
            <a:ext cx="914400" cy="45720"/>
          </a:xfrm>
          <a:prstGeom prst="rect">
            <a:avLst/>
          </a:prstGeom>
          <a:solidFill>
            <a:srgbClr val="9AA0A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27832"/>
            <a:ext cx="1091153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200" b="1" spc="-80" kern="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Science of Thin Slices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4233672"/>
            <a:ext cx="720161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AA0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tenth of a second of facial exposure produces a trait inference; more time raises confidence but doesn’t change the impression.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66928" cy="292608"/>
          </a:xfrm>
          <a:prstGeom prst="roundRect">
            <a:avLst>
              <a:gd name="adj" fmla="val 125000"/>
            </a:avLst>
          </a:prstGeom>
          <a:solidFill>
            <a:srgbClr val="5E6AD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71600" y="566928"/>
            <a:ext cx="101800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SCIENCE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11535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spc="-40" kern="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Judgments Land in Fractions of a Second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688592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Thin-slice research clocks first impressions from 100 ms to 7 seconds — long before a conversation starts.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2346960"/>
          <a:ext cx="6874267" cy="3916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788667" y="2493264"/>
            <a:ext cx="36576" cy="384048"/>
          </a:xfrm>
          <a:prstGeom prst="rect">
            <a:avLst/>
          </a:prstGeom>
          <a:solidFill>
            <a:srgbClr val="5E6AD2"/>
          </a:solidFill>
          <a:ln/>
        </p:spPr>
      </p:sp>
      <p:sp>
        <p:nvSpPr>
          <p:cNvPr id="9" name="Text 6"/>
          <p:cNvSpPr/>
          <p:nvPr/>
        </p:nvSpPr>
        <p:spPr>
          <a:xfrm>
            <a:off x="7953259" y="2438400"/>
            <a:ext cx="35983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7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 s = 100-ms face exposure (Willis &amp; Todorov)</a:t>
            </a:r>
            <a:endParaRPr lang="en-US" sz="1170" dirty="0"/>
          </a:p>
        </p:txBody>
      </p:sp>
      <p:sp>
        <p:nvSpPr>
          <p:cNvPr id="10" name="Shape 7"/>
          <p:cNvSpPr/>
          <p:nvPr/>
        </p:nvSpPr>
        <p:spPr>
          <a:xfrm>
            <a:off x="7788667" y="3407664"/>
            <a:ext cx="36576" cy="384048"/>
          </a:xfrm>
          <a:prstGeom prst="rect">
            <a:avLst/>
          </a:prstGeom>
          <a:solidFill>
            <a:srgbClr val="5E6AD2"/>
          </a:solidFill>
          <a:ln/>
        </p:spPr>
      </p:sp>
      <p:sp>
        <p:nvSpPr>
          <p:cNvPr id="11" name="Text 8"/>
          <p:cNvSpPr/>
          <p:nvPr/>
        </p:nvSpPr>
        <p:spPr>
          <a:xfrm>
            <a:off x="7953259" y="3352800"/>
            <a:ext cx="35983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7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6-s silent clips predicted end-of-semester ratings</a:t>
            </a:r>
            <a:endParaRPr lang="en-US" sz="1170" dirty="0"/>
          </a:p>
        </p:txBody>
      </p:sp>
      <p:sp>
        <p:nvSpPr>
          <p:cNvPr id="12" name="Shape 9"/>
          <p:cNvSpPr/>
          <p:nvPr/>
        </p:nvSpPr>
        <p:spPr>
          <a:xfrm>
            <a:off x="7788667" y="4322064"/>
            <a:ext cx="36576" cy="384048"/>
          </a:xfrm>
          <a:prstGeom prst="rect">
            <a:avLst/>
          </a:prstGeom>
          <a:solidFill>
            <a:srgbClr val="5E6AD2"/>
          </a:solidFill>
          <a:ln/>
        </p:spPr>
      </p:sp>
      <p:sp>
        <p:nvSpPr>
          <p:cNvPr id="13" name="Text 10"/>
          <p:cNvSpPr/>
          <p:nvPr/>
        </p:nvSpPr>
        <p:spPr>
          <a:xfrm>
            <a:off x="7953259" y="4267200"/>
            <a:ext cx="35983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7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s is the popular first-impression benchmark</a:t>
            </a:r>
            <a:endParaRPr lang="en-US" sz="1170" dirty="0"/>
          </a:p>
        </p:txBody>
      </p:sp>
      <p:sp>
        <p:nvSpPr>
          <p:cNvPr id="14" name="Text 11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Rishit Singh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66928" cy="292608"/>
          </a:xfrm>
          <a:prstGeom prst="roundRect">
            <a:avLst>
              <a:gd name="adj" fmla="val 125000"/>
            </a:avLst>
          </a:prstGeom>
          <a:solidFill>
            <a:srgbClr val="5E6AD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71600" y="566928"/>
            <a:ext cx="101800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SCIENCE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11535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spc="-40" kern="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Rapid Sequence Behind a Snap Judgment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688592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Facial cues, voice, and posture compound within seconds—and later evidence rarely overrides them.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444750"/>
            <a:ext cx="457200" cy="457200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4475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17320" y="2346960"/>
            <a:ext cx="10134295" cy="652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tenth of a second of seeing a face is enough to infer a trait—before a word is spoken.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97530"/>
            <a:ext cx="457200" cy="457200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9753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17320" y="2999740"/>
            <a:ext cx="10134295" cy="652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Vocal inflection and tone layer onto that first read, shaping perceived trust and warmth.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750310"/>
            <a:ext cx="457200" cy="457200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5031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17320" y="3652520"/>
            <a:ext cx="10134295" cy="652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Posture, gesture, and eye contact add a third cue within the same opening seconds.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403090"/>
            <a:ext cx="457200" cy="457200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40309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17320" y="4305300"/>
            <a:ext cx="10134295" cy="652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Six-second silent clips of teachers accurately predicted their end-of-term effectiveness ratings.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055870"/>
            <a:ext cx="457200" cy="457200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05587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17320" y="4958080"/>
            <a:ext cx="10134295" cy="652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 time raises confidence in a judgment but does not alter the initial impression.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708650"/>
            <a:ext cx="457200" cy="457200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70865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17320" y="5610860"/>
            <a:ext cx="10134295" cy="652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cling to first impressions and resist revising them, even when presented with contrary evidence.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Rudrapratap Singh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06040"/>
            <a:ext cx="109115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9AA0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3008376"/>
            <a:ext cx="914400" cy="45720"/>
          </a:xfrm>
          <a:prstGeom prst="rect">
            <a:avLst/>
          </a:prstGeom>
          <a:solidFill>
            <a:srgbClr val="9AA0A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27832"/>
            <a:ext cx="1091153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200" b="1" spc="-80" kern="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Language Speaks Before You Do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4233672"/>
            <a:ext cx="720161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AA0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Nonverbal cues are read faster and carry more weight than words — and they decide whether a networking contact leans in or steps back.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66928" cy="292608"/>
          </a:xfrm>
          <a:prstGeom prst="roundRect">
            <a:avLst>
              <a:gd name="adj" fmla="val 125000"/>
            </a:avLst>
          </a:prstGeom>
          <a:solidFill>
            <a:srgbClr val="5E6AD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71600" y="566928"/>
            <a:ext cx="101800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LANGUAGE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11535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spc="-40" kern="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Nonverbal Channels That Earn Trust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688592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Carmichael &amp; Mizrahi find nonverbal cues are read faster and weighted more heavily than words—making these four channels the real handshake.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346960"/>
            <a:ext cx="5318608" cy="3916680"/>
          </a:xfrm>
          <a:prstGeom prst="roundRect">
            <a:avLst>
              <a:gd name="adj" fmla="val 4669"/>
            </a:avLst>
          </a:prstGeom>
          <a:solidFill>
            <a:srgbClr val="20222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621280"/>
            <a:ext cx="476996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👀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3060192"/>
            <a:ext cx="47699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 Contact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462528"/>
            <a:ext cx="4769968" cy="2526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Steady gaze signals engagement: aim for 50% of speaking time and 70% of listening; avoidance reads as disengagement.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33008" y="2346960"/>
            <a:ext cx="5318608" cy="3916680"/>
          </a:xfrm>
          <a:prstGeom prst="roundRect">
            <a:avLst>
              <a:gd name="adj" fmla="val 4669"/>
            </a:avLst>
          </a:prstGeom>
          <a:solidFill>
            <a:srgbClr val="20222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07328" y="2621280"/>
            <a:ext cx="476996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🙂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507328" y="3060192"/>
            <a:ext cx="47699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Genuine Smile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07328" y="3462528"/>
            <a:ext cx="4769968" cy="2526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real smile releases endorphins for both people; a smile that skips the eyes reads as forced.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Sakshi Singh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66928" cy="292608"/>
          </a:xfrm>
          <a:prstGeom prst="roundRect">
            <a:avLst>
              <a:gd name="adj" fmla="val 125000"/>
            </a:avLst>
          </a:prstGeom>
          <a:solidFill>
            <a:srgbClr val="5E6AD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71600" y="566928"/>
            <a:ext cx="101800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LANGUAGE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11535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spc="-40" kern="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Conversation, Opposite Outcome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688592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language flips the read on you before you utter a second sentence.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346960"/>
            <a:ext cx="4952848" cy="3276600"/>
          </a:xfrm>
          <a:prstGeom prst="roundRect">
            <a:avLst>
              <a:gd name="adj" fmla="val 5581"/>
            </a:avLst>
          </a:prstGeom>
          <a:solidFill>
            <a:srgbClr val="20222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621280"/>
            <a:ext cx="925598" cy="310896"/>
          </a:xfrm>
          <a:prstGeom prst="roundRect">
            <a:avLst>
              <a:gd name="adj" fmla="val 11764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21280"/>
            <a:ext cx="92559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078480"/>
            <a:ext cx="44042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520" b="1" spc="-40" kern="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Before: Closed Off</a:t>
            </a:r>
            <a:endParaRPr lang="en-US" sz="2520" dirty="0"/>
          </a:p>
        </p:txBody>
      </p:sp>
      <p:sp>
        <p:nvSpPr>
          <p:cNvPr id="11" name="Text 9"/>
          <p:cNvSpPr/>
          <p:nvPr/>
        </p:nvSpPr>
        <p:spPr>
          <a:xfrm>
            <a:off x="914400" y="3627120"/>
            <a:ext cx="4404208" cy="1722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Crossed arms, darting eyes, and a furrowed brow signal defensiveness. Nonverbal cues often outweigh words, so a verbal apology or pitch rings insincere when the body disagrees.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98768" y="2346960"/>
            <a:ext cx="4952848" cy="3276600"/>
          </a:xfrm>
          <a:prstGeom prst="roundRect">
            <a:avLst>
              <a:gd name="adj" fmla="val 5581"/>
            </a:avLst>
          </a:prstGeom>
          <a:solidFill>
            <a:srgbClr val="20222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25400" dir="54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73088" y="2621280"/>
            <a:ext cx="847532" cy="310896"/>
          </a:xfrm>
          <a:prstGeom prst="roundRect">
            <a:avLst>
              <a:gd name="adj" fmla="val 117647"/>
            </a:avLst>
          </a:prstGeom>
          <a:solidFill>
            <a:srgbClr val="5E6AD2"/>
          </a:solidFill>
          <a:ln/>
        </p:spPr>
      </p:sp>
      <p:sp>
        <p:nvSpPr>
          <p:cNvPr id="14" name="Text 12"/>
          <p:cNvSpPr/>
          <p:nvPr/>
        </p:nvSpPr>
        <p:spPr>
          <a:xfrm>
            <a:off x="6873088" y="2621280"/>
            <a:ext cx="8475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73088" y="3078480"/>
            <a:ext cx="44042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520" b="1" spc="-40" kern="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After: Open &amp; Congruent</a:t>
            </a:r>
            <a:endParaRPr lang="en-US" sz="2520" dirty="0"/>
          </a:p>
        </p:txBody>
      </p:sp>
      <p:sp>
        <p:nvSpPr>
          <p:cNvPr id="16" name="Text 14"/>
          <p:cNvSpPr/>
          <p:nvPr/>
        </p:nvSpPr>
        <p:spPr>
          <a:xfrm>
            <a:off x="6873088" y="3627120"/>
            <a:ext cx="4404208" cy="1722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Leaning forward with open gestures and steady eye contact—about 50% while speaking, 70% while listening—makes the same words feel sincere and earns trust.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 rot="5400000">
            <a:off x="5958688" y="3848100"/>
            <a:ext cx="274320" cy="274320"/>
          </a:xfrm>
          <a:prstGeom prst="triangle">
            <a:avLst/>
          </a:prstGeom>
          <a:solidFill>
            <a:srgbClr val="5E6AD2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5806440"/>
            <a:ext cx="10911535" cy="475488"/>
          </a:xfrm>
          <a:prstGeom prst="roundRect">
            <a:avLst>
              <a:gd name="adj" fmla="val 38462"/>
            </a:avLst>
          </a:prstGeom>
          <a:solidFill>
            <a:srgbClr val="202228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5806440"/>
            <a:ext cx="54864" cy="475488"/>
          </a:xfrm>
          <a:prstGeom prst="rect">
            <a:avLst/>
          </a:prstGeom>
          <a:solidFill>
            <a:srgbClr val="5E6AD2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5806440"/>
            <a:ext cx="10710367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spc="20" kern="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 out that the words can stay identical; only the body changes.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Udaypratap Singh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06040"/>
            <a:ext cx="109115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9AA0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3008376"/>
            <a:ext cx="914400" cy="45720"/>
          </a:xfrm>
          <a:prstGeom prst="rect">
            <a:avLst/>
          </a:prstGeom>
          <a:solidFill>
            <a:srgbClr val="9AA0A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27832"/>
            <a:ext cx="1091153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200" b="1" spc="-80" kern="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Introductions Are the One Part You Can Rehearse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4233672"/>
            <a:ext cx="720161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AA0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Greetings run on a learnable script: handshake, eye contact, name, and a first line. None of it depends on charisma — and all of it can be practised before it counts.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66928" cy="292608"/>
          </a:xfrm>
          <a:prstGeom prst="roundRect">
            <a:avLst>
              <a:gd name="adj" fmla="val 125000"/>
            </a:avLst>
          </a:prstGeom>
          <a:solidFill>
            <a:srgbClr val="5E6AD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71600" y="566928"/>
            <a:ext cx="101800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11535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spc="-40" kern="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Four-Move Introduction for Any Room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688592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Rehearse the opening, then let the conversation do the rest.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346960"/>
            <a:ext cx="1626352" cy="2103120"/>
          </a:xfrm>
          <a:prstGeom prst="roundRect">
            <a:avLst>
              <a:gd name="adj" fmla="val 11245"/>
            </a:avLst>
          </a:prstGeom>
          <a:solidFill>
            <a:srgbClr val="20222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77824" y="2584704"/>
            <a:ext cx="365760" cy="365760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2584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77824" y="3060192"/>
            <a:ext cx="11508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70" b="1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Rehearse the opener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 rot="5400000">
            <a:off x="2458456" y="3288792"/>
            <a:ext cx="219456" cy="219456"/>
          </a:xfrm>
          <a:prstGeom prst="triangle">
            <a:avLst/>
          </a:prstGeom>
          <a:solidFill>
            <a:srgbClr val="5E6AD2"/>
          </a:solidFill>
          <a:ln/>
        </p:spPr>
      </p:sp>
      <p:sp>
        <p:nvSpPr>
          <p:cNvPr id="12" name="Shape 10"/>
          <p:cNvSpPr/>
          <p:nvPr/>
        </p:nvSpPr>
        <p:spPr>
          <a:xfrm>
            <a:off x="2961376" y="2346960"/>
            <a:ext cx="1626352" cy="2103120"/>
          </a:xfrm>
          <a:prstGeom prst="roundRect">
            <a:avLst>
              <a:gd name="adj" fmla="val 11245"/>
            </a:avLst>
          </a:prstGeom>
          <a:solidFill>
            <a:srgbClr val="20222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25400" dir="54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99120" y="2584704"/>
            <a:ext cx="365760" cy="365760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14" name="Text 12"/>
          <p:cNvSpPr/>
          <p:nvPr/>
        </p:nvSpPr>
        <p:spPr>
          <a:xfrm>
            <a:off x="3199120" y="2584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99120" y="3060192"/>
            <a:ext cx="11508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10" b="1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with presence</a:t>
            </a:r>
            <a:endParaRPr lang="en-US" sz="810" dirty="0"/>
          </a:p>
        </p:txBody>
      </p:sp>
      <p:sp>
        <p:nvSpPr>
          <p:cNvPr id="16" name="Shape 14"/>
          <p:cNvSpPr/>
          <p:nvPr/>
        </p:nvSpPr>
        <p:spPr>
          <a:xfrm rot="5400000">
            <a:off x="4779752" y="3288792"/>
            <a:ext cx="219456" cy="219456"/>
          </a:xfrm>
          <a:prstGeom prst="triangle">
            <a:avLst/>
          </a:prstGeom>
          <a:solidFill>
            <a:srgbClr val="5E6AD2"/>
          </a:solidFill>
          <a:ln/>
        </p:spPr>
      </p:sp>
      <p:sp>
        <p:nvSpPr>
          <p:cNvPr id="17" name="Shape 15"/>
          <p:cNvSpPr/>
          <p:nvPr/>
        </p:nvSpPr>
        <p:spPr>
          <a:xfrm>
            <a:off x="5282672" y="2346960"/>
            <a:ext cx="1626352" cy="2103120"/>
          </a:xfrm>
          <a:prstGeom prst="roundRect">
            <a:avLst>
              <a:gd name="adj" fmla="val 11245"/>
            </a:avLst>
          </a:prstGeom>
          <a:solidFill>
            <a:srgbClr val="20222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20416" y="2584704"/>
            <a:ext cx="365760" cy="365760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19" name="Text 17"/>
          <p:cNvSpPr/>
          <p:nvPr/>
        </p:nvSpPr>
        <p:spPr>
          <a:xfrm>
            <a:off x="5520416" y="2584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20416" y="3060192"/>
            <a:ext cx="11508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60" b="1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your anchor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 rot="5400000">
            <a:off x="7101048" y="3288792"/>
            <a:ext cx="219456" cy="219456"/>
          </a:xfrm>
          <a:prstGeom prst="triangle">
            <a:avLst/>
          </a:prstGeom>
          <a:solidFill>
            <a:srgbClr val="5E6AD2"/>
          </a:solidFill>
          <a:ln/>
        </p:spPr>
      </p:sp>
      <p:sp>
        <p:nvSpPr>
          <p:cNvPr id="22" name="Shape 20"/>
          <p:cNvSpPr/>
          <p:nvPr/>
        </p:nvSpPr>
        <p:spPr>
          <a:xfrm>
            <a:off x="7603968" y="2346960"/>
            <a:ext cx="1626352" cy="2103120"/>
          </a:xfrm>
          <a:prstGeom prst="roundRect">
            <a:avLst>
              <a:gd name="adj" fmla="val 11245"/>
            </a:avLst>
          </a:prstGeom>
          <a:solidFill>
            <a:srgbClr val="20222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25400" dir="54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41712" y="2584704"/>
            <a:ext cx="365760" cy="365760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24" name="Text 22"/>
          <p:cNvSpPr/>
          <p:nvPr/>
        </p:nvSpPr>
        <p:spPr>
          <a:xfrm>
            <a:off x="7841712" y="2584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841712" y="3060192"/>
            <a:ext cx="11508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70" b="1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Bridge to relevance</a:t>
            </a:r>
            <a:endParaRPr lang="en-US" sz="770" dirty="0"/>
          </a:p>
        </p:txBody>
      </p:sp>
      <p:sp>
        <p:nvSpPr>
          <p:cNvPr id="26" name="Shape 24"/>
          <p:cNvSpPr/>
          <p:nvPr/>
        </p:nvSpPr>
        <p:spPr>
          <a:xfrm rot="5400000">
            <a:off x="9422343" y="3288792"/>
            <a:ext cx="219456" cy="219456"/>
          </a:xfrm>
          <a:prstGeom prst="triangle">
            <a:avLst/>
          </a:prstGeom>
          <a:solidFill>
            <a:srgbClr val="5E6AD2"/>
          </a:solidFill>
          <a:ln/>
        </p:spPr>
      </p:sp>
      <p:sp>
        <p:nvSpPr>
          <p:cNvPr id="27" name="Shape 25"/>
          <p:cNvSpPr/>
          <p:nvPr/>
        </p:nvSpPr>
        <p:spPr>
          <a:xfrm>
            <a:off x="9925263" y="2346960"/>
            <a:ext cx="1626352" cy="2103120"/>
          </a:xfrm>
          <a:prstGeom prst="roundRect">
            <a:avLst>
              <a:gd name="adj" fmla="val 11245"/>
            </a:avLst>
          </a:prstGeom>
          <a:solidFill>
            <a:srgbClr val="20222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25400" dir="54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163007" y="2584704"/>
            <a:ext cx="365760" cy="365760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29" name="Text 27"/>
          <p:cNvSpPr/>
          <p:nvPr/>
        </p:nvSpPr>
        <p:spPr>
          <a:xfrm>
            <a:off x="10163007" y="2584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163007" y="3060192"/>
            <a:ext cx="11508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60" b="1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 them the mic</a:t>
            </a:r>
            <a:endParaRPr lang="en-US" sz="860" dirty="0"/>
          </a:p>
        </p:txBody>
      </p:sp>
      <p:sp>
        <p:nvSpPr>
          <p:cNvPr id="31" name="Text 29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Vicky Singh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66928" cy="292608"/>
          </a:xfrm>
          <a:prstGeom prst="roundRect">
            <a:avLst>
              <a:gd name="adj" fmla="val 125000"/>
            </a:avLst>
          </a:prstGeom>
          <a:solidFill>
            <a:srgbClr val="5E6AD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71600" y="566928"/>
            <a:ext cx="101800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11535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spc="-40" kern="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Pre-Event Checklist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688592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first impression lands in seven seconds, so rehearse the signals that carry it—before you walk in.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1790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5E6AD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1790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4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040" dirty="0"/>
          </a:p>
        </p:txBody>
      </p:sp>
      <p:sp>
        <p:nvSpPr>
          <p:cNvPr id="9" name="Text 7"/>
          <p:cNvSpPr/>
          <p:nvPr/>
        </p:nvSpPr>
        <p:spPr>
          <a:xfrm>
            <a:off x="1371600" y="2346960"/>
            <a:ext cx="10180015" cy="652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Rehearse your four-move introduction until it flows without a script.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17068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5E6AD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7068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4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1371600" y="2999740"/>
            <a:ext cx="10180015" cy="652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Smile with your eyes: a genuine smile tightens the eye corners; a forced one doesn't.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82346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5E6AD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2346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4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1371600" y="3652520"/>
            <a:ext cx="10180015" cy="652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a 60-second video pitch and watch for fidgeting, eye contact, and vocal fillers.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47624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5E6AD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47624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4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1371600" y="4305300"/>
            <a:ext cx="10180015" cy="652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an outfit that fits the room—grooming reads as conscientiousness.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1290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5E6AD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1290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4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1371600" y="4958080"/>
            <a:ext cx="10180015" cy="652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 two questions you actually want answered; genuine interest beats a clever opening.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78180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5E6AD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78180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4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1371600" y="5610860"/>
            <a:ext cx="10180015" cy="652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one goal: three substantive conversations, not thirty handshakes.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Vishesh Singh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06040"/>
            <a:ext cx="109115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9AA0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3008376"/>
            <a:ext cx="914400" cy="45720"/>
          </a:xfrm>
          <a:prstGeom prst="rect">
            <a:avLst/>
          </a:prstGeom>
          <a:solidFill>
            <a:srgbClr val="9AA0A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27832"/>
            <a:ext cx="1091153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200" b="1" spc="-80" kern="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Decides What a Smile Means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4233672"/>
            <a:ext cx="720161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AA0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bow signals respect in Japan; a firm handshake does in the West. Before a single trait is judged, the local script for gaze, space, and greeting is already shaping the read.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66928" cy="292608"/>
          </a:xfrm>
          <a:prstGeom prst="roundRect">
            <a:avLst>
              <a:gd name="adj" fmla="val 125000"/>
            </a:avLst>
          </a:prstGeom>
          <a:solidFill>
            <a:srgbClr val="5E6AD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71600" y="566928"/>
            <a:ext cx="101800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&amp; NORMS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11535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spc="-40" kern="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CQ Levers for Cross-Cultural Networking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688592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Cultural intelligence turns unfamiliar norms into an acquirable skill set—knowledge, motivation, awareness, and behavior.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44288" y="4046220"/>
            <a:ext cx="2103120" cy="1005840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8" name="Text 6"/>
          <p:cNvSpPr/>
          <p:nvPr/>
        </p:nvSpPr>
        <p:spPr>
          <a:xfrm>
            <a:off x="5090008" y="407365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Cultural Intelligence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35728" y="45308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spc="2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Capability to function effectively in…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 flipV="1">
            <a:off x="6095848" y="3611880"/>
            <a:ext cx="18288" cy="43434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64328" y="3177540"/>
            <a:ext cx="1463040" cy="868680"/>
          </a:xfrm>
          <a:prstGeom prst="roundRect">
            <a:avLst>
              <a:gd name="adj" fmla="val 21053"/>
            </a:avLst>
          </a:prstGeom>
          <a:solidFill>
            <a:srgbClr val="20222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74056" y="3287268"/>
            <a:ext cx="124358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Cognitive CQ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74056" y="3634740"/>
            <a:ext cx="1243584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spc="20" kern="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 norms—eye contact, bowing…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95848" y="5052060"/>
            <a:ext cx="18288" cy="43434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64328" y="5052060"/>
            <a:ext cx="1463040" cy="868680"/>
          </a:xfrm>
          <a:prstGeom prst="roundRect">
            <a:avLst>
              <a:gd name="adj" fmla="val 21053"/>
            </a:avLst>
          </a:prstGeom>
          <a:solidFill>
            <a:srgbClr val="20222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74056" y="5161788"/>
            <a:ext cx="124358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Motivational CQ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74056" y="5509260"/>
            <a:ext cx="1243584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spc="20" kern="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Desire to engage across cultures drives…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Divyajyot Sinha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3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06040"/>
            <a:ext cx="109115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9AA0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3008376"/>
            <a:ext cx="914400" cy="45720"/>
          </a:xfrm>
          <a:prstGeom prst="rect">
            <a:avLst/>
          </a:prstGeom>
          <a:solidFill>
            <a:srgbClr val="9AA0A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27832"/>
            <a:ext cx="1091153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200" b="1" spc="-80" kern="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a Networking Interaction Actually Unfolds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4233672"/>
            <a:ext cx="720161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AA0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seven-second thin slice opens it, body language sustains it, the introduction anchors it, and culture frames the meaning. This section maps the full arc — from first glance to follow-up.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66928" cy="292608"/>
          </a:xfrm>
          <a:prstGeom prst="roundRect">
            <a:avLst>
              <a:gd name="adj" fmla="val 125000"/>
            </a:avLst>
          </a:prstGeom>
          <a:solidFill>
            <a:srgbClr val="5E6AD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71600" y="566928"/>
            <a:ext cx="101800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NETWORKING BEHAVIOUR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11535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spc="-40" kern="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Networking Exchange, Stage by Stage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688592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the seven-second gate to the follow-up that keeps the thread alive.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1635709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50109" y="2514600"/>
            <a:ext cx="1635709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Seven seconds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68698" y="2514600"/>
            <a:ext cx="1635709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Rapport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87288" y="2514600"/>
            <a:ext cx="1635709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Liking gap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05877" y="2514600"/>
            <a:ext cx="1635709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Exchange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824466" y="2514600"/>
            <a:ext cx="1635709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Follow-up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822192"/>
            <a:ext cx="10911535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549375" y="3822192"/>
            <a:ext cx="1818589" cy="3657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7964" y="3822192"/>
            <a:ext cx="1818589" cy="3657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86553" y="3822192"/>
            <a:ext cx="1818589" cy="3657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05142" y="3822192"/>
            <a:ext cx="1818589" cy="3657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731" y="3822192"/>
            <a:ext cx="1818589" cy="3657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48791" y="3739896"/>
            <a:ext cx="201168" cy="201168"/>
          </a:xfrm>
          <a:prstGeom prst="ellipse">
            <a:avLst/>
          </a:prstGeom>
          <a:solidFill>
            <a:srgbClr val="8A8F9C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946904"/>
            <a:ext cx="163570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posture, eye contact, smile before words.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67380" y="3739896"/>
            <a:ext cx="201168" cy="201168"/>
          </a:xfrm>
          <a:prstGeom prst="ellipse">
            <a:avLst/>
          </a:prstGeom>
          <a:solidFill>
            <a:srgbClr val="8A8F9C"/>
          </a:solidFill>
          <a:ln/>
        </p:spPr>
      </p:sp>
      <p:sp>
        <p:nvSpPr>
          <p:cNvPr id="22" name="Text 20"/>
          <p:cNvSpPr/>
          <p:nvPr/>
        </p:nvSpPr>
        <p:spPr>
          <a:xfrm>
            <a:off x="2550109" y="4946904"/>
            <a:ext cx="163570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Face and voice are judged before a full sentence.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85969" y="3739896"/>
            <a:ext cx="201168" cy="201168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24" name="Text 22"/>
          <p:cNvSpPr/>
          <p:nvPr/>
        </p:nvSpPr>
        <p:spPr>
          <a:xfrm>
            <a:off x="4368698" y="4946904"/>
            <a:ext cx="163570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Mirror gestures, nod, ask one genuine question.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04558" y="3739896"/>
            <a:ext cx="201168" cy="201168"/>
          </a:xfrm>
          <a:prstGeom prst="ellipse">
            <a:avLst/>
          </a:prstGeom>
          <a:solidFill>
            <a:srgbClr val="E6E9F0"/>
          </a:solidFill>
          <a:ln/>
        </p:spPr>
      </p:sp>
      <p:sp>
        <p:nvSpPr>
          <p:cNvPr id="26" name="Text 24"/>
          <p:cNvSpPr/>
          <p:nvPr/>
        </p:nvSpPr>
        <p:spPr>
          <a:xfrm>
            <a:off x="6187288" y="4946904"/>
            <a:ext cx="163570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think it flopped; they liked you more.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723147" y="3739896"/>
            <a:ext cx="201168" cy="201168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28" name="Text 26"/>
          <p:cNvSpPr/>
          <p:nvPr/>
        </p:nvSpPr>
        <p:spPr>
          <a:xfrm>
            <a:off x="8005877" y="4946904"/>
            <a:ext cx="163570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 a relevant idea, then request contact.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541737" y="3739896"/>
            <a:ext cx="201168" cy="201168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30" name="Text 28"/>
          <p:cNvSpPr/>
          <p:nvPr/>
        </p:nvSpPr>
        <p:spPr>
          <a:xfrm>
            <a:off x="9824466" y="4946904"/>
            <a:ext cx="163570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a shared point to keep the thread.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5806440"/>
            <a:ext cx="10911535" cy="475488"/>
          </a:xfrm>
          <a:prstGeom prst="roundRect">
            <a:avLst>
              <a:gd name="adj" fmla="val 38462"/>
            </a:avLst>
          </a:prstGeom>
          <a:solidFill>
            <a:srgbClr val="202228"/>
          </a:solidFill>
          <a:ln/>
        </p:spPr>
      </p:sp>
      <p:sp>
        <p:nvSpPr>
          <p:cNvPr id="32" name="Shape 30"/>
          <p:cNvSpPr/>
          <p:nvPr/>
        </p:nvSpPr>
        <p:spPr>
          <a:xfrm>
            <a:off x="640080" y="5806440"/>
            <a:ext cx="54864" cy="475488"/>
          </a:xfrm>
          <a:prstGeom prst="rect">
            <a:avLst/>
          </a:prstGeom>
          <a:solidFill>
            <a:srgbClr val="5E6AD2"/>
          </a:solidFill>
          <a:ln/>
        </p:spPr>
      </p:sp>
      <p:sp>
        <p:nvSpPr>
          <p:cNvPr id="33" name="Text 31"/>
          <p:cNvSpPr/>
          <p:nvPr/>
        </p:nvSpPr>
        <p:spPr>
          <a:xfrm>
            <a:off x="841248" y="5806440"/>
            <a:ext cx="10710367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spc="20" kern="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Pause at the liking-gap stage: research shows people underestimate how much others enjoy the conversation.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Deepesh Sonar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3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06040"/>
            <a:ext cx="109115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9AA0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3008376"/>
            <a:ext cx="914400" cy="45720"/>
          </a:xfrm>
          <a:prstGeom prst="rect">
            <a:avLst/>
          </a:prstGeom>
          <a:solidFill>
            <a:srgbClr val="9AA0A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27832"/>
            <a:ext cx="1091153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200" b="1" spc="-80" kern="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Impressions Are a Skill You Can Train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4233672"/>
            <a:ext cx="720161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AA0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Thin-slice judgments land in seconds, but impression-management skills let you shape what gets read. This section turns the science into rehearsable moves.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66928" cy="292608"/>
          </a:xfrm>
          <a:prstGeom prst="roundRect">
            <a:avLst>
              <a:gd name="adj" fmla="val 125000"/>
            </a:avLst>
          </a:prstGeom>
          <a:solidFill>
            <a:srgbClr val="5E6AD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71600" y="566928"/>
            <a:ext cx="101800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IMPROVING IMPRESSIONS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11535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spc="-40" kern="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Impressions Are a Skill You Can Train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688592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A8F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seven seconds that decide how others see you can be rehearsed and improved.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10911535" cy="2688336"/>
          </a:xfrm>
          <a:prstGeom prst="roundRect">
            <a:avLst>
              <a:gd name="adj" fmla="val 6803"/>
            </a:avLst>
          </a:prstGeom>
          <a:solidFill>
            <a:srgbClr val="E6E9F0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706624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7C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3108960"/>
            <a:ext cx="99971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022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first impression forms in seven seconds, but it is not fixed. Deliberate practice in nonverbal cues, introductions, and cultural awareness changes how peers judge you.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384048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7C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89888" y="3840480"/>
            <a:ext cx="970452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2022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 slices: traits are inferred from faces in as little as a tenth of a second.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4169664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7C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89888" y="4169664"/>
            <a:ext cx="970452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2022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Nonverbal congruence: matching tone, posture, and words builds trust.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4498848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7C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89888" y="4498848"/>
            <a:ext cx="970452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2022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liking gap: people judge you less harshly than you fear.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4828032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7C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89888" y="4828032"/>
            <a:ext cx="970452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2022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Cultural intelligence: adapt eye contact and greeting norms to the room.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Vedant Sud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3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06040"/>
            <a:ext cx="109115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40" kern="0" dirty="0">
                <a:solidFill>
                  <a:srgbClr val="9AA0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3008376"/>
            <a:ext cx="914400" cy="45720"/>
          </a:xfrm>
          <a:prstGeom prst="rect">
            <a:avLst/>
          </a:prstGeom>
          <a:solidFill>
            <a:srgbClr val="9AA0A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27832"/>
            <a:ext cx="1091153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200" b="1" spc="-80" kern="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Practice Is What They Perceive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4233672"/>
            <a:ext cx="720161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AA0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Snap judgments are automatic; the signals you send are not. The conclusion turns the research into a repeatable skill for your next introduction.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91640"/>
            <a:ext cx="1091153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4000" b="1" spc="-8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the deck and thank the audience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/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Impressions &amp; Networking Behaviour Among College Students</dc:title>
  <dc:subject>PptxGenJS Presentation</dc:subject>
  <dc:creator>Raunak Singh, Rishit Singh, Rudrapratap Singh, Sakshi Singh, Udaypratap Singh, Vicky Singh, Vishesh Singh, Divyajyot Sinha, Deepesh Sonar, Vedant Sud , Dhwani Tandon</dc:creator>
  <cp:lastModifiedBy>Raunak Singh, Rishit Singh, Rudrapratap Singh, Sakshi Singh, Udaypratap Singh, Vicky Singh, Vishesh Singh, Divyajyot Sinha, Deepesh Sonar, Vedant Sud , Dhwani Tandon</cp:lastModifiedBy>
  <cp:revision>1</cp:revision>
  <dcterms:created xsi:type="dcterms:W3CDTF">2026-08-15T17:30:18Z</dcterms:created>
  <dcterms:modified xsi:type="dcterms:W3CDTF">2026-08-15T17:30:18Z</dcterms:modified>
</cp:coreProperties>
</file>