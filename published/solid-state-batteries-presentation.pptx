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Factory share</c:v>
                </c:pt>
              </c:strCache>
            </c:strRef>
          </c:tx>
          <c:spPr>
            <a:solidFill>
              <a:srgbClr val="C05D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Reusable tools</c:v>
                  </c:pt>
                  <c:pt idx="1">
                    <c:v>Tools to rebuild</c:v>
                  </c:pt>
                  <c:pt idx="2">
                    <c:v>China LIB share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60</c:v>
                </c:pt>
                <c:pt idx="2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8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informed optimism: physics promises, interfaces and manufacturability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Leena Shah for electrochemistry: hopping, vacancies, grain boundaries and why rigid interfaces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Handover to Omar Khan: gently cycled lab cells now face variability, vibration and yield.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Priya Nair for Part 3: markets, milestones and the deployment path to mass disruption.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lines must be rebuilt; pilot risk is huge before scale can shift geopolitics.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8308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45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Future Is Solid — But the Battle Is at the Interface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519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A8A8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Atomic-scale contact and pragmatic hybrid designs will decide if solid-state ever leaves the lab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A8A8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Leena Shah · Omar Khan · Priya Nair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932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A8A8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 Prof. Arun Iyer · Energy Storage Centre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971032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Engineering  ·  Final year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05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F2DC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F2DCD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Ion Transport Physics Starts at Atomic Contact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2DC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Liquids flow, conform and self-heal — solids must hold contact atom by atom. Over to Leena Shah.</a:t>
            </a:r>
            <a:endParaRPr lang="en-US" sz="1500" dirty="0"/>
          </a:p>
        </p:txBody>
      </p:sp>
      <p:pic>
        <p:nvPicPr>
          <p:cNvPr id="6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ION TRANSPORT PHYSICS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Solid-State Usually Means Hybrid, Not Pure Solid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so-called solid cells still need gels or liquids to keep ions moving.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6951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C05D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Hybrid solid-state cell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929634"/>
            <a:ext cx="10911535" cy="1328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cell marketed as solid-state that pairs a solid electrolyte with gel, polymer, or liquid-assisted interfaces to maintain uninterrupted ion transport.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449824"/>
            <a:ext cx="45720" cy="56692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5394960"/>
            <a:ext cx="107103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Oxide or sulfide ceramic with polymer interlayer to survive cracking and contact loss.</a:t>
            </a:r>
            <a:endParaRPr lang="en-US" sz="1000" dirty="0"/>
          </a:p>
        </p:txBody>
      </p:sp>
      <p:pic>
        <p:nvPicPr>
          <p:cNvPr id="11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Leena Shah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ION TRANSPORT PHYSICS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Current Flows Only Where Solids Still Touch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Liquids conform and self-heal; solids must hold atom-scale contact through vibration and cycling.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9934"/>
            <a:ext cx="10911535" cy="682904"/>
          </a:xfrm>
          <a:prstGeom prst="roundRect">
            <a:avLst>
              <a:gd name="adj" fmla="val 3213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519934"/>
            <a:ext cx="54864" cy="682904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519934"/>
            <a:ext cx="2706624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Cathode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519934"/>
            <a:ext cx="5223485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Swells and shrinks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62667" y="2724226"/>
            <a:ext cx="1024357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62667" y="2724226"/>
            <a:ext cx="1024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374937" y="2724226"/>
            <a:ext cx="878002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4937" y="2724226"/>
            <a:ext cx="878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285134"/>
            <a:ext cx="10911535" cy="682904"/>
          </a:xfrm>
          <a:prstGeom prst="roundRect">
            <a:avLst>
              <a:gd name="adj" fmla="val 3213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85134"/>
            <a:ext cx="54864" cy="682904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285134"/>
            <a:ext cx="2706624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Cathode Contact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3285134"/>
            <a:ext cx="5223485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Atoms must meet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289489" y="3489427"/>
            <a:ext cx="1097534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9489" y="3489427"/>
            <a:ext cx="10975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Crack risk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55405" y="3489427"/>
            <a:ext cx="1024357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5405" y="3489427"/>
            <a:ext cx="1024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Void risk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4050335"/>
            <a:ext cx="10911535" cy="682904"/>
          </a:xfrm>
          <a:prstGeom prst="roundRect">
            <a:avLst>
              <a:gd name="adj" fmla="val 32136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050335"/>
            <a:ext cx="54864" cy="682904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4050335"/>
            <a:ext cx="2706624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Electrolyte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40480" y="4050335"/>
            <a:ext cx="5223485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brittle path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09021" y="4254627"/>
            <a:ext cx="878002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09021" y="4254627"/>
            <a:ext cx="878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heal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21292" y="4254627"/>
            <a:ext cx="878002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21292" y="4254627"/>
            <a:ext cx="878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flow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4815535"/>
            <a:ext cx="10911535" cy="682904"/>
          </a:xfrm>
          <a:prstGeom prst="roundRect">
            <a:avLst>
              <a:gd name="adj" fmla="val 32136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4815535"/>
            <a:ext cx="54864" cy="682904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" y="4815535"/>
            <a:ext cx="2706624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Anode Contact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840480" y="4815535"/>
            <a:ext cx="5223485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Plates unevenly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62667" y="5019827"/>
            <a:ext cx="1024357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62667" y="5019827"/>
            <a:ext cx="1024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Dendrites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228582" y="5019827"/>
            <a:ext cx="1024357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28582" y="5019827"/>
            <a:ext cx="1024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spots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0" y="5580736"/>
            <a:ext cx="10911535" cy="682904"/>
          </a:xfrm>
          <a:prstGeom prst="roundRect">
            <a:avLst>
              <a:gd name="adj" fmla="val 32136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40080" y="5580736"/>
            <a:ext cx="54864" cy="682904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41" name="Text 39"/>
          <p:cNvSpPr/>
          <p:nvPr/>
        </p:nvSpPr>
        <p:spPr>
          <a:xfrm>
            <a:off x="859536" y="5580736"/>
            <a:ext cx="2706624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Li-Metal Anode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840480" y="5580736"/>
            <a:ext cx="5223485" cy="682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 with heat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509021" y="5785028"/>
            <a:ext cx="878002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09021" y="5785028"/>
            <a:ext cx="878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448114" y="5785028"/>
            <a:ext cx="951179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48114" y="5785028"/>
            <a:ext cx="9511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Vibrates</a:t>
            </a:r>
            <a:endParaRPr lang="en-US" sz="850" dirty="0"/>
          </a:p>
        </p:txBody>
      </p:sp>
      <p:pic>
        <p:nvPicPr>
          <p:cNvPr id="47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Leena Shah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ION TRANSPORT PHYSICS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Sulfides Conduct, Oxides Endure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Ion speed trades against chemical and mechanical stability at every interface.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9934"/>
            <a:ext cx="5318608" cy="2957322"/>
          </a:xfrm>
          <a:prstGeom prst="roundRect">
            <a:avLst>
              <a:gd name="adj" fmla="val 7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794254"/>
            <a:ext cx="4769968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Sulfide Electrolytes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28010"/>
            <a:ext cx="4769968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ions, fragile chemistry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445764"/>
            <a:ext cx="4769968" cy="11719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lattice moves Li+ fast, reacts easily.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41832" y="4681728"/>
            <a:ext cx="82296" cy="82296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4562856"/>
            <a:ext cx="4550512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Argyrodite channels give high Li+ mobility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41832" y="5001768"/>
            <a:ext cx="82296" cy="82296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4882896"/>
            <a:ext cx="4550512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Moisture control and pressure add cost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2519934"/>
            <a:ext cx="5318608" cy="2957322"/>
          </a:xfrm>
          <a:prstGeom prst="roundRect">
            <a:avLst>
              <a:gd name="adj" fmla="val 7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7328" y="2794254"/>
            <a:ext cx="4769968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Oxide Electrolytes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07328" y="3128010"/>
            <a:ext cx="4769968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frame, stiff contacts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07328" y="3445764"/>
            <a:ext cx="4769968" cy="11719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frame resists reactions, blocks 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4760" y="4681728"/>
            <a:ext cx="82296" cy="82296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20" name="Text 18"/>
          <p:cNvSpPr/>
          <p:nvPr/>
        </p:nvSpPr>
        <p:spPr>
          <a:xfrm>
            <a:off x="6726784" y="4562856"/>
            <a:ext cx="4550512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grain-boundary resistance limits flow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34760" y="5001768"/>
            <a:ext cx="82296" cy="82296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22" name="Text 20"/>
          <p:cNvSpPr/>
          <p:nvPr/>
        </p:nvSpPr>
        <p:spPr>
          <a:xfrm>
            <a:off x="6726784" y="4882896"/>
            <a:ext cx="4550512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Brittle layers need flat, pressed interfaces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696712"/>
            <a:ext cx="10911535" cy="566928"/>
          </a:xfrm>
          <a:prstGeom prst="roundRect">
            <a:avLst>
              <a:gd name="adj" fmla="val 38710"/>
            </a:avLst>
          </a:prstGeom>
          <a:solidFill>
            <a:srgbClr val="2D2D2A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" y="5696712"/>
            <a:ext cx="1028974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889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Conductivity favors sulfides; stability favors oxides — pick your burden.</a:t>
            </a:r>
            <a:endParaRPr lang="en-US" sz="1300" dirty="0"/>
          </a:p>
        </p:txBody>
      </p:sp>
      <p:pic>
        <p:nvPicPr>
          <p:cNvPr id="25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Leena Shah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ION TRANSPORT PHYSICS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Framework Sets the Barrier Every Ion Must Hop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Perovskites, garnets and argyrodites set Li+ speed long before factories test survival.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013454"/>
            <a:ext cx="10911535" cy="27432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8" name="Shape 6"/>
          <p:cNvSpPr/>
          <p:nvPr/>
        </p:nvSpPr>
        <p:spPr>
          <a:xfrm>
            <a:off x="2239213" y="3807714"/>
            <a:ext cx="438912" cy="438912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9" name="Text 7"/>
          <p:cNvSpPr/>
          <p:nvPr/>
        </p:nvSpPr>
        <p:spPr>
          <a:xfrm>
            <a:off x="2239213" y="380771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769565" y="3935730"/>
            <a:ext cx="182880" cy="182880"/>
          </a:xfrm>
          <a:prstGeom prst="triangle">
            <a:avLst/>
          </a:prstGeom>
          <a:solidFill>
            <a:srgbClr val="C05D4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9934"/>
            <a:ext cx="3362858" cy="13060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Li+ Hops Via Vacancies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466082"/>
            <a:ext cx="3362858" cy="1797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Lithium migrates vacancy to vacancy via interstitial sites; more defects mean more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76392" y="3807714"/>
            <a:ext cx="438912" cy="438912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14" name="Text 12"/>
          <p:cNvSpPr/>
          <p:nvPr/>
        </p:nvSpPr>
        <p:spPr>
          <a:xfrm>
            <a:off x="5876392" y="380771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406744" y="3935730"/>
            <a:ext cx="182880" cy="182880"/>
          </a:xfrm>
          <a:prstGeom prst="triangle">
            <a:avLst/>
          </a:prstGeom>
          <a:solidFill>
            <a:srgbClr val="C05D4E"/>
          </a:solidFill>
          <a:ln/>
        </p:spPr>
      </p:sp>
      <p:sp>
        <p:nvSpPr>
          <p:cNvPr id="16" name="Text 14"/>
          <p:cNvSpPr/>
          <p:nvPr/>
        </p:nvSpPr>
        <p:spPr>
          <a:xfrm>
            <a:off x="4414418" y="2519934"/>
            <a:ext cx="3362858" cy="13060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Sulfides Lower Barriers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14418" y="4466082"/>
            <a:ext cx="3362858" cy="1797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argyrodite lattice lowers hopping barrier, giving highest conductivity of the families.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13570" y="3807714"/>
            <a:ext cx="438912" cy="438912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19" name="Text 17"/>
          <p:cNvSpPr/>
          <p:nvPr/>
        </p:nvSpPr>
        <p:spPr>
          <a:xfrm>
            <a:off x="9513570" y="380771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51597" y="2519934"/>
            <a:ext cx="3362858" cy="13060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Oxides Bottleneck Flow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51597" y="4466082"/>
            <a:ext cx="3362858" cy="1797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garnet and perovskite frames endure, but grain boundaries add resistance at each crossing.</a:t>
            </a:r>
            <a:endParaRPr lang="en-US" sz="1300" dirty="0"/>
          </a:p>
        </p:txBody>
      </p:sp>
      <p:pic>
        <p:nvPicPr>
          <p:cNvPr id="22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Leena Shah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7"><p:bg><p:bgPr><a:solidFill><a:srgbClr val="C05D4E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2606040"/><a:ext cx="10911535" cy="310896"/></a:xfrm><a:prstGeom prst="rect"><a:avLst></a:avLst></a:prstGeom><a:noFill/><a:ln></a:ln></p:spPr><p:txBody><a:bodyPr wrap="square" rtlCol="0" anchor="ctr"></a:bodyPr><a:lstStyle/><a:p><a:pPr indent="0" marL="0"><a:lnSpc><a:spcPts val="1200"/></a:lnSpc><a:buNone/></a:pPr><a:r><a:rPr lang="en-US" sz="1000" b="1" spc="120" kern="0" dirty="0"><a:solidFill><a:srgbClr val="F2DCD7"/></a:solidFill><a:latin typeface="Inter" pitchFamily="34" charset="0"/><a:ea typeface="Inter" pitchFamily="34" charset="-122"/><a:cs typeface="Inter" pitchFamily="34" charset="-120"/></a:rPr><a:t>02</a:t></a:r><a:endParaRPr lang="en-US" sz="1000" dirty="0"/></a:p></p:txBody></p:sp><p:sp><p:nvSpPr><p:cNvPr id="3" name="Shape 1"></p:cNvPr><p:cNvSpPr/><p:nvPr></p:nvPr></p:nvSpPr><p:spPr><a:xfrm><a:off x="640080" y="3008376"/><a:ext cx="914400" cy="45720"/></a:xfrm><a:prstGeom prst="rect"><a:avLst></a:avLst></a:prstGeom><a:solidFill><a:srgbClr val="F2DCD7"/></a:solidFill><a:ln></a:ln></p:spPr></p:sp><p:sp><p:nvSpPr><p:cNvPr id="4" name="Text 2"></p:cNvPr><p:cNvSpPr/><p:nvPr></p:nvPr></p:nvSpPr><p:spPr><a:xfrm><a:off x="640080" y="3227832"/><a:ext cx="10911535" cy="1051560"/></a:xfrm><a:prstGeom prst="rect"><a:avLst></a:avLst></a:prstGeom><a:noFill/><a:ln></a:ln></p:spPr><p:txBody><a:bodyPr wrap="square" rtlCol="0" anchor="t"></a:bodyPr><a:lstStyle/><a:p><a:pPr indent="0" marL="0"><a:lnSpc><a:spcPts val="3600"/></a:lnSpc><a:buNone/></a:pPr><a:r><a:rPr lang="en-US" sz="3200" b="1" spc="-50" kern="0" dirty="0"><a:solidFill><a:srgbClr val="FFFFFF"/></a:solidFill><a:latin typeface="Merriweather" pitchFamily="34" charset="0"/><a:ea typeface="Merriweather" pitchFamily="34" charset="-122"/><a:cs typeface="Merriweather" pitchFamily="34" charset="-120"/></a:rPr><a:t>The Lab Proved It Works 24 Scale Decides If It Survives</a:t></a:r><a:endParaRPr lang="en-US" sz="3200" dirty="0"/></a:p></p:txBody></p:sp><p:sp><p:nvSpPr><p:cNvPr id="5" name="Text 3"></p:cNvPr><p:cNvSpPr/><p:nvPr></p:nvPr></p:nvSpPr><p:spPr><a:xfrm><a:off x="640080" y="4233672"/><a:ext cx="7201613" cy="8229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F2DCD7"/></a:solidFill><a:latin typeface="Inter" pitchFamily="34" charset="0"/><a:ea typeface="Inter" pitchFamily="34" charset="-122"/><a:cs typeface="Inter" pitchFamily="34" charset="-120"/></a:rPr><a:t>Yield, throughput and defect tolerance take over 24 Omar Khan on manufacturing at scale</a:t></a:r><a:endParaRPr lang="en-US" sz="1500" dirty="0"/></a:p></p:txBody></p:sp><p:pic>  <p:nvPicPr><p:cNvPr id="6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7" name="Text 4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FFFFFF"/></a:solidFill><a:latin typeface="Inter" pitchFamily="34" charset="0"/><a:ea typeface="Inter" pitchFamily="34" charset="-122"/><a:cs typeface="Inter" pitchFamily="34" charset="-120"/></a:rPr><a:t>7 / 17</a:t></a:r><a:endParaRPr lang="en-US" sz="900" dirty="0"/></a:p></p:txBody></p:sp></p:spTree></p:cSld><p:clrMapOvr><a:masterClrMapping/></p:clrMapOvr></p:sld>
</file>

<file path=ppt/slides/slide8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8"><p:bg><p:bgPr><a:solidFill><a:srgbClr val="EBEBE6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640080" y="621792"/><a:ext cx="822960" cy="91440"/></a:xfrm><a:prstGeom prst="rect"><a:avLst></a:avLst></a:prstGeom><a:solidFill><a:srgbClr val="C05D4E"/></a:solidFill><a:ln></a:ln></p:spPr></p:sp><p:sp><p:nvSpPr><p:cNvPr id="3" name="Text 1"></p:cNvPr><p:cNvSpPr/><p:nvPr></p:nvPr></p:nvSpPr><p:spPr><a:xfrm><a:off x="1664208" y="566928"/><a:ext cx="8451112" cy="292608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MANUFACTURING AT SCALE</a:t></a:r><a:endParaRPr lang="en-US" sz="1000" dirty="0"/></a:p></p:txBody></p:sp><p:sp><p:nvSpPr><p:cNvPr id="4" name="Text 2"></p:cNvPr><p:cNvSpPr/><p:nvPr></p:nvPr></p:nvSpPr><p:spPr><a:xfrm><a:off x="640080" y="1188720"/><a:ext cx="9475240" cy="899160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Four atomic flaws decide if millions of cells survive</a:t></a:r><a:endParaRPr lang="en-US" sz="3000" dirty="0"/></a:p></p:txBody></p:sp><p:sp><p:nvSpPr><p:cNvPr id="5" name="Shape 3"></p:cNvPr><p:cNvSpPr/><p:nvPr></p:nvPr></p:nvSpPr><p:spPr><a:xfrm><a:off x="640080" y="2142744"/><a:ext cx="10911535" cy="13716"/></a:xfrm><a:prstGeom prst="rect"><a:avLst></a:avLst></a:prstGeom><a:solidFill><a:srgbClr val="D8D8D2"/></a:solidFill><a:ln></a:ln></p:spPr></p:sp><p:sp><p:nvSpPr><p:cNvPr id="6" name="Text 4"></p:cNvPr><p:cNvSpPr/><p:nvPr></p:nvPr></p:nvSpPr><p:spPr><a:xfrm><a:off x="640080" y="2307336"/><a:ext cx="10911535" cy="662178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5C5C59"/></a:solidFill><a:latin typeface="Inter" pitchFamily="34" charset="0"/><a:ea typeface="Inter" pitchFamily="34" charset="-122"/><a:cs typeface="Inter" pitchFamily="34" charset="-120"/></a:rPr><a:t>Dendrites kill fast, voids starve slowly 24 at scale even rare defects turn catastrophic.</a:t></a:r><a:endParaRPr lang="en-US" sz="1500" dirty="0"/></a:p></p:txBody></p:sp><p:sp><p:nvSpPr><p:cNvPr id="7" name="Shape 5"></p:cNvPr><p:cNvSpPr/><p:nvPr></p:nvPr></p:nvSpPr><p:spPr><a:xfrm><a:off x="640080" y="4648581"/><a:ext cx="10911535" cy="27432"/></a:xfrm><a:prstGeom prst="rect"><a:avLst></a:avLst></a:prstGeom><a:solidFill><a:srgbClr val="D8D8D2"/></a:solidFill><a:ln></a:ln></p:spPr></p:sp><p:sp><p:nvSpPr><p:cNvPr id="8" name="Shape 6"></p:cNvPr><p:cNvSpPr/><p:nvPr></p:nvPr></p:nvSpPr><p:spPr><a:xfrm><a:off x="6082132" y="2969514"/><a:ext cx="27432" cy="3385566"/></a:xfrm><a:prstGeom prst="rect"><a:avLst></a:avLst></a:prstGeom><a:solidFill><a:srgbClr val="D8D8D2"/></a:solidFill><a:ln></a:ln></p:spPr></p:sp><p:sp><p:nvSpPr><p:cNvPr id="9" name="Text 7"></p:cNvPr><p:cNvSpPr/><p:nvPr></p:nvPr></p:nvSpPr><p:spPr><a:xfrm><a:off x="804672" y="3079242"/><a:ext cx="4806544" cy="3657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b="1" dirty="0"><a:solidFill><a:srgbClr val="2D2D2A"/></a:solidFill><a:latin typeface="Inter" pitchFamily="34" charset="0"/><a:ea typeface="Inter" pitchFamily="34" charset="-122"/><a:cs typeface="Inter" pitchFamily="34" charset="-120"/></a:rPr><a:t>Dendrites short the cell</a:t></a:r><a:endParaRPr lang="en-US" sz="1500" dirty="0"/></a:p></p:txBody></p:sp><p:sp><p:nvSpPr><p:cNvPr id="10" name="Text 8"></p:cNvPr><p:cNvSpPr/><p:nvPr></p:nvPr></p:nvSpPr><p:spPr><a:xfrm><a:off x="804672" y="3426714"/><a:ext cx="4806544" cy="915543"/></a:xfrm><a:prstGeom prst="rect"><a:avLst></a:avLst></a:prstGeom><a:noFill/><a:ln></a:ln></p:spPr><p:txBody><a:bodyPr wrap="square" rtlCol="0" anchor="t"></a:bodyPr><a:lstStyle/><a:p><a:pPr indent="0" marL="0"><a:lnSpc><a:spcPts val="1400"/></a:lnSpc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Lithium follows grain boundaries to cathode; dominant failure mode.</a:t></a:r><a:endParaRPr lang="en-US" sz="1000" dirty="0"/></a:p></p:txBody></p:sp><p:sp><p:nvSpPr><p:cNvPr id="11" name="Text 9"></p:cNvPr><p:cNvSpPr/><p:nvPr></p:nvPr></p:nvSpPr><p:spPr><a:xfrm><a:off x="6260440" y="3079242"/><a:ext cx="4806544" cy="3657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b="1" dirty="0"><a:solidFill><a:srgbClr val="2D2D2A"/></a:solidFill><a:latin typeface="Inter" pitchFamily="34" charset="0"/><a:ea typeface="Inter" pitchFamily="34" charset="-122"/><a:cs typeface="Inter" pitchFamily="34" charset="-120"/></a:rPr><a:t>Cracks split brittle layers</a:t></a:r><a:endParaRPr lang="en-US" sz="1500" dirty="0"/></a:p></p:txBody></p:sp><p:sp><p:nvSpPr><p:cNvPr id="12" name="Text 10"></p:cNvPr><p:cNvSpPr/><p:nvPr></p:nvPr></p:nvSpPr><p:spPr><a:xfrm><a:off x="6260440" y="3426714"/><a:ext cx="4806544" cy="915543"/></a:xfrm><a:prstGeom prst="rect"><a:avLst></a:avLst></a:prstGeom><a:noFill/><a:ln></a:ln></p:spPr><p:txBody><a:bodyPr wrap="square" rtlCol="0" anchor="t"></a:bodyPr><a:lstStyle/><a:p><a:pPr indent="0" marL="0"><a:lnSpc><a:spcPts val="1400"/></a:lnSpc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Low KIc ceramics fail in tension; flaws grow to fracture.</a:t></a:r><a:endParaRPr lang="en-US" sz="1000" dirty="0"/></a:p></p:txBody></p:sp><p:sp><p:nvSpPr><p:cNvPr id="13" name="Text 11"></p:cNvPr><p:cNvSpPr/><p:nvPr></p:nvPr></p:nvSpPr><p:spPr><a:xfrm><a:off x="804672" y="4772025"/><a:ext cx="4806544" cy="3657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b="1" dirty="0"><a:solidFill><a:srgbClr val="2D2D2A"/></a:solidFill><a:latin typeface="Inter" pitchFamily="34" charset="0"/><a:ea typeface="Inter" pitchFamily="34" charset="-122"/><a:cs typeface="Inter" pitchFamily="34" charset="-120"/></a:rPr><a:t>Voids starve contact</a:t></a:r><a:endParaRPr lang="en-US" sz="1500" dirty="0"/></a:p></p:txBody></p:sp><p:sp><p:nvSpPr><p:cNvPr id="14" name="Text 12"></p:cNvPr><p:cNvSpPr/><p:nvPr></p:nvPr></p:nvSpPr><p:spPr><a:xfrm><a:off x="804672" y="5119497"/><a:ext cx="4806544" cy="915543"/></a:xfrm><a:prstGeom prst="rect"><a:avLst></a:avLst></a:prstGeom><a:noFill/><a:ln></a:ln></p:spPr><p:txBody><a:bodyPr wrap="square" rtlCol="0" anchor="t"></a:bodyPr><a:lstStyle/><a:p><a:pPr indent="0" marL="0"><a:lnSpc><a:spcPts val="1400"/></a:lnSpc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Expansion and vibration open gaps; ions stop, capacity fades.</a:t></a:r><a:endParaRPr lang="en-US" sz="1000" dirty="0"/></a:p></p:txBody></p:sp><p:sp><p:nvSpPr><p:cNvPr id="15" name="Text 13"></p:cNvPr><p:cNvSpPr/><p:nvPr></p:nvPr></p:nvSpPr><p:spPr><a:xfrm><a:off x="6260440" y="4772025"/><a:ext cx="4806544" cy="3657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b="1" dirty="0"><a:solidFill><a:srgbClr val="2D2D2A"/></a:solidFill><a:latin typeface="Inter" pitchFamily="34" charset="0"/><a:ea typeface="Inter" pitchFamily="34" charset="-122"/><a:cs typeface="Inter" pitchFamily="34" charset="-120"/></a:rPr><a:t>Heat cycling pries joints</a:t></a:r><a:endParaRPr lang="en-US" sz="1500" dirty="0"/></a:p></p:txBody></p:sp><p:sp><p:nvSpPr><p:cNvPr id="16" name="Text 14"></p:cNvPr><p:cNvSpPr/><p:nvPr></p:nvPr></p:nvSpPr><p:spPr><a:xfrm><a:off x="6260440" y="5119497"/><a:ext cx="4806544" cy="915543"/></a:xfrm><a:prstGeom prst="rect"><a:avLst></a:avLst></a:prstGeom><a:noFill/><a:ln></a:ln></p:spPr><p:txBody><a:bodyPr wrap="square" rtlCol="0" anchor="t"></a:bodyPr><a:lstStyle/><a:p><a:pPr indent="0" marL="0"><a:lnSpc><a:spcPts val="1400"/></a:lnSpc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Mismatched expansion loosens contact over thousands of cycles.</a:t></a:r><a:endParaRPr lang="en-US" sz="1000" dirty="0"/></a:p></p:txBody></p:sp><p:sp><p:nvSpPr><p:cNvPr id="17" name="Text 15"></p:cNvPr><p:cNvSpPr/><p:nvPr></p:nvPr></p:nvSpPr><p:spPr><a:xfrm><a:off x="640080" y="4296537"/><a:ext cx="1828800" cy="274320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Rare</a:t></a:r><a:endParaRPr lang="en-US" sz="1000" dirty="0"/></a:p></p:txBody></p:sp><p:sp><p:nvSpPr><p:cNvPr id="18" name="Text 16"></p:cNvPr><p:cNvSpPr/><p:nvPr></p:nvPr></p:nvSpPr><p:spPr><a:xfrm><a:off x="9722815" y="4296537"/><a:ext cx="1828800" cy="274320"/></a:xfrm><a:prstGeom prst="rect"><a:avLst></a:avLst></a:prstGeom><a:noFill/><a:ln></a:ln></p:spPr><p:txBody><a:bodyPr wrap="square" rtlCol="0" anchor="ctr"></a:bodyPr><a:lstStyle/><a:p><a:pPr algn="r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Frequent</a:t></a:r><a:endParaRPr lang="en-US" sz="1000" dirty="0"/></a:p></p:txBody></p:sp><p:sp><p:nvSpPr><p:cNvPr id="19" name="Text 17"></p:cNvPr><p:cNvSpPr/><p:nvPr></p:nvPr></p:nvSpPr><p:spPr><a:xfrm><a:off x="640080" y="5971032"/><a:ext cx="10911535" cy="274320"/></a:xfrm><a:prstGeom prst="rect"><a:avLst></a:avLst></a:prstGeom><a:noFill/><a:ln></a:ln></p:spPr><p:txBody><a:bodyPr wrap="square" rtlCol="0" anchor="ctr"></a:bodyPr><a:lstStyle/><a:p><a:pPr algn="ctr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Likelihood</a:t></a:r><a:endParaRPr lang="en-US" sz="1000" dirty="0"/></a:p></p:txBody></p:sp><p:sp><p:nvSpPr><p:cNvPr id="20" name="Text 18"></p:cNvPr><p:cNvSpPr/><p:nvPr></p:nvPr></p:nvSpPr><p:spPr><a:xfrm rot="16200000"><a:off x="-282893" y="3499580"/><a:ext cx="1334453" cy="274320"/></a:xfrm><a:prstGeom prst="rect"><a:avLst></a:avLst></a:prstGeom><a:noFill/><a:ln></a:ln></p:spPr><p:txBody><a:bodyPr wrap="square" rtlCol="0" anchor="ctr"></a:bodyPr><a:lstStyle/><a:p><a:pPr algn="r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CELL SHORTS</a:t></a:r><a:endParaRPr lang="en-US" sz="1000" dirty="0"/></a:p></p:txBody></p:sp><p:sp><p:nvSpPr><p:cNvPr id="21" name="Text 19"></p:cNvPr><p:cNvSpPr/><p:nvPr></p:nvPr></p:nvSpPr><p:spPr><a:xfrm rot="16200000"><a:off x="-282893" y="5550694"/><a:ext cx="1334453" cy="274320"/></a:xfrm><a:prstGeom prst="rect"><a:avLst></a:avLst></a:prstGeom><a:noFill/><a:ln></a:ln></p:spPr><p:txBody><a:bodyPr wrap="square" rtlCol="0" anchor="ctr"></a:bodyPr><a:lstStyle/><a:p><a:pPr algn="r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CAPACITY FADE</a:t></a:r><a:endParaRPr lang="en-US" sz="1000" dirty="0"/></a:p></p:txBody></p:sp><p:sp><p:nvSpPr><p:cNvPr id="22" name="Text 20"></p:cNvPr><p:cNvSpPr/><p:nvPr></p:nvPr></p:nvSpPr><p:spPr><a:xfrm rot="16200000"><a:off x="-282893" y="4525137"/><a:ext cx="1334453" cy="274320"/></a:xfrm><a:prstGeom prst="rect"><a:avLst></a:avLst></a:prstGeom><a:noFill/><a:ln></a:ln></p:spPr><p:txBody><a:bodyPr wrap="square" rtlCol="0" anchor="ctr"></a:bodyPr><a:lstStyle/><a:p><a:pPr algn="ctr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FAILURE IMPACT</a:t></a:r><a:endParaRPr lang="en-US" sz="1000" dirty="0"/></a:p></p:txBody></p:sp><p:pic>  <p:nvPicPr><p:cNvPr id="23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24" name="Text 21"></p:cNvPr><p:cNvSpPr/><p:nvPr></p:nvPr></p:nvSpPr><p:spPr><a:xfrm><a:off x="640080" y="6327648"/><a:ext cx="5943600" cy="274320"/></a:xfrm><a:prstGeom prst="rect"><a:avLst></a:avLst></a:prstGeom><a:noFill/><a:ln></a:ln></p:spPr><p:txBody><a:bodyPr wrap="square" rtlCol="0" anchor="ctr"></a:bodyPr><a:lstStyle/><a:p><a:pPr algn="l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Omar Khan</a:t></a:r><a:endParaRPr lang="en-US" sz="900" dirty="0"/></a:p></p:txBody></p:sp><p:sp><p:nvSpPr><p:cNvPr id="25" name="Text 22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8 / 17</a:t></a:r><a:endParaRPr lang="en-US" sz="900" dirty="0"/></a:p></p:txBody></p:sp></p:spTree></p:cSld><p:clrMapOvr><a:masterClrMapping/></p:clrMapOvr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AT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Uneven Plating Splits Into Three Failures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spots plate first, dendrites follow grain boundaries, and sealed cells hide growth until capacity or safety fails.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41368" y="3361182"/>
            <a:ext cx="3108960" cy="640080"/>
          </a:xfrm>
          <a:prstGeom prst="diamond">
            <a:avLst/>
          </a:prstGeom>
          <a:solidFill>
            <a:srgbClr val="C05D4E"/>
          </a:solidFill>
          <a:ln/>
        </p:spPr>
      </p:sp>
      <p:sp>
        <p:nvSpPr>
          <p:cNvPr id="8" name="Text 6"/>
          <p:cNvSpPr/>
          <p:nvPr/>
        </p:nvSpPr>
        <p:spPr>
          <a:xfrm>
            <a:off x="5318608" y="352120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dendrite grows?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10048" y="2519934"/>
            <a:ext cx="1371600" cy="64008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01488" y="261137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Uneven plating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2132" y="3160014"/>
            <a:ext cx="27432" cy="201168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2132" y="4001262"/>
            <a:ext cx="27432" cy="182880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7964" y="4184142"/>
            <a:ext cx="2714168" cy="27432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73604" y="4229862"/>
            <a:ext cx="1188720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3604" y="422986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circuit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82164" y="4549902"/>
            <a:ext cx="1371600" cy="64008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73604" y="464134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Hits cathode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2132" y="4001262"/>
            <a:ext cx="27432" cy="182880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2132" y="4184142"/>
            <a:ext cx="13716" cy="27432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01488" y="4229862"/>
            <a:ext cx="1188720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1488" y="422986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 lithium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10048" y="4549902"/>
            <a:ext cx="1371600" cy="64008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01488" y="464134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Steals lithium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2132" y="4001262"/>
            <a:ext cx="27432" cy="182880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2132" y="4184142"/>
            <a:ext cx="2741600" cy="27432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371" y="4229862"/>
            <a:ext cx="1188720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371" y="422986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varies.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37931" y="4549902"/>
            <a:ext cx="1371600" cy="64008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371" y="464134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Hides in cell</a:t>
            </a:r>
            <a:endParaRPr lang="en-US" sz="950" dirty="0"/>
          </a:p>
        </p:txBody>
      </p:sp>
      <p:pic>
        <p:nvPicPr>
          <p:cNvPr id="30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Omar Khan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0"><p:bg><p:bgPr><a:solidFill><a:srgbClr val="EBEBE6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640080" y="621792"/><a:ext cx="822960" cy="91440"/></a:xfrm><a:prstGeom prst="rect"><a:avLst></a:avLst></a:prstGeom><a:solidFill><a:srgbClr val="C05D4E"/></a:solidFill><a:ln></a:ln></p:spPr></p:sp><p:sp><p:nvSpPr><p:cNvPr id="3" name="Text 1"></p:cNvPr><p:cNvSpPr/><p:nvPr></p:nvPr></p:nvSpPr><p:spPr><a:xfrm><a:off x="1664208" y="566928"/><a:ext cx="8451112" cy="292608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MANUFACTURING AT SCALE</a:t></a:r><a:endParaRPr lang="en-US" sz="1000" dirty="0"/></a:p></p:txBody></p:sp><p:sp><p:nvSpPr><p:cNvPr id="4" name="Text 2"></p:cNvPr><p:cNvSpPr/><p:nvPr></p:nvPr></p:nvSpPr><p:spPr><a:xfrm><a:off x="640080" y="1188720"/><a:ext cx="9475240" cy="449580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Lab Comfort Fails Gigafactory Reality</a:t></a:r><a:endParaRPr lang="en-US" sz="3000" dirty="0"/></a:p></p:txBody></p:sp><p:sp><p:nvSpPr><p:cNvPr id="5" name="Shape 3"></p:cNvPr><p:cNvSpPr/><p:nvPr></p:nvPr></p:nvSpPr><p:spPr><a:xfrm><a:off x="640080" y="1693164"/><a:ext cx="10911535" cy="13716"/></a:xfrm><a:prstGeom prst="rect"><a:avLst></a:avLst></a:prstGeom><a:solidFill><a:srgbClr val="D8D8D2"/></a:solidFill><a:ln></a:ln></p:spPr></p:sp><p:sp><p:nvSpPr><p:cNvPr id="6" name="Text 4"></p:cNvPr><p:cNvSpPr/><p:nvPr></p:nvPr></p:nvSpPr><p:spPr><a:xfrm><a:off x="640080" y="1857756"/><a:ext cx="10911535" cy="662178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5C5C59"/></a:solidFill><a:latin typeface="Inter" pitchFamily="34" charset="0"/><a:ea typeface="Inter" pitchFamily="34" charset="-122"/><a:cs typeface="Inter" pitchFamily="34" charset="-120"/></a:rPr><a:t>Lab success needs pressure rigs; scale demands yield, cost, and throughput without them.</a:t></a:r><a:endParaRPr lang="en-US" sz="1500" dirty="0"/></a:p></p:txBody></p:sp><p:sp><p:nvSpPr><p:cNvPr id="7" name="Shape 5"></p:cNvPr><p:cNvSpPr/><p:nvPr></p:nvPr></p:nvSpPr><p:spPr><a:xfrm><a:off x="640080" y="2519934"/><a:ext cx="4952848" cy="3743706"/></a:xfrm><a:prstGeom prst="roundRect"><a:avLst><a:gd name="adj" fmla="val 5862"/></a:avLst></a:prstGeom><a:solidFill><a:srgbClr val="FFFFFF"/></a:solidFill><a:ln></a:ln><a:effectLst> <a:outerShdw sx="100000" sy="100000" kx="0" ky="0" algn="bl" rotWithShape="0" blurRad="203200" dist="50800" dir="5400000"> <a:srgbClr val="2D2D2A"> <a:alpha val="9000"/></a:srgbClr> </a:outerShdw></a:effectLst></p:spPr></p:sp><p:sp><p:nvSpPr><p:cNvPr id="8" name="Shape 6"></p:cNvPr><p:cNvSpPr/><p:nvPr></p:nvPr></p:nvSpPr><p:spPr><a:xfrm><a:off x="914400" y="2794254"/><a:ext cx="1088762" cy="310896"/></a:xfrm><a:prstGeom prst="roundRect"><a:avLst><a:gd name="adj" fmla="val 117647"/></a:avLst></a:prstGeom><a:solidFill><a:srgbClr val="FFFFFF"/></a:solidFill><a:ln w="12700"><a:solidFill><a:srgbClr val="D8D8D2"/></a:solidFill><a:prstDash val="solid"/></a:ln></p:spPr></p:sp><p:sp><p:nvSpPr><p:cNvPr id="9" name="Text 7"></p:cNvPr><p:cNvSpPr/><p:nvPr></p:nvPr></p:nvSpPr><p:spPr><a:xfrm><a:off x="914400" y="2794254"/><a:ext cx="1088762" cy="310896"/></a:xfrm><a:prstGeom prst="rect"><a:avLst></a:avLst></a:prstGeom><a:noFill/><a:ln></a:ln></p:spPr><p:txBody><a:bodyPr wrap="square" rtlCol="0" anchor="ctr"></a:bodyPr><a:lstStyle/><a:p><a:pPr algn="ctr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BEFORE</a:t></a:r><a:endParaRPr lang="en-US" sz="1000" dirty="0"/></a:p></p:txBody></p:sp><p:sp><p:nvSpPr><p:cNvPr id="10" name="Text 8"></p:cNvPr><p:cNvSpPr/><p:nvPr></p:nvPr></p:nvSpPr><p:spPr><a:xfrm><a:off x="914400" y="3251454"/><a:ext cx="4404208" cy="950976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Lab: Pressed and Pampered</a:t></a:r><a:endParaRPr lang="en-US" sz="3000" dirty="0"/></a:p></p:txBody></p:sp><p:sp><p:nvSpPr><p:cNvPr id="11" name="Text 9"></p:cNvPr><p:cNvSpPr/><p:nvPr></p:nvPr></p:nvSpPr><p:spPr><a:xfrm><a:off x="914400" y="4293870"/><a:ext cx="4404208" cy="1695450"/></a:xfrm><a:prstGeom prst="rect"><a:avLst></a:avLst></a:prstGeom><a:noFill/><a:ln></a:ln></p:spPr><p:txBody><a:bodyPr wrap="square" rtlCol="0" anchor="t"></a:bodyPr><a:lstStyle/><a:p><a:pPr indent="0" marL="0"><a:lnSpc><a:spcPts val="2000"/></a:lnSpc><a:buNone/></a:pPr><a:r><a:rPr lang="en-US" sz="1300" dirty="0"><a:solidFill><a:srgbClr val="5C5C59"/></a:solidFill><a:latin typeface="Inter" pitchFamily="34" charset="0"/><a:ea typeface="Inter" pitchFamily="34" charset="-122"/><a:cs typeface="Inter" pitchFamily="34" charset="-120"/></a:rPr><a:t>Hand-built cells cycled gently under stack pressure to preserve atomic-scale contact.</a:t></a:r><a:endParaRPr lang="en-US" sz="1300" dirty="0"/></a:p></p:txBody></p:sp><p:sp><p:nvSpPr><p:cNvPr id="12" name="Shape 10"></p:cNvPr><p:cNvSpPr/><p:nvPr></p:nvPr></p:nvSpPr><p:spPr><a:xfrm><a:off x="6598768" y="2519934"/><a:ext cx="4952848" cy="3743706"/></a:xfrm><a:prstGeom prst="roundRect"><a:avLst><a:gd name="adj" fmla="val 5862"/></a:avLst></a:prstGeom><a:solidFill><a:srgbClr val="FFFFFF"/></a:solidFill><a:ln></a:ln><a:effectLst> <a:outerShdw sx="100000" sy="100000" kx="0" ky="0" algn="bl" rotWithShape="0" blurRad="203200" dist="50800" dir="5400000"> <a:srgbClr val="2D2D2A"> <a:alpha val="9000"/></a:srgbClr> </a:outerShdw></a:effectLst></p:spPr></p:sp><p:sp><p:nvSpPr><p:cNvPr id="13" name="Shape 11"></p:cNvPr><p:cNvSpPr/><p:nvPr></p:nvPr></p:nvSpPr><p:spPr><a:xfrm><a:off x="6873088" y="2794254"/><a:ext cx="983502" cy="310896"/></a:xfrm><a:prstGeom prst="roundRect"><a:avLst><a:gd name="adj" fmla="val 117647"/></a:avLst></a:prstGeom><a:solidFill><a:srgbClr val="C05D4E"/></a:solidFill><a:ln></a:ln></p:spPr></p:sp><p:sp><p:nvSpPr><p:cNvPr id="14" name="Text 12"></p:cNvPr><p:cNvSpPr/><p:nvPr></p:nvPr></p:nvSpPr><p:spPr><a:xfrm><a:off x="6873088" y="2794254"/><a:ext cx="983502" cy="310896"/></a:xfrm><a:prstGeom prst="rect"><a:avLst></a:avLst></a:prstGeom><a:noFill/><a:ln></a:ln></p:spPr><p:txBody><a:bodyPr wrap="square" rtlCol="0" anchor="ctr"></a:bodyPr><a:lstStyle/><a:p><a:pPr algn="ctr" indent="0" marL="0"><a:lnSpc><a:spcPts val="1200"/></a:lnSpc><a:buNone/></a:pPr><a:r><a:rPr lang="en-US" sz="1000" b="1" spc="120" kern="0" dirty="0"><a:solidFill><a:srgbClr val="0A0A0A"/></a:solidFill><a:latin typeface="Inter" pitchFamily="34" charset="0"/><a:ea typeface="Inter" pitchFamily="34" charset="-122"/><a:cs typeface="Inter" pitchFamily="34" charset="-120"/></a:rPr><a:t>AFTER</a:t></a:r><a:endParaRPr lang="en-US" sz="1000" dirty="0"/></a:p></p:txBody></p:sp><p:sp><p:nvSpPr><p:cNvPr id="15" name="Text 13"></p:cNvPr><p:cNvSpPr/><p:nvPr></p:nvPr></p:nvSpPr><p:spPr><a:xfrm><a:off x="6873088" y="3251454"/><a:ext cx="4404208" cy="950976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Factory: Millions, Unforgiving</a:t></a:r><a:endParaRPr lang="en-US" sz="3000" dirty="0"/></a:p></p:txBody></p:sp><p:sp><p:nvSpPr><p:cNvPr id="16" name="Text 14"></p:cNvPr><p:cNvSpPr/><p:nvPr></p:nvPr></p:nvSpPr><p:spPr><a:xfrm><a:off x="6873088" y="4293870"/><a:ext cx="4404208" cy="1695450"/></a:xfrm><a:prstGeom prst="rect"><a:avLst></a:avLst></a:prstGeom><a:noFill/><a:ln></a:ln></p:spPr><p:txBody><a:bodyPr wrap="square" rtlCol="0" anchor="t"></a:bodyPr><a:lstStyle/><a:p><a:pPr indent="0" marL="0"><a:lnSpc><a:spcPts val="2000"/></a:lnSpc><a:buNone/></a:pPr><a:r><a:rPr lang="en-US" sz="1300" dirty="0"><a:solidFill><a:srgbClr val="5C5C59"/></a:solidFill><a:latin typeface="Inter" pitchFamily="34" charset="0"/><a:ea typeface="Inter" pitchFamily="34" charset="-122"/><a:cs typeface="Inter" pitchFamily="34" charset="-120"/></a:rPr><a:t>Millions per month must survive vibration, heat, fast charge 2030 small defects turn catastrophic.</a:t></a:r><a:endParaRPr lang="en-US" sz="1300" dirty="0"/></a:p></p:txBody></p:sp><p:sp><p:nvSpPr><p:cNvPr id="17" name="Shape 15"></p:cNvPr><p:cNvSpPr/><p:nvPr></p:nvPr></p:nvSpPr><p:spPr><a:xfrm rot="5400000"><a:off x="5958688" y="4254627"/><a:ext cx="274320" cy="274320"/></a:xfrm><a:prstGeom prst="triangle"><a:avLst></a:avLst></a:prstGeom><a:solidFill><a:srgbClr val="C05D4E"/></a:solidFill><a:ln></a:ln></p:spPr></p:sp><p:pic>  <p:nvPicPr><p:cNvPr id="18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19" name="Text 16"></p:cNvPr><p:cNvSpPr/><p:nvPr></p:nvPr></p:nvSpPr><p:spPr><a:xfrm><a:off x="640080" y="6327648"/><a:ext cx="5943600" cy="274320"/></a:xfrm><a:prstGeom prst="rect"><a:avLst></a:avLst></a:prstGeom><a:noFill/><a:ln></a:ln></p:spPr><p:txBody><a:bodyPr wrap="square" rtlCol="0" anchor="ctr"></a:bodyPr><a:lstStyle/><a:p><a:pPr algn="l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Omar Khan</a:t></a:r><a:endParaRPr lang="en-US" sz="900" dirty="0"/></a:p></p:txBody></p:sp><p:sp><p:nvSpPr><p:cNvPr id="20" name="Text 17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10 / 17</a:t></a:r><a:endParaRPr lang="en-US" sz="900" dirty="0"/></a:p></p:txBody></p:sp></p:spTree></p:cSld><p:clrMapOvr><a:masterClrMapping/></p:clrMapOvr></p:sld>
</file>

<file path=ppt/slides/slide1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1"><p:bg><p:bgPr><a:solidFill><a:srgbClr val="EBEBE6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640080" y="621792"/><a:ext cx="822960" cy="91440"/></a:xfrm><a:prstGeom prst="rect"><a:avLst></a:avLst></a:prstGeom><a:solidFill><a:srgbClr val="C05D4E"/></a:solidFill><a:ln></a:ln></p:spPr></p:sp><p:sp><p:nvSpPr><p:cNvPr id="3" name="Text 1"></p:cNvPr><p:cNvSpPr/><p:nvPr></p:nvPr></p:nvSpPr><p:spPr><a:xfrm><a:off x="1664208" y="566928"/><a:ext cx="8451112" cy="292608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MANUFACTURING AT SCALE</a:t></a:r><a:endParaRPr lang="en-US" sz="1000" dirty="0"/></a:p></p:txBody></p:sp><p:sp><p:nvSpPr><p:cNvPr id="4" name="Text 2"></p:cNvPr><p:cNvSpPr/><p:nvPr></p:nvPr></p:nvSpPr><p:spPr><a:xfrm><a:off x="640080" y="1188720"/><a:ext cx="9475240" cy="899160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Every solid electrolyte trades yield for performance</a:t></a:r><a:endParaRPr lang="en-US" sz="3000" dirty="0"/></a:p></p:txBody></p:sp><p:sp><p:nvSpPr><p:cNvPr id="5" name="Shape 3"></p:cNvPr><p:cNvSpPr/><p:nvPr></p:nvPr></p:nvSpPr><p:spPr><a:xfrm><a:off x="640080" y="2142744"/><a:ext cx="10911535" cy="13716"/></a:xfrm><a:prstGeom prst="rect"><a:avLst></a:avLst></a:prstGeom><a:solidFill><a:srgbClr val="D8D8D2"/></a:solidFill><a:ln></a:ln></p:spPr></p:sp><p:sp><p:nvSpPr><p:cNvPr id="6" name="Text 4"></p:cNvPr><p:cNvSpPr/><p:nvPr></p:nvPr></p:nvSpPr><p:spPr><a:xfrm><a:off x="640080" y="2307336"/><a:ext cx="10911535" cy="662178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5C5C59"/></a:solidFill><a:latin typeface="Inter" pitchFamily="34" charset="0"/><a:ea typeface="Inter" pitchFamily="34" charset="-122"/><a:cs typeface="Inter" pitchFamily="34" charset="-120"/></a:rPr><a:t>Sulfides demand dry rooms, oxides demand perfection  scale punishes both.</a:t></a:r><a:endParaRPr lang="en-US" sz="1500" dirty="0"/></a:p></p:txBody></p:sp><p:sp><p:nvSpPr><p:cNvPr id="7" name="Text 5"></p:cNvPr><p:cNvSpPr/><p:nvPr></p:nvPr></p:nvSpPr><p:spPr><a:xfrm><a:off x="2926080" y="2969514"/><a:ext cx="2789834" cy="457200"/></a:xfrm><a:prstGeom prst="rect"><a:avLst></a:avLst></a:prstGeom><a:noFill/><a:ln></a:ln></p:spPr><p:txBody><a:bodyPr wrap="square" rtlCol="0" anchor="ctr"></a:bodyPr><a:lstStyle/><a:p><a:pPr algn="ctr" indent="0" marL="0"><a:lnSpc><a:spcPts val="1800"/></a:lnSpc><a:buNone/></a:pPr><a:r><a:rPr lang="en-US" sz="1280" b="1" dirty="0"><a:solidFill><a:srgbClr val="2D2D2A"/></a:solidFill><a:latin typeface="Inter" pitchFamily="34" charset="0"/><a:ea typeface="Inter" pitchFamily="34" charset="-122"/><a:cs typeface="Inter" pitchFamily="34" charset="-120"/></a:rPr><a:t>Sulfide</a:t></a:r><a:endParaRPr lang="en-US" sz="1280" dirty="0"/></a:p></p:txBody></p:sp><p:sp><p:nvSpPr><p:cNvPr id="8" name="Text 6"></p:cNvPr><p:cNvSpPr/><p:nvPr></p:nvPr></p:nvSpPr><p:spPr><a:xfrm><a:off x="5843930" y="2969514"/><a:ext cx="2789834" cy="457200"/></a:xfrm><a:prstGeom prst="rect"><a:avLst></a:avLst></a:prstGeom><a:noFill/><a:ln></a:ln></p:spPr><p:txBody><a:bodyPr wrap="square" rtlCol="0" anchor="ctr"></a:bodyPr><a:lstStyle/><a:p><a:pPr algn="ctr" indent="0" marL="0"><a:lnSpc><a:spcPts val="1800"/></a:lnSpc><a:buNone/></a:pPr><a:r><a:rPr lang="en-US" sz="1280" b="1" dirty="0"><a:solidFill><a:srgbClr val="2D2D2A"/></a:solidFill><a:latin typeface="Inter" pitchFamily="34" charset="0"/><a:ea typeface="Inter" pitchFamily="34" charset="-122"/><a:cs typeface="Inter" pitchFamily="34" charset="-120"/></a:rPr><a:t>Oxide ceramic</a:t></a:r><a:endParaRPr lang="en-US" sz="1280" dirty="0"/></a:p></p:txBody></p:sp><p:sp><p:nvSpPr><p:cNvPr id="9" name="Text 7"></p:cNvPr><p:cNvSpPr/><p:nvPr></p:nvPr></p:nvSpPr><p:spPr><a:xfrm><a:off x="8761781" y="2969514"/><a:ext cx="2789834" cy="457200"/></a:xfrm><a:prstGeom prst="rect"><a:avLst></a:avLst></a:prstGeom><a:noFill/><a:ln></a:ln></p:spPr><p:txBody><a:bodyPr wrap="square" rtlCol="0" anchor="ctr"></a:bodyPr><a:lstStyle/><a:p><a:pPr algn="ctr" indent="0" marL="0"><a:lnSpc><a:spcPts val="1800"/></a:lnSpc><a:buNone/></a:pPr><a:r><a:rPr lang="en-US" sz="1280" b="1" dirty="0"><a:solidFill><a:srgbClr val="2D2D2A"/></a:solidFill><a:latin typeface="Inter" pitchFamily="34" charset="0"/><a:ea typeface="Inter" pitchFamily="34" charset="-122"/><a:cs typeface="Inter" pitchFamily="34" charset="-120"/></a:rPr><a:t>Polymer hybrid</a:t></a:r><a:endParaRPr lang="en-US" sz="1280" dirty="0"/></a:p></p:txBody></p:sp><p:sp><p:nvSpPr><p:cNvPr id="10" name="Text 8"></p:cNvPr><p:cNvSpPr/><p:nvPr></p:nvPr></p:nvSpPr><p:spPr><a:xfrm><a:off x="640080" y="3426714"/><a:ext cx="2286000" cy="412051"/></a:xfrm><a:prstGeom prst="rect"><a:avLst></a:avLst></a:prstGeom><a:noFill/><a:ln></a:ln></p:spPr><p:txBody><a:bodyPr wrap="square" rtlCol="0" anchor="ctr"></a:bodyPr><a:lstStyle/><a:p><a:pPr indent="0" marL="0"><a:lnSpc><a:spcPts val="1300"/></a:lnSpc><a:buNone/></a:pPr><a:r><a:rPr lang="en-US" sz="950" spc="20" kern="0" dirty="0"><a:solidFill><a:srgbClr val="2D2D2A"/></a:solidFill><a:latin typeface="Inter" pitchFamily="34" charset="0"/><a:ea typeface="Inter" pitchFamily="34" charset="-122"/><a:cs typeface="Inter" pitchFamily="34" charset="-120"/></a:rPr><a:t>Yield tolerance (30%)</a:t></a:r><a:endParaRPr lang="en-US" sz="950" dirty="0"/></a:p></p:txBody></p:sp><p:sp><p:nvSpPr><p:cNvPr id="11" name="Shape 9"></p:cNvPr><p:cNvSpPr/><p:nvPr></p:nvPr></p:nvSpPr><p:spPr><a:xfrm><a:off x="3679335" y="3655886"/><a:ext cx="1283324" cy="100584"/></a:xfrm><a:prstGeom prst="roundRect"><a:avLst><a:gd name="adj" fmla="val 50000"/></a:avLst></a:prstGeom><a:solidFill><a:srgbClr val="D8D8D2"/></a:solidFill><a:ln></a:ln></p:spPr></p:sp><p:sp><p:nvSpPr><p:cNvPr id="12" name="Shape 10"></p:cNvPr><p:cNvSpPr/><p:nvPr></p:nvPr></p:nvSpPr><p:spPr><a:xfrm><a:off x="3679335" y="3655886"/><a:ext cx="641662" cy="100584"/></a:xfrm><a:prstGeom prst="roundRect"><a:avLst><a:gd name="adj" fmla="val 50000"/></a:avLst></a:prstGeom><a:solidFill><a:srgbClr val="C05D4E"/></a:solidFill><a:ln></a:ln></p:spPr></p:sp><p:sp><p:nvSpPr><p:cNvPr id="13" name="Text 11"></p:cNvPr><p:cNvSpPr/><p:nvPr></p:nvPr></p:nvSpPr><p:spPr><a:xfrm><a:off x="2926080" y="3426714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2</a:t></a:r><a:endParaRPr lang="en-US" sz="1000" dirty="0"/></a:p></p:txBody></p:sp><p:sp><p:nvSpPr><p:cNvPr id="14" name="Shape 12"></p:cNvPr><p:cNvSpPr/><p:nvPr></p:nvPr></p:nvSpPr><p:spPr><a:xfrm><a:off x="6597186" y="3655886"/><a:ext cx="1283324" cy="100584"/></a:xfrm><a:prstGeom prst="roundRect"><a:avLst><a:gd name="adj" fmla="val 50000"/></a:avLst></a:prstGeom><a:solidFill><a:srgbClr val="D8D8D2"/></a:solidFill><a:ln></a:ln></p:spPr></p:sp><p:sp><p:nvSpPr><p:cNvPr id="15" name="Shape 13"></p:cNvPr><p:cNvSpPr/><p:nvPr></p:nvPr></p:nvSpPr><p:spPr><a:xfrm><a:off x="6597186" y="3655886"/><a:ext cx="320831" cy="100584"/></a:xfrm><a:prstGeom prst="roundRect"><a:avLst><a:gd name="adj" fmla="val 50000"/></a:avLst></a:prstGeom><a:solidFill><a:srgbClr val="C05D4E"/></a:solidFill><a:ln></a:ln></p:spPr></p:sp><p:sp><p:nvSpPr><p:cNvPr id="16" name="Text 14"></p:cNvPr><p:cNvSpPr/><p:nvPr></p:nvPr></p:nvSpPr><p:spPr><a:xfrm><a:off x="5843930" y="3426714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1</a:t></a:r><a:endParaRPr lang="en-US" sz="1000" dirty="0"/></a:p></p:txBody></p:sp><p:sp><p:nvSpPr><p:cNvPr id="17" name="Shape 15"></p:cNvPr><p:cNvSpPr/><p:nvPr></p:nvPr></p:nvSpPr><p:spPr><a:xfrm><a:off x="9515036" y="3655886"/><a:ext cx="1283324" cy="100584"/></a:xfrm><a:prstGeom prst="roundRect"><a:avLst><a:gd name="adj" fmla="val 50000"/></a:avLst></a:prstGeom><a:solidFill><a:srgbClr val="D8D8D2"/></a:solidFill><a:ln></a:ln></p:spPr></p:sp><p:sp><p:nvSpPr><p:cNvPr id="18" name="Shape 16"></p:cNvPr><p:cNvSpPr/><p:nvPr></p:nvPr></p:nvSpPr><p:spPr><a:xfrm><a:off x="9515036" y="3655886"/><a:ext cx="1283324" cy="100584"/></a:xfrm><a:prstGeom prst="roundRect"><a:avLst><a:gd name="adj" fmla="val 50000"/></a:avLst></a:prstGeom><a:solidFill><a:srgbClr val="C05D4E"/></a:solidFill><a:ln></a:ln></p:spPr></p:sp><p:sp><p:nvSpPr><p:cNvPr id="19" name="Text 17"></p:cNvPr><p:cNvSpPr/><p:nvPr></p:nvPr></p:nvSpPr><p:spPr><a:xfrm><a:off x="8761781" y="3426714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4</a:t></a:r><a:endParaRPr lang="en-US" sz="1000" dirty="0"/></a:p></p:txBody></p:sp><p:sp><p:nvSpPr><p:cNvPr id="20" name="Text 18"></p:cNvPr><p:cNvSpPr/><p:nvPr></p:nvPr></p:nvSpPr><p:spPr><a:xfrm><a:off x="640080" y="3966782"/><a:ext cx="2286000" cy="412051"/></a:xfrm><a:prstGeom prst="rect"><a:avLst></a:avLst></a:prstGeom><a:noFill/><a:ln></a:ln></p:spPr><p:txBody><a:bodyPr wrap="square" rtlCol="0" anchor="ctr"></a:bodyPr><a:lstStyle/><a:p><a:pPr indent="0" marL="0"><a:lnSpc><a:spcPts val="1300"/></a:lnSpc><a:buNone/></a:pPr><a:r><a:rPr lang="en-US" sz="950" spc="20" kern="0" dirty="0"><a:solidFill><a:srgbClr val="2D2D2A"/></a:solidFill><a:latin typeface="Inter" pitchFamily="34" charset="0"/><a:ea typeface="Inter" pitchFamily="34" charset="-122"/><a:cs typeface="Inter" pitchFamily="34" charset="-120"/></a:rPr><a:t>Cost at scale (25%)</a:t></a:r><a:endParaRPr lang="en-US" sz="950" dirty="0"/></a:p></p:txBody></p:sp><p:sp><p:nvSpPr><p:cNvPr id="21" name="Shape 19"></p:cNvPr><p:cNvSpPr/><p:nvPr></p:nvPr></p:nvSpPr><p:spPr><a:xfrm><a:off x="3679335" y="4195953"/><a:ext cx="1283324" cy="100584"/></a:xfrm><a:prstGeom prst="roundRect"><a:avLst><a:gd name="adj" fmla="val 50000"/></a:avLst></a:prstGeom><a:solidFill><a:srgbClr val="D8D8D2"/></a:solidFill><a:ln></a:ln></p:spPr></p:sp><p:sp><p:nvSpPr><p:cNvPr id="22" name="Shape 20"></p:cNvPr><p:cNvSpPr/><p:nvPr></p:nvPr></p:nvSpPr><p:spPr><a:xfrm><a:off x="3679335" y="4195953"/><a:ext cx="641662" cy="100584"/></a:xfrm><a:prstGeom prst="roundRect"><a:avLst><a:gd name="adj" fmla="val 50000"/></a:avLst></a:prstGeom><a:solidFill><a:srgbClr val="C05D4E"/></a:solidFill><a:ln></a:ln></p:spPr></p:sp><p:sp><p:nvSpPr><p:cNvPr id="23" name="Text 21"></p:cNvPr><p:cNvSpPr/><p:nvPr></p:nvPr></p:nvSpPr><p:spPr><a:xfrm><a:off x="2926080" y="3966782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2</a:t></a:r><a:endParaRPr lang="en-US" sz="1000" dirty="0"/></a:p></p:txBody></p:sp><p:sp><p:nvSpPr><p:cNvPr id="24" name="Shape 22"></p:cNvPr><p:cNvSpPr/><p:nvPr></p:nvPr></p:nvSpPr><p:spPr><a:xfrm><a:off x="6597186" y="4195953"/><a:ext cx="1283324" cy="100584"/></a:xfrm><a:prstGeom prst="roundRect"><a:avLst><a:gd name="adj" fmla="val 50000"/></a:avLst></a:prstGeom><a:solidFill><a:srgbClr val="D8D8D2"/></a:solidFill><a:ln></a:ln></p:spPr></p:sp><p:sp><p:nvSpPr><p:cNvPr id="25" name="Shape 23"></p:cNvPr><p:cNvSpPr/><p:nvPr></p:nvPr></p:nvSpPr><p:spPr><a:xfrm><a:off x="6597186" y="4195953"/><a:ext cx="320831" cy="100584"/></a:xfrm><a:prstGeom prst="roundRect"><a:avLst><a:gd name="adj" fmla="val 50000"/></a:avLst></a:prstGeom><a:solidFill><a:srgbClr val="C05D4E"/></a:solidFill><a:ln></a:ln></p:spPr></p:sp><p:sp><p:nvSpPr><p:cNvPr id="26" name="Text 24"></p:cNvPr><p:cNvSpPr/><p:nvPr></p:nvPr></p:nvSpPr><p:spPr><a:xfrm><a:off x="5843930" y="3966782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1</a:t></a:r><a:endParaRPr lang="en-US" sz="1000" dirty="0"/></a:p></p:txBody></p:sp><p:sp><p:nvSpPr><p:cNvPr id="27" name="Shape 25"></p:cNvPr><p:cNvSpPr/><p:nvPr></p:nvPr></p:nvSpPr><p:spPr><a:xfrm><a:off x="9515036" y="4195953"/><a:ext cx="1283324" cy="100584"/></a:xfrm><a:prstGeom prst="roundRect"><a:avLst><a:gd name="adj" fmla="val 50000"/></a:avLst></a:prstGeom><a:solidFill><a:srgbClr val="D8D8D2"/></a:solidFill><a:ln></a:ln></p:spPr></p:sp><p:sp><p:nvSpPr><p:cNvPr id="28" name="Shape 26"></p:cNvPr><p:cNvSpPr/><p:nvPr></p:nvPr></p:nvSpPr><p:spPr><a:xfrm><a:off x="9515036" y="4195953"/><a:ext cx="1283324" cy="100584"/></a:xfrm><a:prstGeom prst="roundRect"><a:avLst><a:gd name="adj" fmla="val 50000"/></a:avLst></a:prstGeom><a:solidFill><a:srgbClr val="C05D4E"/></a:solidFill><a:ln></a:ln></p:spPr></p:sp><p:sp><p:nvSpPr><p:cNvPr id="29" name="Text 27"></p:cNvPr><p:cNvSpPr/><p:nvPr></p:nvPr></p:nvSpPr><p:spPr><a:xfrm><a:off x="8761781" y="3966782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4</a:t></a:r><a:endParaRPr lang="en-US" sz="1000" dirty="0"/></a:p></p:txBody></p:sp><p:sp><p:nvSpPr><p:cNvPr id="30" name="Text 28"></p:cNvPr><p:cNvSpPr/><p:nvPr></p:nvPr></p:nvSpPr><p:spPr><a:xfrm><a:off x="640080" y="4506849"/><a:ext cx="2286000" cy="412051"/></a:xfrm><a:prstGeom prst="rect"><a:avLst></a:avLst></a:prstGeom><a:noFill/><a:ln></a:ln></p:spPr><p:txBody><a:bodyPr wrap="square" rtlCol="0" anchor="ctr"></a:bodyPr><a:lstStyle/><a:p><a:pPr indent="0" marL="0"><a:lnSpc><a:spcPts val="1300"/></a:lnSpc><a:buNone/></a:pPr><a:r><a:rPr lang="en-US" sz="950" spc="20" kern="0" dirty="0"><a:solidFill><a:srgbClr val="2D2D2A"/></a:solidFill><a:latin typeface="Inter" pitchFamily="34" charset="0"/><a:ea typeface="Inter" pitchFamily="34" charset="-122"/><a:cs typeface="Inter" pitchFamily="34" charset="-120"/></a:rPr><a:t>Stack pressure (20%)</a:t></a:r><a:endParaRPr lang="en-US" sz="950" dirty="0"/></a:p></p:txBody></p:sp><p:sp><p:nvSpPr><p:cNvPr id="31" name="Shape 29"></p:cNvPr><p:cNvSpPr/><p:nvPr></p:nvPr></p:nvSpPr><p:spPr><a:xfrm><a:off x="3679335" y="4736020"/><a:ext cx="1283324" cy="100584"/></a:xfrm><a:prstGeom prst="roundRect"><a:avLst><a:gd name="adj" fmla="val 50000"/></a:avLst></a:prstGeom><a:solidFill><a:srgbClr val="D8D8D2"/></a:solidFill><a:ln></a:ln></p:spPr></p:sp><p:sp><p:nvSpPr><p:cNvPr id="32" name="Shape 30"></p:cNvPr><p:cNvSpPr/><p:nvPr></p:nvPr></p:nvSpPr><p:spPr><a:xfrm><a:off x="3679335" y="4736020"/><a:ext cx="641662" cy="100584"/></a:xfrm><a:prstGeom prst="roundRect"><a:avLst><a:gd name="adj" fmla="val 50000"/></a:avLst></a:prstGeom><a:solidFill><a:srgbClr val="C05D4E"/></a:solidFill><a:ln></a:ln></p:spPr></p:sp><p:sp><p:nvSpPr><p:cNvPr id="33" name="Text 31"></p:cNvPr><p:cNvSpPr/><p:nvPr></p:nvPr></p:nvSpPr><p:spPr><a:xfrm><a:off x="2926080" y="4506849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2</a:t></a:r><a:endParaRPr lang="en-US" sz="1000" dirty="0"/></a:p></p:txBody></p:sp><p:sp><p:nvSpPr><p:cNvPr id="34" name="Shape 32"></p:cNvPr><p:cNvSpPr/><p:nvPr></p:nvPr></p:nvSpPr><p:spPr><a:xfrm><a:off x="6597186" y="4736020"/><a:ext cx="1283324" cy="100584"/></a:xfrm><a:prstGeom prst="roundRect"><a:avLst><a:gd name="adj" fmla="val 50000"/></a:avLst></a:prstGeom><a:solidFill><a:srgbClr val="D8D8D2"/></a:solidFill><a:ln></a:ln></p:spPr></p:sp><p:sp><p:nvSpPr><p:cNvPr id="35" name="Shape 33"></p:cNvPr><p:cNvSpPr/><p:nvPr></p:nvPr></p:nvSpPr><p:spPr><a:xfrm><a:off x="6597186" y="4736020"/><a:ext cx="320831" cy="100584"/></a:xfrm><a:prstGeom prst="roundRect"><a:avLst><a:gd name="adj" fmla="val 50000"/></a:avLst></a:prstGeom><a:solidFill><a:srgbClr val="C05D4E"/></a:solidFill><a:ln></a:ln></p:spPr></p:sp><p:sp><p:nvSpPr><p:cNvPr id="36" name="Text 34"></p:cNvPr><p:cNvSpPr/><p:nvPr></p:nvPr></p:nvSpPr><p:spPr><a:xfrm><a:off x="5843930" y="4506849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1</a:t></a:r><a:endParaRPr lang="en-US" sz="1000" dirty="0"/></a:p></p:txBody></p:sp><p:sp><p:nvSpPr><p:cNvPr id="37" name="Shape 35"></p:cNvPr><p:cNvSpPr/><p:nvPr></p:nvPr></p:nvSpPr><p:spPr><a:xfrm><a:off x="9515036" y="4736020"/><a:ext cx="1283324" cy="100584"/></a:xfrm><a:prstGeom prst="roundRect"><a:avLst><a:gd name="adj" fmla="val 50000"/></a:avLst></a:prstGeom><a:solidFill><a:srgbClr val="D8D8D2"/></a:solidFill><a:ln></a:ln></p:spPr></p:sp><p:sp><p:nvSpPr><p:cNvPr id="38" name="Shape 36"></p:cNvPr><p:cNvSpPr/><p:nvPr></p:nvPr></p:nvSpPr><p:spPr><a:xfrm><a:off x="9515036" y="4736020"/><a:ext cx="1283324" cy="100584"/></a:xfrm><a:prstGeom prst="roundRect"><a:avLst><a:gd name="adj" fmla="val 50000"/></a:avLst></a:prstGeom><a:solidFill><a:srgbClr val="C05D4E"/></a:solidFill><a:ln></a:ln></p:spPr></p:sp><p:sp><p:nvSpPr><p:cNvPr id="39" name="Text 37"></p:cNvPr><p:cNvSpPr/><p:nvPr></p:nvPr></p:nvSpPr><p:spPr><a:xfrm><a:off x="8761781" y="4506849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4</a:t></a:r><a:endParaRPr lang="en-US" sz="1000" dirty="0"/></a:p></p:txBody></p:sp><p:sp><p:nvSpPr><p:cNvPr id="40" name="Text 38"></p:cNvPr><p:cNvSpPr/><p:nvPr></p:nvPr></p:nvSpPr><p:spPr><a:xfrm><a:off x="640080" y="5046917"/><a:ext cx="2286000" cy="412051"/></a:xfrm><a:prstGeom prst="rect"><a:avLst></a:avLst></a:prstGeom><a:noFill/><a:ln></a:ln></p:spPr><p:txBody><a:bodyPr wrap="square" rtlCol="0" anchor="ctr"></a:bodyPr><a:lstStyle/><a:p><a:pPr indent="0" marL="0"><a:lnSpc><a:spcPts val="1300"/></a:lnSpc><a:buNone/></a:pPr><a:r><a:rPr lang="en-US" sz="950" spc="20" kern="0" dirty="0"><a:solidFill><a:srgbClr val="2D2D2A"/></a:solidFill><a:latin typeface="Inter" pitchFamily="34" charset="0"/><a:ea typeface="Inter" pitchFamily="34" charset="-122"/><a:cs typeface="Inter" pitchFamily="34" charset="-120"/></a:rPr><a:t>Moisture tolerance (25%)</a:t></a:r><a:endParaRPr lang="en-US" sz="950" dirty="0"/></a:p></p:txBody></p:sp><p:sp><p:nvSpPr><p:cNvPr id="41" name="Shape 39"></p:cNvPr><p:cNvSpPr/><p:nvPr></p:nvPr></p:nvSpPr><p:spPr><a:xfrm><a:off x="3679335" y="5276088"/><a:ext cx="1283324" cy="100584"/></a:xfrm><a:prstGeom prst="roundRect"><a:avLst><a:gd name="adj" fmla="val 50000"/></a:avLst></a:prstGeom><a:solidFill><a:srgbClr val="D8D8D2"/></a:solidFill><a:ln></a:ln></p:spPr></p:sp><p:sp><p:nvSpPr><p:cNvPr id="42" name="Shape 40"></p:cNvPr><p:cNvSpPr/><p:nvPr></p:nvPr></p:nvSpPr><p:spPr><a:xfrm><a:off x="3679335" y="5276088"/><a:ext cx="320831" cy="100584"/></a:xfrm><a:prstGeom prst="roundRect"><a:avLst><a:gd name="adj" fmla="val 50000"/></a:avLst></a:prstGeom><a:solidFill><a:srgbClr val="C05D4E"/></a:solidFill><a:ln></a:ln></p:spPr></p:sp><p:sp><p:nvSpPr><p:cNvPr id="43" name="Text 41"></p:cNvPr><p:cNvSpPr/><p:nvPr></p:nvPr></p:nvSpPr><p:spPr><a:xfrm><a:off x="2926080" y="5046917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1</a:t></a:r><a:endParaRPr lang="en-US" sz="1000" dirty="0"/></a:p></p:txBody></p:sp><p:sp><p:nvSpPr><p:cNvPr id="44" name="Shape 42"></p:cNvPr><p:cNvSpPr/><p:nvPr></p:nvPr></p:nvSpPr><p:spPr><a:xfrm><a:off x="6597186" y="5276088"/><a:ext cx="1283324" cy="100584"/></a:xfrm><a:prstGeom prst="roundRect"><a:avLst><a:gd name="adj" fmla="val 50000"/></a:avLst></a:prstGeom><a:solidFill><a:srgbClr val="D8D8D2"/></a:solidFill><a:ln></a:ln></p:spPr></p:sp><p:sp><p:nvSpPr><p:cNvPr id="45" name="Shape 43"></p:cNvPr><p:cNvSpPr/><p:nvPr></p:nvPr></p:nvSpPr><p:spPr><a:xfrm><a:off x="6597186" y="5276088"/><a:ext cx="962493" cy="100584"/></a:xfrm><a:prstGeom prst="roundRect"><a:avLst><a:gd name="adj" fmla="val 50000"/></a:avLst></a:prstGeom><a:solidFill><a:srgbClr val="C05D4E"/></a:solidFill><a:ln></a:ln></p:spPr></p:sp><p:sp><p:nvSpPr><p:cNvPr id="46" name="Text 44"></p:cNvPr><p:cNvSpPr/><p:nvPr></p:nvPr></p:nvSpPr><p:spPr><a:xfrm><a:off x="5843930" y="5046917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3</a:t></a:r><a:endParaRPr lang="en-US" sz="1000" dirty="0"/></a:p></p:txBody></p:sp><p:sp><p:nvSpPr><p:cNvPr id="47" name="Shape 45"></p:cNvPr><p:cNvSpPr/><p:nvPr></p:nvPr></p:nvSpPr><p:spPr><a:xfrm><a:off x="9515036" y="5276088"/><a:ext cx="1283324" cy="100584"/></a:xfrm><a:prstGeom prst="roundRect"><a:avLst><a:gd name="adj" fmla="val 50000"/></a:avLst></a:prstGeom><a:solidFill><a:srgbClr val="D8D8D2"/></a:solidFill><a:ln></a:ln></p:spPr></p:sp><p:sp><p:nvSpPr><p:cNvPr id="48" name="Shape 46"></p:cNvPr><p:cNvSpPr/><p:nvPr></p:nvPr></p:nvSpPr><p:spPr><a:xfrm><a:off x="9515036" y="5276088"/><a:ext cx="1283324" cy="100584"/></a:xfrm><a:prstGeom prst="roundRect"><a:avLst><a:gd name="adj" fmla="val 50000"/></a:avLst></a:prstGeom><a:solidFill><a:srgbClr val="C05D4E"/></a:solidFill><a:ln></a:ln></p:spPr></p:sp><p:sp><p:nvSpPr><p:cNvPr id="49" name="Text 47"></p:cNvPr><p:cNvSpPr/><p:nvPr></p:nvPr></p:nvSpPr><p:spPr><a:xfrm><a:off x="8761781" y="5046917"/><a:ext cx="2789834" cy="192595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4</a:t></a:r><a:endParaRPr lang="en-US" sz="1000" dirty="0"/></a:p></p:txBody></p:sp><p:sp><p:nvSpPr><p:cNvPr id="50" name="Shape 48"></p:cNvPr><p:cNvSpPr/><p:nvPr></p:nvPr></p:nvSpPr><p:spPr><a:xfrm><a:off x="640080" y="5513832"/><a:ext cx="10911535" cy="18288"/></a:xfrm><a:prstGeom prst="rect"><a:avLst></a:avLst></a:prstGeom><a:solidFill><a:srgbClr val="D8D8D2"/></a:solidFill><a:ln></a:ln></p:spPr></p:sp><p:sp><p:nvSpPr><p:cNvPr id="51" name="Text 49"></p:cNvPr><p:cNvSpPr/><p:nvPr></p:nvPr></p:nvSpPr><p:spPr><a:xfrm><a:off x="640080" y="5586984"/><a:ext cx="2286000" cy="502920"/></a:xfrm><a:prstGeom prst="rect"><a:avLst></a:avLst></a:prstGeom><a:noFill/><a:ln></a:ln></p:spPr><p:txBody><a:bodyPr wrap="square" rtlCol="0" anchor="ctr"></a:bodyPr><a:lstStyle/><a:p><a:pPr indent="0" marL="0"><a:lnSpc><a:spcPts val="1400"/></a:lnSpc><a:buNone/></a:pPr><a:r><a:rPr lang="en-US" sz="1000" b="1" spc="20" kern="0" dirty="0"><a:solidFill><a:srgbClr val="2D2D2A"/></a:solidFill><a:latin typeface="Inter" pitchFamily="34" charset="0"/><a:ea typeface="Inter" pitchFamily="34" charset="-122"/><a:cs typeface="Inter" pitchFamily="34" charset="-120"/></a:rPr><a:t>Total</a:t></a:r><a:endParaRPr lang="en-US" sz="1000" dirty="0"/></a:p></p:txBody></p:sp><p:sp><p:nvSpPr><p:cNvPr id="52" name="Text 50"></p:cNvPr><p:cNvSpPr/><p:nvPr></p:nvPr></p:nvSpPr><p:spPr><a:xfrm><a:off x="2926080" y="5586984"/><a:ext cx="2789834" cy="502920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C05D4E"/></a:solidFill><a:latin typeface="Inter" pitchFamily="34" charset="0"/><a:ea typeface="Inter" pitchFamily="34" charset="-122"/><a:cs typeface="Inter" pitchFamily="34" charset="-120"/></a:rPr><a:t>175</a:t></a:r><a:endParaRPr lang="en-US" sz="1000" dirty="0"/></a:p></p:txBody></p:sp><p:sp><p:nvSpPr><p:cNvPr id="53" name="Text 51"></p:cNvPr><p:cNvSpPr/><p:nvPr></p:nvPr></p:nvSpPr><p:spPr><a:xfrm><a:off x="5843930" y="5586984"/><a:ext cx="2789834" cy="502920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C05D4E"/></a:solidFill><a:latin typeface="Inter" pitchFamily="34" charset="0"/><a:ea typeface="Inter" pitchFamily="34" charset="-122"/><a:cs typeface="Inter" pitchFamily="34" charset="-120"/></a:rPr><a:t>150</a:t></a:r><a:endParaRPr lang="en-US" sz="1000" dirty="0"/></a:p></p:txBody></p:sp><p:sp><p:nvSpPr><p:cNvPr id="54" name="Text 52"></p:cNvPr><p:cNvSpPr/><p:nvPr></p:nvPr></p:nvSpPr><p:spPr><a:xfrm><a:off x="8761781" y="5586984"/><a:ext cx="2789834" cy="502920"/></a:xfrm><a:prstGeom prst="rect"><a:avLst></a:avLst></a:prstGeom><a:noFill/><a:ln></a:ln></p:spPr><p:txBody><a:bodyPr wrap="square" rtlCol="0" anchor="ctr"></a:bodyPr><a:lstStyle/><a:p><a:pPr algn="ctr" indent="0" marL="0"><a:lnSpc><a:spcPts val="1400"/></a:lnSpc><a:buNone/></a:pPr><a:r><a:rPr lang="en-US" sz="1000" b="1" spc="20" kern="0" dirty="0"><a:solidFill><a:srgbClr val="C05D4E"/></a:solidFill><a:latin typeface="Inter" pitchFamily="34" charset="0"/><a:ea typeface="Inter" pitchFamily="34" charset="-122"/><a:cs typeface="Inter" pitchFamily="34" charset="-120"/></a:rPr><a:t>400</a:t></a:r><a:endParaRPr lang="en-US" sz="1000" dirty="0"/></a:p></p:txBody></p:sp><p:pic>  <p:nvPicPr><p:cNvPr id="55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56" name="Text 53"></p:cNvPr><p:cNvSpPr/><p:nvPr></p:nvPr></p:nvSpPr><p:spPr><a:xfrm><a:off x="640080" y="6327648"/><a:ext cx="5943600" cy="274320"/></a:xfrm><a:prstGeom prst="rect"><a:avLst></a:avLst></a:prstGeom><a:noFill/><a:ln></a:ln></p:spPr><p:txBody><a:bodyPr wrap="square" rtlCol="0" anchor="ctr"></a:bodyPr><a:lstStyle/><a:p><a:pPr algn="l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Omar Khan</a:t></a:r><a:endParaRPr lang="en-US" sz="900" dirty="0"/></a:p></p:txBody></p:sp><p:sp><p:nvSpPr><p:cNvPr id="57" name="Text 54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11 / 17</a:t></a:r><a:endParaRPr lang="en-US" sz="900" dirty="0"/></a:p></p:txBody></p:sp></p:spTree></p:cSld><p:clrMapOvr><a:masterClrMapping/></p:clrMapOvr></p:sld>
</file>

<file path=ppt/slides/slide1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2"><p:bg><p:bgPr><a:solidFill><a:srgbClr val="C05D4E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2606040"/><a:ext cx="10911535" cy="310896"/></a:xfrm><a:prstGeom prst="rect"><a:avLst></a:avLst></a:prstGeom><a:noFill/><a:ln></a:ln></p:spPr><p:txBody><a:bodyPr wrap="square" rtlCol="0" anchor="ctr"></a:bodyPr><a:lstStyle/><a:p><a:pPr indent="0" marL="0"><a:lnSpc><a:spcPts val="1200"/></a:lnSpc><a:buNone/></a:pPr><a:r><a:rPr lang="en-US" sz="1000" b="1" spc="120" kern="0" dirty="0"><a:solidFill><a:srgbClr val="F2DCD7"/></a:solidFill><a:latin typeface="Inter" pitchFamily="34" charset="0"/><a:ea typeface="Inter" pitchFamily="34" charset="-122"/><a:cs typeface="Inter" pitchFamily="34" charset="-120"/></a:rPr><a:t>03</a:t></a:r><a:endParaRPr lang="en-US" sz="1000" dirty="0"/></a:p></p:txBody></p:sp><p:sp><p:nvSpPr><p:cNvPr id="3" name="Shape 1"></p:cNvPr><p:cNvSpPr/><p:nvPr></p:nvPr></p:nvSpPr><p:spPr><a:xfrm><a:off x="640080" y="3008376"/><a:ext cx="914400" cy="45720"/></a:xfrm><a:prstGeom prst="rect"><a:avLst></a:avLst></a:prstGeom><a:solidFill><a:srgbClr val="F2DCD7"/></a:solidFill><a:ln></a:ln></p:spPr></p:sp><p:sp><p:nvSpPr><p:cNvPr id="4" name="Text 2"></p:cNvPr><p:cNvSpPr/><p:nvPr></p:nvPr></p:nvSpPr><p:spPr><a:xfrm><a:off x="640080" y="3227832"/><a:ext cx="10911535" cy="1051560"/></a:xfrm><a:prstGeom prst="rect"><a:avLst></a:avLst></a:prstGeom><a:noFill/><a:ln></a:ln></p:spPr><p:txBody><a:bodyPr wrap="square" rtlCol="0" anchor="t"></a:bodyPr><a:lstStyle/><a:p><a:pPr indent="0" marL="0"><a:lnSpc><a:spcPts val="3600"/></a:lnSpc><a:buNone/></a:pPr><a:r><a:rPr lang="en-US" sz="3200" b="1" spc="-50" kern="0" dirty="0"><a:solidFill><a:srgbClr val="FFFFFF"/></a:solidFill><a:latin typeface="Merriweather" pitchFamily="34" charset="0"/><a:ea typeface="Merriweather" pitchFamily="34" charset="-122"/><a:cs typeface="Merriweather" pitchFamily="34" charset="-120"/></a:rPr><a:t>Disruption Starts Where Cost Matters Least</a:t></a:r><a:endParaRPr lang="en-US" sz="3200" dirty="0"/></a:p></p:txBody></p:sp><p:sp><p:nvSpPr><p:cNvPr id="5" name="Text 3"></p:cNvPr><p:cNvSpPr/><p:nvPr></p:nvPr></p:nvSpPr><p:spPr><a:xfrm><a:off x="640080" y="4233672"/><a:ext cx="7201613" cy="8229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F2DCD7"/></a:solidFill><a:latin typeface="Inter" pitchFamily="34" charset="0"/><a:ea typeface="Inter" pitchFamily="34" charset="-122"/><a:cs typeface="Inter" pitchFamily="34" charset="-120"/></a:rPr><a:t>Racing and aviation first, premium cars next, mass market when cost falls  the three-phase launch.</a:t></a:r><a:endParaRPr lang="en-US" sz="1500" dirty="0"/></a:p></p:txBody></p:sp><p:pic>  <p:nvPicPr><p:cNvPr id="6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7" name="Text 4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FFFFFF"/></a:solidFill><a:latin typeface="Inter" pitchFamily="34" charset="0"/><a:ea typeface="Inter" pitchFamily="34" charset="-122"/><a:cs typeface="Inter" pitchFamily="34" charset="-120"/></a:rPr><a:t>12 / 17</a:t></a:r><a:endParaRPr lang="en-US" sz="900" dirty="0"/></a:p></p:txBody></p:sp></p:spTree></p:cSld><p:clrMapOvr><a:masterClrMapping/></p:clrMapOvr></p:sld>
</file>

<file path=ppt/slides/slide1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3"><p:bg><p:bgPr><a:solidFill><a:srgbClr val="EBEBE6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640080" y="621792"/><a:ext cx="822960" cy="91440"/></a:xfrm><a:prstGeom prst="rect"><a:avLst></a:avLst></a:prstGeom><a:solidFill><a:srgbClr val="C05D4E"/></a:solidFill><a:ln></a:ln></p:spPr></p:sp><p:sp><p:nvSpPr><p:cNvPr id="3" name="Text 1"></p:cNvPr><p:cNvSpPr/><p:nvPr></p:nvPr></p:nvSpPr><p:spPr><a:xfrm><a:off x="1664208" y="566928"/><a:ext cx="8451112" cy="292608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MARKET DEPLOYMENT PATH</a:t></a:r><a:endParaRPr lang="en-US" sz="1000" dirty="0"/></a:p></p:txBody></p:sp><p:sp><p:nvSpPr><p:cNvPr id="4" name="Text 2"></p:cNvPr><p:cNvSpPr/><p:nvPr></p:nvPr></p:nvSpPr><p:spPr><a:xfrm><a:off x="640080" y="1188720"/><a:ext cx="9475240" cy="449580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Low Reuse Forces a Premium-First Entry Path</a:t></a:r><a:endParaRPr lang="en-US" sz="3000" dirty="0"/></a:p></p:txBody></p:sp><p:sp><p:nvSpPr><p:cNvPr id="5" name="Shape 3"></p:cNvPr><p:cNvSpPr/><p:nvPr></p:nvPr></p:nvSpPr><p:spPr><a:xfrm><a:off x="640080" y="1693164"/><a:ext cx="10911535" cy="13716"/></a:xfrm><a:prstGeom prst="rect"><a:avLst></a:avLst></a:prstGeom><a:solidFill><a:srgbClr val="D8D8D2"/></a:solidFill><a:ln></a:ln></p:spPr></p:sp><p:sp><p:nvSpPr><p:cNvPr id="6" name="Text 4"></p:cNvPr><p:cNvSpPr/><p:nvPr></p:nvPr></p:nvSpPr><p:spPr><a:xfrm><a:off x="640080" y="1857756"/><a:ext cx="10911535" cy="662178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5C5C59"/></a:solidFill><a:latin typeface="Inter" pitchFamily="34" charset="0"/><a:ea typeface="Inter" pitchFamily="34" charset="-122"/><a:cs typeface="Inter" pitchFamily="34" charset="-120"/></a:rPr><a:t>With only 40% of LIB tools reusable and a MW pilot at 500M-1B, solid-state must start where performance beats price.</a:t></a:r><a:endParaRPr lang="en-US" sz="1500" dirty="0"/></a:p></p:txBody></p:sp><p:graphicFrame> <p:nvGraphicFramePr>   <p:cNvPr id="7" name="Chart 0" descr=""/>   <p:cNvGraphicFramePr/>   <p:nvPr></p:nvPr> </p:nvGraphicFramePr> <p:xfrm><a:off x="640080" y="2519934"/><a:ext cx="6874267" cy="3743706"/></p:xfrm> <a:graphic xmlns:a="http://schemas.openxmlformats.org/drawingml/2006/main">  <a:graphicData uri="http://schemas.openxmlformats.org/drawingml/2006/chart">   <c:chart r:id="rId1" xmlns:c="http://schemas.openxmlformats.org/drawingml/2006/chart"/>  </a:graphicData> </a:graphic></p:graphicFrame><p:sp><p:nvSpPr><p:cNvPr id="8" name="Shape 5"></p:cNvPr><p:cNvSpPr/><p:nvPr></p:nvPr></p:nvSpPr><p:spPr><a:xfrm><a:off x="7788667" y="2666238"/><a:ext cx="36576" cy="384048"/></a:xfrm><a:prstGeom prst="rect"><a:avLst></a:avLst></a:prstGeom><a:solidFill><a:srgbClr val="C05D4E"/></a:solidFill><a:ln></a:ln></p:spPr></p:sp><p:sp><p:nvSpPr><p:cNvPr id="9" name="Text 6"></p:cNvPr><p:cNvSpPr/><p:nvPr></p:nvPr></p:nvSpPr><p:spPr><a:xfrm><a:off x="7953259" y="2611374"/><a:ext cx="3598356" cy="822960"/></a:xfrm><a:prstGeom prst="rect"><a:avLst></a:avLst></a:prstGeom><a:noFill/><a:ln></a:ln></p:spPr><p:txBody><a:bodyPr wrap="square" rtlCol="0" anchor="t"></a:bodyPr><a:lstStyle/><a:p><a:pPr indent="0" marL="0"><a:lnSpc><a:spcPts val="1800"/></a:lnSpc><a:buNone/></a:pPr><a:r><a:rPr lang="en-US" sz="1170" dirty="0"><a:solidFill><a:srgbClr val="2D2D2A"/></a:solidFill><a:latin typeface="Inter" pitchFamily="34" charset="0"/><a:ea typeface="Inter" pitchFamily="34" charset="-122"/><a:cs typeface="Inter" pitchFamily="34" charset="-120"/></a:rPr><a:t>Only 40% of LIB tools carry over</a:t></a:r><a:endParaRPr lang="en-US" sz="1170" dirty="0"/></a:p></p:txBody></p:sp><p:sp><p:nvSpPr><p:cNvPr id="10" name="Shape 7"></p:cNvPr><p:cNvSpPr/><p:nvPr></p:nvPr></p:nvSpPr><p:spPr><a:xfrm><a:off x="7788667" y="3580638"/><a:ext cx="36576" cy="384048"/></a:xfrm><a:prstGeom prst="rect"><a:avLst></a:avLst></a:prstGeom><a:solidFill><a:srgbClr val="C05D4E"/></a:solidFill><a:ln></a:ln></p:spPr></p:sp><p:sp><p:nvSpPr><p:cNvPr id="11" name="Text 8"></p:cNvPr><p:cNvSpPr/><p:nvPr></p:nvPr></p:nvSpPr><p:spPr><a:xfrm><a:off x="7953259" y="3525774"/><a:ext cx="3598356" cy="822960"/></a:xfrm><a:prstGeom prst="rect"><a:avLst></a:avLst></a:prstGeom><a:noFill/><a:ln></a:ln></p:spPr><p:txBody><a:bodyPr wrap="square" rtlCol="0" anchor="t"></a:bodyPr><a:lstStyle/><a:p><a:pPr indent="0" marL="0"><a:lnSpc><a:spcPts val="1800"/></a:lnSpc><a:buNone/></a:pPr><a:r><a:rPr lang="en-US" sz="1170" dirty="0"><a:solidFill><a:srgbClr val="2D2D2A"/></a:solidFill><a:latin typeface="Inter" pitchFamily="34" charset="0"/><a:ea typeface="Inter" pitchFamily="34" charset="-122"/><a:cs typeface="Inter" pitchFamily="34" charset="-120"/></a:rPr><a:t>MW pilot costs 500M-1B to build</a:t></a:r><a:endParaRPr lang="en-US" sz="1170" dirty="0"/></a:p></p:txBody></p:sp><p:sp><p:nvSpPr><p:cNvPr id="12" name="Shape 9"></p:cNvPr><p:cNvSpPr/><p:nvPr></p:nvPr></p:nvSpPr><p:spPr><a:xfrm><a:off x="7788667" y="4495038"/><a:ext cx="36576" cy="384048"/></a:xfrm><a:prstGeom prst="rect"><a:avLst></a:avLst></a:prstGeom><a:solidFill><a:srgbClr val="C05D4E"/></a:solidFill><a:ln></a:ln></p:spPr></p:sp><p:sp><p:nvSpPr><p:cNvPr id="13" name="Text 10"></p:cNvPr><p:cNvSpPr/><p:nvPr></p:nvPr></p:nvSpPr><p:spPr><a:xfrm><a:off x="7953259" y="4440174"/><a:ext cx="3598356" cy="822960"/></a:xfrm><a:prstGeom prst="rect"><a:avLst></a:avLst></a:prstGeom><a:noFill/><a:ln></a:ln></p:spPr><p:txBody><a:bodyPr wrap="square" rtlCol="0" anchor="t"></a:bodyPr><a:lstStyle/><a:p><a:pPr indent="0" marL="0"><a:lnSpc><a:spcPts val="1800"/></a:lnSpc><a:buNone/></a:pPr><a:r><a:rPr lang="en-US" sz="1170" dirty="0"><a:solidFill><a:srgbClr val="2D2D2A"/></a:solidFill><a:latin typeface="Inter" pitchFamily="34" charset="0"/><a:ea typeface="Inter" pitchFamily="34" charset="-122"/><a:cs typeface="Inter" pitchFamily="34" charset="-120"/></a:rPr><a:t>China holds &gt;50% of LIB supply today</a:t></a:r><a:endParaRPr lang="en-US" sz="1170" dirty="0"/></a:p></p:txBody></p:sp><p:pic>  <p:nvPicPr><p:cNvPr id="14" name="Image 0" descr="/home/deepnar/Programs/presentations/brand/generated/crest.png">    </p:cNvPr>    <p:cNvPicPr><a:picLocks noChangeAspect="1"/></p:cNvPicPr>    <p:nvPr></p:nvPr>  </p:nvPicPr><p:blipFill><a:blip r:embed="rId2"></a:blip>  <a:stretch><a:fillRect/></a:stretch></p:blipFill><p:spPr> <a:xfrm>  <a:off x="10984000" y="237744"/>  <a:ext cx="704776" cy="749808"/> </a:xfrm> <a:prstGeom prst="rect"><a:avLst/></a:prstGeom></p:spPr></p:pic><p:sp><p:nvSpPr><p:cNvPr id="15" name="Text 11"></p:cNvPr><p:cNvSpPr/><p:nvPr></p:nvPr></p:nvSpPr><p:spPr><a:xfrm><a:off x="640080" y="6327648"/><a:ext cx="5943600" cy="274320"/></a:xfrm><a:prstGeom prst="rect"><a:avLst></a:avLst></a:prstGeom><a:noFill/><a:ln></a:ln></p:spPr><p:txBody><a:bodyPr wrap="square" rtlCol="0" anchor="ctr"></a:bodyPr><a:lstStyle/><a:p><a:pPr algn="l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Priya Nair</a:t></a:r><a:endParaRPr lang="en-US" sz="900" dirty="0"/></a:p></p:txBody></p:sp><p:sp><p:nvSpPr><p:cNvPr id="16" name="Text 12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13 / 17</a:t></a:r><a:endParaRPr lang="en-US" sz="900" dirty="0"/></a:p></p:txBody></p:sp></p:spTree></p:cSld><p:clrMapOvr><a:masterClrMapping/></p:clrMapOvr>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DEPLOYMENT 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Race First, Premium Next, Everyone After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Solid-state enters where performance beats price, then scales to mass market.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46304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Performance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05456" y="2606040"/>
            <a:ext cx="2878226" cy="115824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96896" y="2670048"/>
            <a:ext cx="2695346" cy="496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Racing cells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96896" y="323088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outruns cost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548274" y="2606040"/>
            <a:ext cx="2878226" cy="115824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39714" y="2670048"/>
            <a:ext cx="2695346" cy="496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Aviation entry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39714" y="323088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matters more than price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591093" y="2606040"/>
            <a:ext cx="2878226" cy="115824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2533" y="2670048"/>
            <a:ext cx="2695346" cy="496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eVTOL demonstrators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2533" y="323088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Helicopter-like air taxis test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40080" y="384200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55720"/>
            <a:ext cx="146304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Premium EVs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50794" y="3855720"/>
            <a:ext cx="3108960" cy="115824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2234" y="3919728"/>
            <a:ext cx="2926080" cy="496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High-priced segments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2234" y="4480560"/>
            <a:ext cx="2926080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tops competition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15021" y="3855720"/>
            <a:ext cx="3108960" cy="115824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06461" y="3919728"/>
            <a:ext cx="2926080" cy="496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long range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06461" y="4480560"/>
            <a:ext cx="2926080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 kilometers per charge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0080" y="509168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105400"/>
            <a:ext cx="146304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Disruption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150794" y="5105400"/>
            <a:ext cx="3108960" cy="115824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42234" y="5169408"/>
            <a:ext cx="2926080" cy="496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disruption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2234" y="5730240"/>
            <a:ext cx="2926080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and performance improve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15021" y="5105400"/>
            <a:ext cx="3108960" cy="115824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06461" y="5169408"/>
            <a:ext cx="2926080" cy="496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Trucks and buses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06461" y="5730240"/>
            <a:ext cx="2926080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routes electrify next</a:t>
            </a:r>
            <a:endParaRPr lang="en-US" sz="880" dirty="0"/>
          </a:p>
        </p:txBody>
      </p:sp>
      <p:pic>
        <p:nvPicPr>
          <p:cNvPr id="33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Nair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5"><p:bg><p:bgPr><a:solidFill><a:srgbClr val="EBEBE6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640080" y="621792"/><a:ext cx="822960" cy="91440"/></a:xfrm><a:prstGeom prst="rect"><a:avLst></a:avLst></a:prstGeom><a:solidFill><a:srgbClr val="C05D4E"/></a:solidFill><a:ln></a:ln></p:spPr></p:sp><p:sp><p:nvSpPr><p:cNvPr id="3" name="Text 1"></p:cNvPr><p:cNvSpPr/><p:nvPr></p:nvPr></p:nvSpPr><p:spPr><a:xfrm><a:off x="1664208" y="566928"/><a:ext cx="8451112" cy="292608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MARKET DEPLOYMENT PATH</a:t></a:r><a:endParaRPr lang="en-US" sz="1000" dirty="0"/></a:p></p:txBody></p:sp><p:sp><p:nvSpPr><p:cNvPr id="4" name="Text 2"></p:cNvPr><p:cNvSpPr/><p:nvPr></p:nvPr></p:nvSpPr><p:spPr><a:xfrm><a:off x="640080" y="1188720"/><a:ext cx="9475240" cy="449580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Win Premium Now to Earn the Mass Market Next</a:t></a:r><a:endParaRPr lang="en-US" sz="3000" dirty="0"/></a:p></p:txBody></p:sp><p:sp><p:nvSpPr><p:cNvPr id="5" name="Shape 3"></p:cNvPr><p:cNvSpPr/><p:nvPr></p:nvPr></p:nvSpPr><p:spPr><a:xfrm><a:off x="640080" y="1693164"/><a:ext cx="10911535" cy="13716"/></a:xfrm><a:prstGeom prst="rect"><a:avLst></a:avLst></a:prstGeom><a:solidFill><a:srgbClr val="D8D8D2"/></a:solidFill><a:ln></a:ln></p:spPr></p:sp><p:sp><p:nvSpPr><p:cNvPr id="6" name="Text 4"></p:cNvPr><p:cNvSpPr/><p:nvPr></p:nvPr></p:nvSpPr><p:spPr><a:xfrm><a:off x="640080" y="1857756"/><a:ext cx="10911535" cy="662178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5C5C59"/></a:solidFill><a:latin typeface="Inter" pitchFamily="34" charset="0"/><a:ea typeface="Inter" pitchFamily="34" charset="-122"/><a:cs typeface="Inter" pitchFamily="34" charset="-120"/></a:rPr><a:t>Solid-state earns scale by winning racing, aviation and premium EVs first, then driving cost down to trucks and mass EVs.</a:t></a:r><a:endParaRPr lang="en-US" sz="1500" dirty="0"/></a:p></p:txBody></p:sp><p:sp><p:nvSpPr><p:cNvPr id="7" name="Text 5"></p:cNvPr><p:cNvSpPr/><p:nvPr></p:nvPr></p:nvSpPr><p:spPr><a:xfrm><a:off x="640080" y="2538222"/><a:ext cx="457200" cy="411480"/></a:xfrm><a:prstGeom prst="rect"><a:avLst></a:avLst></a:prstGeom><a:noFill/><a:ln></a:ln></p:spPr><p:txBody><a:bodyPr wrap="square" rtlCol="0" anchor="ctr"></a:bodyPr><a:lstStyle/><a:p><a:pPr algn="l" indent="0" marL="0"><a:lnSpc><a:spcPts val="2200"/></a:lnSpc><a:buNone/></a:pPr><a:r><a:rPr lang="en-US" sz="1500" b="1" dirty="0"><a:solidFill><a:srgbClr val="C05D4E"/></a:solidFill><a:latin typeface="Inter" pitchFamily="34" charset="0"/><a:ea typeface="Inter" pitchFamily="34" charset="-122"/><a:cs typeface="Inter" pitchFamily="34" charset="-120"/></a:rPr><a:t>+</a:t></a:r><a:endParaRPr lang="en-US" sz="1500" dirty="0"/></a:p></p:txBody></p:sp><p:sp><p:nvSpPr><p:cNvPr id="8" name="Text 6"></p:cNvPr><p:cNvSpPr/><p:nvPr></p:nvPr></p:nvSpPr><p:spPr><a:xfrm><a:off x="1024128" y="2519934"/><a:ext cx="4934560" cy="457200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C05D4E"/></a:solidFill><a:latin typeface="Inter" pitchFamily="34" charset="0"/><a:ea typeface="Inter" pitchFamily="34" charset="-122"/><a:cs typeface="Inter" pitchFamily="34" charset="-120"/></a:rPr><a:t>PROS</a:t></a:r><a:endParaRPr lang="en-US" sz="1000" dirty="0"/></a:p></p:txBody></p:sp><p:sp><p:nvSpPr><p:cNvPr id="9" name="Text 7"></p:cNvPr><p:cNvSpPr/><p:nvPr></p:nvPr></p:nvSpPr><p:spPr><a:xfrm><a:off x="6233008" y="2538222"/><a:ext cx="457200" cy="411480"/></a:xfrm><a:prstGeom prst="rect"><a:avLst></a:avLst></a:prstGeom><a:noFill/><a:ln></a:ln></p:spPr><p:txBody><a:bodyPr wrap="square" rtlCol="0" anchor="ctr"></a:bodyPr><a:lstStyle/><a:p><a:pPr algn="l" indent="0" marL="0"><a:lnSpc><a:spcPts val="2200"/></a:lnSpc><a:buNone/></a:pPr><a:r><a:rPr lang="en-US" sz="1500" b="1" dirty="0"><a:solidFill><a:srgbClr val="5C5C59"/></a:solidFill><a:latin typeface="Inter" pitchFamily="34" charset="0"/><a:ea typeface="Inter" pitchFamily="34" charset="-122"/><a:cs typeface="Inter" pitchFamily="34" charset="-120"/></a:rPr><a:t>−</a:t></a:r><a:endParaRPr lang="en-US" sz="1500" dirty="0"/></a:p></p:txBody></p:sp><p:sp><p:nvSpPr><p:cNvPr id="10" name="Text 8"></p:cNvPr><p:cNvSpPr/><p:nvPr></p:nvPr></p:nvSpPr><p:spPr><a:xfrm><a:off x="6617056" y="2519934"/><a:ext cx="4934560" cy="457200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CONS</a:t></a:r><a:endParaRPr lang="en-US" sz="1000" dirty="0"/></a:p></p:txBody></p:sp><p:sp><p:nvSpPr><p:cNvPr id="11" name="Text 9"></p:cNvPr><p:cNvSpPr/><p:nvPr></p:nvPr></p:nvSpPr><p:spPr><a:xfrm><a:off x="896112" y="3114294"/><a:ext cx="4806544" cy="3103626"/></a:xfrm><a:prstGeom prst="rect"><a:avLst></a:avLst></a:prstGeom><a:noFill/><a:ln></a:ln></p:spPr><p:txBody><a:bodyPr wrap="square" rtlCol="0" anchor="t"></a:bodyPr><a:lstStyle/><a:p><a:pPr marL="342900" indent="-342900"><a:lnSpc><a:spcPts val="2000"/></a:lnSpc><a:spcAft><a:spcPts val="800"/></a:spcAft><a:buSzPct val="100000"/><a:buChar char="&#x2013;"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Racing cells win where power beats price sensitivity</a:t></a:r><a:endParaRPr lang="en-US" sz="1300" dirty="0"/></a:p><a:p><a:pPr marL="342900" indent="-342900"><a:lnSpc><a:spcPts val="2000"/></a:lnSpc><a:spcAft><a:spcPts val="800"/></a:spcAft><a:buSzPct val="100000"/><a:buChar char="&#x2013;"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Aviation and eVTOL demonstrators prove safety in abuse</a:t></a:r><a:endParaRPr lang="en-US" sz="1300" dirty="0"/></a:p><a:p><a:pPr marL="342900" indent="-342900"><a:lnSpc><a:spcPts val="2000"/></a:lnSpc><a:spcAft><a:spcPts val="800"/></a:spcAft><a:buSzPct val="100000"/><a:buChar char="&#x2013;"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Premium EVs sell 800km range buyers pay extra for</a:t></a:r><a:endParaRPr lang="en-US" sz="1300" dirty="0"/></a:p><a:p><a:pPr marL="342900" indent="-342900"><a:lnSpc><a:spcPts val="2000"/></a:lnSpc><a:spcAft><a:spcPts val="800"/></a:spcAft><a:buSzPct val="100000"/><a:buChar char="&#x2013;"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Early revenue funds dry rooms and press-free yields</a:t></a:r><a:endParaRPr lang="en-US" sz="1300" dirty="0"/></a:p></p:txBody></p:sp><p:sp><p:nvSpPr><p:cNvPr id="12" name="Text 10"></p:cNvPr><p:cNvSpPr/><p:nvPr></p:nvPr></p:nvSpPr><p:spPr><a:xfrm><a:off x="6489040" y="3114294"/><a:ext cx="4806544" cy="3103626"/></a:xfrm><a:prstGeom prst="rect"><a:avLst></a:avLst></a:prstGeom><a:noFill/><a:ln></a:ln></p:spPr><p:txBody><a:bodyPr wrap="square" rtlCol="0" anchor="t"></a:bodyPr><a:lstStyle/><a:p><a:pPr marL="342900" indent="-342900"><a:lnSpc><a:spcPts val="2000"/></a:lnSpc><a:spcAft><a:spcPts val="800"/></a:spcAft><a:buSzPct val="100000"/><a:buChar char="&#x2013;"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Mass EVs need millions per month without pressure rigs</a:t></a:r><a:endParaRPr lang="en-US" sz="1300" dirty="0"/></a:p><a:p><a:pPr marL="342900" indent="-342900"><a:lnSpc><a:spcPts val="2000"/></a:lnSpc><a:spcAft><a:spcPts val="800"/></a:spcAft><a:buSzPct val="100000"/><a:buChar char="&#x2013;"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Sulfides need dry rooms; oxides need flawless pressing</a:t></a:r><a:endParaRPr lang="en-US" sz="1300" dirty="0"/></a:p><a:p><a:pPr marL="342900" indent="-342900"><a:lnSpc><a:spcPts val="2000"/></a:lnSpc><a:spcAft><a:spcPts val="800"/></a:spcAft><a:buSzPct val="100000"/><a:buChar char="&#x2013;"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Only 40% of LIB tools reusable; pilot costs 500M-1B</a:t></a:r><a:endParaRPr lang="en-US" sz="1300" dirty="0"/></a:p><a:p><a:pPr marL="342900" indent="-342900"><a:lnSpc><a:spcPts val="2000"/></a:lnSpc><a:spcAft><a:spcPts val="800"/></a:spcAft><a:buSzPct val="100000"/><a:buChar char="&#x2013;"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China holds &gt;50% LIB supply until new lines scale</a:t></a:r><a:endParaRPr lang="en-US" sz="1300" dirty="0"/></a:p></p:txBody></p:sp><p:pic>  <p:nvPicPr><p:cNvPr id="13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14" name="Text 11"></p:cNvPr><p:cNvSpPr/><p:nvPr></p:nvPr></p:nvSpPr><p:spPr><a:xfrm><a:off x="640080" y="6327648"/><a:ext cx="5943600" cy="274320"/></a:xfrm><a:prstGeom prst="rect"><a:avLst></a:avLst></a:prstGeom><a:noFill/><a:ln></a:ln></p:spPr><p:txBody><a:bodyPr wrap="square" rtlCol="0" anchor="ctr"></a:bodyPr><a:lstStyle/><a:p><a:pPr algn="l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Priya Nair</a:t></a:r><a:endParaRPr lang="en-US" sz="900" dirty="0"/></a:p></p:txBody></p:sp><p:sp><p:nvSpPr><p:cNvPr id="15" name="Text 12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15 / 17</a:t></a:r><a:endParaRPr lang="en-US" sz="900" dirty="0"/></a:p></p:txBody></p:sp></p:spTree></p:cSld><p:clrMapOvr><a:masterClrMapping/></p:clrMapOvr></p:sld>
</file>

<file path=ppt/slides/slide16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6"><p:bg><p:bgPr><a:solidFill><a:srgbClr val="EBEBE6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640080" y="621792"/><a:ext cx="822960" cy="91440"/></a:xfrm><a:prstGeom prst="rect"><a:avLst></a:avLst></a:prstGeom><a:solidFill><a:srgbClr val="C05D4E"/></a:solidFill><a:ln></a:ln></p:spPr></p:sp><p:sp><p:nvSpPr><p:cNvPr id="3" name="Text 1"></p:cNvPr><p:cNvSpPr/><p:nvPr></p:nvPr></p:nvSpPr><p:spPr><a:xfrm><a:off x="1664208" y="566928"/><a:ext cx="8451112" cy="292608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MARKET DEPLOYMENT PATH</a:t></a:r><a:endParaRPr lang="en-US" sz="1000" dirty="0"/></a:p></p:txBody></p:sp><p:sp><p:nvSpPr><p:cNvPr id="4" name="Text 2"></p:cNvPr><p:cNvSpPr/><p:nvPr></p:nvPr></p:nvSpPr><p:spPr><a:xfrm><a:off x="640080" y="1188720"/><a:ext cx="9475240" cy="449580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Check the Work: Sources Behind the Claims</a:t></a:r><a:endParaRPr lang="en-US" sz="3000" dirty="0"/></a:p></p:txBody></p:sp><p:sp><p:nvSpPr><p:cNvPr id="5" name="Shape 3"></p:cNvPr><p:cNvSpPr/><p:nvPr></p:nvPr></p:nvSpPr><p:spPr><a:xfrm><a:off x="640080" y="1693164"/><a:ext cx="10911535" cy="13716"/></a:xfrm><a:prstGeom prst="rect"><a:avLst></a:avLst></a:prstGeom><a:solidFill><a:srgbClr val="D8D8D2"/></a:solidFill><a:ln></a:ln></p:spPr></p:sp><p:sp><p:nvSpPr><p:cNvPr id="6" name="Text 4"></p:cNvPr><p:cNvSpPr/><p:nvPr></p:nvPr></p:nvSpPr><p:spPr><a:xfrm><a:off x="640080" y="1857756"/><a:ext cx="10911535" cy="662178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5C5C59"/></a:solidFill><a:latin typeface="Inter" pitchFamily="34" charset="0"/><a:ea typeface="Inter" pitchFamily="34" charset="-122"/><a:cs typeface="Inter" pitchFamily="34" charset="-120"/></a:rPr><a:t>White paper, patent data, and press record — verify the physics and market path yourself.</a:t></a:r><a:endParaRPr lang="en-US" sz="1500" dirty="0"/></a:p></p:txBody></p:sp><p:sp><p:nvSpPr><p:cNvPr id="7" name="Text 5"></p:cNvPr><p:cNvSpPr/><p:nvPr></p:nvPr></p:nvSpPr><p:spPr><a:xfrm><a:off x="640080" y="2519934"/><a:ext cx="10911535" cy="3835146"/></a:xfrm><a:prstGeom prst="rect"><a:avLst></a:avLst></a:prstGeom><a:noFill/><a:ln></a:ln></p:spPr><p:txBody><a:bodyPr wrap="square" rtlCol="0" anchor="t"></a:bodyPr><a:lstStyle/><a:p><a:pPr indent="0" marL="0"><a:lnSpc><a:spcPts val="1400"/></a:lnSpc><a:spcAft><a:spcPts val="600"/></a:spcAft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[1] White paper 2 Beyond the Liquid Electrolyte: higher energy density, safety, faster charging shown; asks if cells work reliably, economically at industrial scale.</a:t></a:r><a:endParaRPr lang="en-US" sz="1000" dirty="0"/></a:p><a:p><a:pPr indent="0" marL="0"><a:lnSpc><a:spcPts val="1400"/></a:lnSpc><a:spcAft><a:spcPts val="600"/></a:spcAft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[2] Ion-transport physics: Li+ hops via vacancies and interstitials; perovskite, garnet, argyrodite frameworks set barriers; grain boundaries bottleneck flow.</a:t></a:r><a:endParaRPr lang="en-US" sz="1000" dirty="0"/></a:p><a:p><a:pPr indent="0" marL="0"><a:lnSpc><a:spcPts val="1400"/></a:lnSpc><a:spcAft><a:spcPts val="600"/></a:spcAft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[3] Interface failures: dendrites follow grain boundaries to short; voids and cracks break atomic contact; vibration and thermal mismatch pry joints open.</a:t></a:r><a:endParaRPr lang="en-US" sz="1000" dirty="0"/></a:p><a:p><a:pPr indent="0" marL="0"><a:lnSpc><a:spcPts val="1400"/></a:lnSpc><a:spcAft><a:spcPts val="600"/></a:spcAft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[4] Sulfide vs oxide trade-off: sulfide argyrodites conduct fast but need dry rooms and pressure; oxides endure but need flat, pressed contacts.</a:t></a:r><a:endParaRPr lang="en-US" sz="1000" dirty="0"/></a:p><a:p><a:pPr indent="0" marL="0"><a:lnSpc><a:spcPts val="1400"/></a:lnSpc><a:spcAft><a:spcPts val="600"/></a:spcAft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[5] Porsche Consulting patents 2003-2022: Japan leads solid-state filings, followed by China, US, South Korea; surge in semi-solid and pure-solid.</a:t></a:r><a:endParaRPr lang="en-US" sz="1000" dirty="0"/></a:p><a:p><a:pPr indent="0" marL="0"><a:lnSpc><a:spcPts val="1400"/></a:lnSpc><a:spcAft><a:spcPts val="600"/></a:spcAft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[6] Factory economics: only 40% of LIB tools reusable; MW pilot costs 500M1B; Chinese makers hold over 50% of global LIB market.</a:t></a:r><a:endParaRPr lang="en-US" sz="1000" dirty="0"/></a:p><a:p><a:pPr indent="0" marL="0"><a:lnSpc><a:spcPts val="1400"/></a:lnSpc><a:spcAft><a:spcPts val="600"/></a:spcAft><a:buNone/></a:pPr><a:r><a:rPr lang="en-US" sz="1000" spc="20" kern="0" dirty="0"><a:solidFill><a:srgbClr val="5C5C59"/></a:solidFill><a:latin typeface="Inter" pitchFamily="34" charset="0"/><a:ea typeface="Inter" pitchFamily="34" charset="-122"/><a:cs typeface="Inter" pitchFamily="34" charset="-120"/></a:rPr><a:t>[7] Three-phase launch: Phase 1 racing/aviation, Phase 2 premium EVs toward 800 km range, Phase 3 mass disruption including eVTOL, trucks and buses.</a:t></a:r><a:endParaRPr lang="en-US" sz="1000" dirty="0"/></a:p></p:txBody></p:sp><p:pic>  <p:nvPicPr><p:cNvPr id="8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9" name="Text 6"></p:cNvPr><p:cNvSpPr/><p:nvPr></p:nvPr></p:nvSpPr><p:spPr><a:xfrm><a:off x="640080" y="6327648"/><a:ext cx="5943600" cy="274320"/></a:xfrm><a:prstGeom prst="rect"><a:avLst></a:avLst></a:prstGeom><a:noFill/><a:ln></a:ln></p:spPr><p:txBody><a:bodyPr wrap="square" rtlCol="0" anchor="ctr"></a:bodyPr><a:lstStyle/><a:p><a:pPr algn="l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Priya Nair</a:t></a:r><a:endParaRPr lang="en-US" sz="900" dirty="0"/></a:p></p:txBody></p:sp><p:sp><p:nvSpPr><p:cNvPr id="10" name="Text 7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16 / 17</a:t></a:r><a:endParaRPr lang="en-US" sz="900" dirty="0"/></a:p></p:txBody></p:sp></p:spTree></p:cSld><p:clrMapOvr><a:masterClrMapping/></p:clrMapOvr></p:sld>
</file>

<file path=ppt/slides/slide1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7"><p:bg><p:bgPr><a:solidFill><a:srgbClr val="2D2D2A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1691640"/><a:ext cx="10911535" cy="1554480"/></a:xfrm><a:prstGeom prst="rect"><a:avLst></a:avLst></a:prstGeom><a:noFill/><a:ln></a:ln></p:spPr><p:txBody><a:bodyPr wrap="square" rtlCol="0" anchor="ctr"></a:bodyPr><a:lstStyle/><a:p><a:pPr algn="ctr" indent="0" marL="0"><a:lnSpc><a:spcPts val="4500"/></a:lnSpc><a:buNone/></a:pPr><a:r><a:rPr lang="en-US" sz="4000" b="1" spc="-50" kern="0" dirty="0"><a:solidFill><a:srgbClr val="FFFFFF"/></a:solidFill><a:latin typeface="Merriweather" pitchFamily="34" charset="0"/><a:ea typeface="Merriweather" pitchFamily="34" charset="-122"/><a:cs typeface="Merriweather" pitchFamily="34" charset="-120"/></a:rPr><a:t>Hype Promises the Leap. Engineering Earns It.</a:t></a:r><a:endParaRPr lang="en-US" sz="4000" dirty="0"/></a:p></p:txBody></p:sp><p:sp><p:nvSpPr><p:cNvPr id="3" name="Text 1"></p:cNvPr><p:cNvSpPr/><p:nvPr></p:nvPr></p:nvSpPr><p:spPr><a:xfrm><a:off x="2167695" y="3383280"/><a:ext cx="7856305" cy="603504"/></a:xfrm><a:prstGeom prst="rect"><a:avLst></a:avLst></a:prstGeom><a:noFill/><a:ln></a:ln></p:spPr><p:txBody><a:bodyPr wrap="square" rtlCol="0" anchor="t"></a:bodyPr><a:lstStyle/><a:p><a:pPr algn="ctr" indent="0" marL="0"><a:lnSpc><a:spcPts val="2200"/></a:lnSpc><a:buNone/></a:pPr><a:r><a:rPr lang="en-US" sz="1500" dirty="0"><a:solidFill><a:srgbClr val="A8A8A2"/></a:solidFill><a:latin typeface="Inter" pitchFamily="34" charset="0"/><a:ea typeface="Inter" pitchFamily="34" charset="-122"/><a:cs typeface="Inter" pitchFamily="34" charset="-120"/></a:rPr><a:t>Interfaces, not chemistry, decide when solid-state leaves the lab for the road.</a:t></a:r><a:endParaRPr lang="en-US" sz="1500" dirty="0"/></a:p></p:txBody></p:sp><p:sp><p:nvSpPr><p:cNvPr id="4" name="Text 2"></p:cNvPr><p:cNvSpPr/><p:nvPr></p:nvPr></p:nvSpPr><p:spPr><a:xfrm><a:off x="2167695" y="4096512"/><a:ext cx="7856305" cy="1188720"/></a:xfrm><a:prstGeom prst="rect"><a:avLst></a:avLst></a:prstGeom><a:noFill/><a:ln></a:ln></p:spPr><p:txBody><a:bodyPr wrap="square" rtlCol="0" anchor="t"></a:bodyPr><a:lstStyle/><a:p><a:pPr algn="ctr" indent="0" marL="0"><a:lnSpc><a:spcPts val="2000"/></a:lnSpc><a:buNone/></a:pPr><a:r><a:rPr lang="en-US" sz="1300" dirty="0"><a:solidFill><a:srgbClr val="A8A8A2"/></a:solidFill><a:latin typeface="Inter" pitchFamily="34" charset="0"/><a:ea typeface="Inter" pitchFamily="34" charset="-122"/><a:cs typeface="Inter" pitchFamily="34" charset="-120"/></a:rPr><a:t>Thank you. Solid-state stays perpetually 3~5 years away until hybrid manufacturing makes atomic contact reliable at scale. Informed optimism, disciplined skepticism 2 let&apos;s engineer the interface together.</a:t></a:r><a:endParaRPr lang="en-US" sz="1300" dirty="0"/></a:p></p:txBody></p:sp><p:sp><p:nvSpPr><p:cNvPr id="5" name="Shape 3"></p:cNvPr><p:cNvSpPr/><p:nvPr></p:nvPr></p:nvSpPr><p:spPr><a:xfrm><a:off x="3435344" y="5650992"/><a:ext cx="5321008" cy="548640"/></a:xfrm><a:prstGeom prst="roundRect"><a:avLst><a:gd name="adj" fmla="val 66667"/></a:avLst></a:prstGeom><a:solidFill><a:srgbClr val="D97706"/></a:solidFill><a:ln></a:ln></p:spPr></p:sp><p:sp><p:nvSpPr><p:cNvPr id="6" name="Text 4"></p:cNvPr><p:cNvSpPr/><p:nvPr></p:nvPr></p:nvSpPr><p:spPr><a:xfrm><a:off x="3663944" y="5650992"/><a:ext cx="4863808" cy="548640"/></a:xfrm><a:prstGeom prst="rect"><a:avLst></a:avLst></a:prstGeom><a:noFill/><a:ln></a:ln></p:spPr><p:txBody><a:bodyPr wrap="square" rtlCol="0" anchor="ctr"></a:bodyPr><a:lstStyle/><a:p><a:pPr algn="ctr" indent="0" marL="0"><a:lnSpc><a:spcPts val="2200"/></a:lnSpc><a:buNone/></a:pPr><a:r><a:rPr lang="en-US" sz="1500" dirty="0"><a:solidFill><a:srgbClr val="0A0A0A"/></a:solidFill><a:latin typeface="Inter" pitchFamily="34" charset="0"/><a:ea typeface="Inter" pitchFamily="34" charset="-122"/><a:cs typeface="Inter" pitchFamily="34" charset="-120"/></a:rPr><a:t>Engineer the interface. Earn the scale.</a:t></a:r><a:endParaRPr lang="en-US" sz="1500" dirty="0"/></a:p></p:txBody></p:sp><p:pic>  <p:nvPicPr><p:cNvPr id="7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8" name="Text 5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FFFFFF"/></a:solidFill><a:latin typeface="Inter" pitchFamily="34" charset="0"/><a:ea typeface="Inter" pitchFamily="34" charset="-122"/><a:cs typeface="Inter" pitchFamily="34" charset="-120"/></a:rPr><a:t>17 / 17</a:t></a:r><a:endParaRPr lang="en-US" sz="9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Liquid Electrolyte</dc:title>
  <dc:subject>PptxGenJS Presentation</dc:subject>
  <dc:creator>Leena Shah, Omar Khan, Priya Nair</dc:creator>
  <cp:lastModifiedBy>Leena Shah, Omar Khan, Priya Nair</cp:lastModifiedBy>
  <cp:revision>1</cp:revision>
  <dcterms:created xsi:type="dcterms:W3CDTF">2026-09-09T10:33:22Z</dcterms:created>
  <dcterms:modified xsi:type="dcterms:W3CDTF">2026-09-09T10:33:22Z</dcterms:modified>
</cp:coreProperties>
</file>