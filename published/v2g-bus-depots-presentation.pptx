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Summer peak export per bus</c:v>
                </c:pt>
              </c:strCache>
            </c:strRef>
          </c:tx>
          <c:spPr>
            <a:solidFill>
              <a:srgbClr val="C05D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Inter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Diesel</c:v>
                  </c:pt>
                  <c:pt idx="1">
                    <c:v>Unmanaged charging</c:v>
                  </c:pt>
                  <c:pt idx="2">
                    <c:v>V2G at peak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8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Thesis: buses earn as peak-shaving and backup assets only if dispatch guarantees morning routes first, then optimizes battery, tariff and grid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controls story: managed charging plus bidirectional discharge plus utility dispatch equals virtual power plant.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Promise for this part: every dispatch rule protects rollout. Grid service never strands a morning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what: lock rates, wear limits and training before promising grid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Electricity typically saves vs diesel, but charging at peak or spiking use in one hour or 15-minute interval raises demand charges. National Grid's 2021 Beverly pilot showed the fix: one bus discharged 50+ hours over the summer at highest-priced peak, cutting peaker-plant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[grounding] unverified — not found in your uploaded file: 0.5; 0.3; 0.2
[grounding] unverified — not found in your uploaded file: 0.5; 0.3; 0.2
[grounding] unverified — not found in your uploaded file: 0.5; 0.3; 0.2
[grounding] unverified — not found in your uploaded file: 0.5; 0.3; 0.2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[grounding] unverified — not found in your uploaded file: Repeat White; Repeat White Plains
[grounding] unverified — not found in your uploaded file: Repeat White; Repeat White Plains
[grounding] unverified — not found in your uploaded file: Repeat White; Repeat White Plains
[grounding] unverified — not found in your uploaded file: Repeat White; Repeat White Plains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83080"/>
            <a:ext cx="10911535" cy="2286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45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Bus Depot Is a Virtual Power Plant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519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A8A8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utilities are turning idle school buses into grid batteries — routes, health, tariffs and grid dispatched together.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A8A8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Rohan Das · Mei Joseph · Sara Ali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09320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A8A8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Guide: Dr. Neel Kapoor · Smart Mobility Lab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971032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Electrical Engineering  ·  Final year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988740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CONTROL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11535" cy="449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Parked Buses Can Carry the Peak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316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5775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make it dispatchable, operations keep routes covered, economics make it pay.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519934"/>
            <a:ext cx="566928" cy="10772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C05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35608" y="2519934"/>
            <a:ext cx="10116007" cy="5386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Control Stack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35608" y="3095117"/>
            <a:ext cx="10116007" cy="5020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Managed charging, bidirectional flow, and V2G dispatch to cut peaker demand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853180"/>
            <a:ext cx="566928" cy="10772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C05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35608" y="3853180"/>
            <a:ext cx="10116007" cy="5386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Fleet Operations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35608" y="4428363"/>
            <a:ext cx="10116007" cy="5020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 around routes and hold reserve for shelters and outage backup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5186426"/>
            <a:ext cx="566928" cy="10772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C05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35608" y="5186426"/>
            <a:ext cx="10116007" cy="5386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Economics and Pilot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35608" y="5761609"/>
            <a:ext cx="10116007" cy="5020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rates plus pilots that sent 27.7 MWh back over 316 hours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3"><p:bg><p:bgPr><a:solidFill><a:srgbClr val="C05D4E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640080" y="2606040"/><a:ext cx="10911535" cy="310896"/></a:xfrm><a:prstGeom prst="rect"><a:avLst></a:avLst></a:prstGeom><a:noFill/><a:ln></a:ln></p:spPr><p:txBody><a:bodyPr wrap="square" rtlCol="0" anchor="ctr"></a:bodyPr><a:lstStyle/><a:p><a:pPr indent="0" marL="0"><a:lnSpc><a:spcPts val="1200"/></a:lnSpc><a:buNone/></a:pPr><a:r><a:rPr lang="en-US" sz="1000" b="1" spc="120" kern="0" dirty="0"><a:solidFill><a:srgbClr val="F2DCD7"/></a:solidFill><a:latin typeface="Inter" pitchFamily="34" charset="0"/><a:ea typeface="Inter" pitchFamily="34" charset="-122"/><a:cs typeface="Inter" pitchFamily="34" charset="-120"/></a:rPr><a:t>01</a:t></a:r><a:endParaRPr lang="en-US" sz="1000" dirty="0"/></a:p></p:txBody></p:sp><p:sp><p:nvSpPr><p:cNvPr id="3" name="Shape 1"></p:cNvPr><p:cNvSpPr/><p:nvPr></p:nvPr></p:nvSpPr><p:spPr><a:xfrm><a:off x="640080" y="3008376"/><a:ext cx="914400" cy="45720"/></a:xfrm><a:prstGeom prst="rect"><a:avLst></a:avLst></a:prstGeom><a:solidFill><a:srgbClr val="F2DCD7"/></a:solidFill><a:ln></a:ln></p:spPr></p:sp><p:sp><p:nvSpPr><p:cNvPr id="4" name="Text 2"></p:cNvPr><p:cNvSpPr/><p:nvPr></p:nvPr></p:nvSpPr><p:spPr><a:xfrm><a:off x="640080" y="3227832"/><a:ext cx="10911535" cy="1051560"/></a:xfrm><a:prstGeom prst="rect"><a:avLst></a:avLst></a:prstGeom><a:noFill/><a:ln></a:ln></p:spPr><p:txBody><a:bodyPr wrap="square" rtlCol="0" anchor="t"></a:bodyPr><a:lstStyle/><a:p><a:pPr indent="0" marL="0"><a:lnSpc><a:spcPts val="3600"/></a:lnSpc><a:buNone/></a:pPr><a:r><a:rPr lang="en-US" sz="3200" b="1" spc="-50" kern="0" dirty="0"><a:solidFill><a:srgbClr val="FFFFFF"/></a:solidFill><a:latin typeface="Merriweather" pitchFamily="34" charset="0"/><a:ea typeface="Merriweather" pitchFamily="34" charset="-122"/><a:cs typeface="Merriweather" pitchFamily="34" charset="-120"/></a:rPr><a:t>Chargers Don&apos;t Make a Power Plant 2 Controls Do</a:t></a:r><a:endParaRPr lang="en-US" sz="3200" dirty="0"/></a:p></p:txBody></p:sp><p:sp><p:nvSpPr><p:cNvPr id="5" name="Text 3"></p:cNvPr><p:cNvSpPr/><p:nvPr></p:nvPr></p:nvSpPr><p:spPr><a:xfrm><a:off x="640080" y="4233672"/><a:ext cx="7201613" cy="822960"/></a:xfrm><a:prstGeom prst="rect"><a:avLst></a:avLst></a:prstGeom><a:noFill/><a:ln></a:ln></p:spPr><p:txBody><a:bodyPr wrap="square" rtlCol="0" anchor="t"></a:bodyPr><a:lstStyle/><a:p><a:pPr indent="0" marL="0"><a:lnSpc><a:spcPts val="2200"/></a:lnSpc><a:buNone/></a:pPr><a:r><a:rPr lang="en-US" sz="1500" dirty="0"><a:solidFill><a:srgbClr val="F2DCD7"/></a:solidFill><a:latin typeface="Inter" pitchFamily="34" charset="0"/><a:ea typeface="Inter" pitchFamily="34" charset="-122"/><a:cs typeface="Inter" pitchFamily="34" charset="-120"/></a:rPr><a:t>Grid Control Stack: the software, bidirectional chargers, and dispatch that turn parked buses into power.</a:t></a:r><a:endParaRPr lang="en-US" sz="1500" dirty="0"/></a:p></p:txBody></p:sp><p:sp><p:nvSpPr><p:cNvPr id="6" name="Text 4"></p:cNvPr><p:cNvSpPr/><p:nvPr></p:nvPr></p:nvSpPr><p:spPr><a:xfrm><a:off x="10454335" y="6327648"/><a:ext cx="1097280" cy="274320"/></a:xfrm><a:prstGeom prst="rect"><a:avLst></a:avLst></a:prstGeom><a:noFill/><a:ln></a:ln></p:spPr><p:txBody><a:bodyPr wrap="square" rtlCol="0" anchor="ctr"></a:bodyPr><a:lstStyle/><a:p><a:pPr algn="r" indent="0" marL="0"><a:buNone/></a:pPr><a:r><a:rPr lang="en-US" sz="900" dirty="0"><a:solidFill><a:srgbClr val="FFFFFF"/></a:solidFill><a:latin typeface="Inter" pitchFamily="34" charset="0"/><a:ea typeface="Inter" pitchFamily="34" charset="-122"/><a:cs typeface="Inter" pitchFamily="34" charset="-120"/></a:rPr><a:t>3 / 17</a:t></a:r><a:endParaRPr lang="en-US" sz="900" dirty="0"/></a:p></p:txBody></p:sp></p:spTree></p:cSld><p:clrMapOvr><a:masterClrMapping/></p:clrMapOvr>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988740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CONTROL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11535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Four Controls Turn Parked Buses Into Dispatchable Power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4274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0733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BMS, charger, depot EMS, and utility DERMS act as one stack proven over 50 summer hours.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69514"/>
            <a:ext cx="10911535" cy="1043178"/>
          </a:xfrm>
          <a:prstGeom prst="roundRect">
            <a:avLst>
              <a:gd name="adj" fmla="val 21037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969514"/>
            <a:ext cx="54864" cy="1043178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969514"/>
            <a:ext cx="2706624" cy="1043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 DERMS Link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2969514"/>
            <a:ext cx="4842967" cy="1043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 to grid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213289" y="3353943"/>
            <a:ext cx="1173734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13289" y="3353943"/>
            <a:ext cx="11737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5-bus pilot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774887" y="3353943"/>
            <a:ext cx="1328674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4887" y="3353943"/>
            <a:ext cx="13286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50+ hrs proof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4094988"/>
            <a:ext cx="10911535" cy="1043178"/>
          </a:xfrm>
          <a:prstGeom prst="roundRect">
            <a:avLst>
              <a:gd name="adj" fmla="val 21037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094988"/>
            <a:ext cx="54864" cy="1043178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4094988"/>
            <a:ext cx="2706624" cy="1043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Depot EMS Control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40480" y="4094988"/>
            <a:ext cx="4842967" cy="1043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Schedules charging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216312" y="4479417"/>
            <a:ext cx="1170711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16312" y="4479417"/>
            <a:ext cx="11707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peaks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155405" y="4479417"/>
            <a:ext cx="951179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55405" y="4479417"/>
            <a:ext cx="9511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0080" y="5220462"/>
            <a:ext cx="10911535" cy="1043178"/>
          </a:xfrm>
          <a:prstGeom prst="roundRect">
            <a:avLst>
              <a:gd name="adj" fmla="val 21037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5220462"/>
            <a:ext cx="54864" cy="1043178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" y="5220462"/>
            <a:ext cx="2706624" cy="1043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Bidirectional Charger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840480" y="5220462"/>
            <a:ext cx="4842967" cy="1043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12.5kW to 25kW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351059" y="5604891"/>
            <a:ext cx="1035964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51059" y="5604891"/>
            <a:ext cx="10359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V2G + V2H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997442" y="5604891"/>
            <a:ext cx="1243889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97442" y="5604891"/>
            <a:ext cx="124388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 power bus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988740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CONTROL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11535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60kW Chargers Only Matter When Wired Into One VPP Path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4274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0733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Buses discharge through bidirectional chargers under EMS control to feed the grid at peak demand.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64509" y="3845861"/>
            <a:ext cx="1625498" cy="504350"/>
          </a:xfrm>
          <a:prstGeom prst="line">
            <a:avLst/>
          </a:prstGeom>
          <a:noFill/>
          <a:ln w="13970">
            <a:solidFill>
              <a:srgbClr val="D8D8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01688" y="4662297"/>
            <a:ext cx="1625498" cy="18288"/>
          </a:xfrm>
          <a:prstGeom prst="line">
            <a:avLst/>
          </a:prstGeom>
          <a:noFill/>
          <a:ln w="13970">
            <a:solidFill>
              <a:srgbClr val="D8D8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3464509" y="4818340"/>
            <a:ext cx="5262677" cy="816436"/>
          </a:xfrm>
          <a:prstGeom prst="line">
            <a:avLst/>
          </a:prstGeom>
          <a:noFill/>
          <a:ln w="13970">
            <a:solidFill>
              <a:srgbClr val="D8D8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64509" y="4662297"/>
            <a:ext cx="5262677" cy="18288"/>
          </a:xfrm>
          <a:prstGeom prst="line">
            <a:avLst/>
          </a:prstGeom>
          <a:noFill/>
          <a:ln w="13970">
            <a:solidFill>
              <a:srgbClr val="D8D8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52829" y="3076575"/>
            <a:ext cx="2011680" cy="914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44269" y="3131439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V2G School Buses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44269" y="3424047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 kWh batteries aboard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90008" y="4205097"/>
            <a:ext cx="2011680" cy="914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81448" y="4259961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Bidirectional Chargers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81448" y="4552569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60kW DC fast chargers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52829" y="4205097"/>
            <a:ext cx="2011680" cy="914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544269" y="4259961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Nuvve Communications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44269" y="4552569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automate charging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727186" y="4205097"/>
            <a:ext cx="2011680" cy="914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818626" y="4259961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Depot EMS Control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18626" y="4552569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peak demand rates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452829" y="5333619"/>
            <a:ext cx="2011680" cy="914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544269" y="5388483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Solar + Storage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44269" y="5681091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DC solar charging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83205" y="4008025"/>
            <a:ext cx="988106" cy="180023"/>
          </a:xfrm>
          <a:prstGeom prst="rect">
            <a:avLst/>
          </a:prstGeom>
          <a:solidFill>
            <a:srgbClr val="EBEBE6"/>
          </a:solidFill>
          <a:ln/>
        </p:spPr>
      </p:sp>
      <p:sp>
        <p:nvSpPr>
          <p:cNvPr id="27" name="Text 25"/>
          <p:cNvSpPr/>
          <p:nvPr/>
        </p:nvSpPr>
        <p:spPr>
          <a:xfrm>
            <a:off x="3783205" y="4008025"/>
            <a:ext cx="988106" cy="18002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 discharge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286179" y="4572286"/>
            <a:ext cx="1256515" cy="180023"/>
          </a:xfrm>
          <a:prstGeom prst="rect">
            <a:avLst/>
          </a:prstGeom>
          <a:solidFill>
            <a:srgbClr val="EBEBE6"/>
          </a:solidFill>
          <a:ln/>
        </p:spPr>
      </p:sp>
      <p:sp>
        <p:nvSpPr>
          <p:cNvPr id="29" name="Text 27"/>
          <p:cNvSpPr/>
          <p:nvPr/>
        </p:nvSpPr>
        <p:spPr>
          <a:xfrm>
            <a:off x="7286179" y="4572286"/>
            <a:ext cx="1256515" cy="18002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AC-DC conversion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635346" y="5136547"/>
            <a:ext cx="921004" cy="180023"/>
          </a:xfrm>
          <a:prstGeom prst="rect">
            <a:avLst/>
          </a:prstGeom>
          <a:solidFill>
            <a:srgbClr val="EBEBE6"/>
          </a:solidFill>
          <a:ln/>
        </p:spPr>
      </p:sp>
      <p:sp>
        <p:nvSpPr>
          <p:cNvPr id="31" name="Text 29"/>
          <p:cNvSpPr/>
          <p:nvPr/>
        </p:nvSpPr>
        <p:spPr>
          <a:xfrm>
            <a:off x="5635346" y="5136547"/>
            <a:ext cx="921004" cy="18002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 solar in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67590" y="4572286"/>
            <a:ext cx="1256515" cy="180023"/>
          </a:xfrm>
          <a:prstGeom prst="rect">
            <a:avLst/>
          </a:prstGeom>
          <a:solidFill>
            <a:srgbClr val="EBEBE6"/>
          </a:solidFill>
          <a:ln/>
        </p:spPr>
      </p:sp>
      <p:sp>
        <p:nvSpPr>
          <p:cNvPr id="33" name="Text 31"/>
          <p:cNvSpPr/>
          <p:nvPr/>
        </p:nvSpPr>
        <p:spPr>
          <a:xfrm>
            <a:off x="5467590" y="4572286"/>
            <a:ext cx="1256515" cy="18002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schedules charge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988740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CONTROL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11535" cy="449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Bus Exports Until Its Morning Route Is Safe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316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5775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request comes last — route, battery, then price decide if a parked bus answers.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023614"/>
            <a:ext cx="10911535" cy="27432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8" name="Shape 6"/>
          <p:cNvSpPr/>
          <p:nvPr/>
        </p:nvSpPr>
        <p:spPr>
          <a:xfrm>
            <a:off x="1784566" y="3817874"/>
            <a:ext cx="438912" cy="438912"/>
          </a:xfrm>
          <a:prstGeom prst="ellipse">
            <a:avLst/>
          </a:prstGeom>
          <a:solidFill>
            <a:srgbClr val="C05D4E"/>
          </a:solidFill>
          <a:ln/>
        </p:spPr>
      </p:sp>
      <p:sp>
        <p:nvSpPr>
          <p:cNvPr id="9" name="Text 7"/>
          <p:cNvSpPr/>
          <p:nvPr/>
        </p:nvSpPr>
        <p:spPr>
          <a:xfrm>
            <a:off x="1784566" y="381787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5400000">
            <a:off x="2314918" y="3945890"/>
            <a:ext cx="182880" cy="182880"/>
          </a:xfrm>
          <a:prstGeom prst="triangle">
            <a:avLst/>
          </a:prstGeom>
          <a:solidFill>
            <a:srgbClr val="C05D4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19934"/>
            <a:ext cx="2453564" cy="13162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Reserve tomorrow's route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476242"/>
            <a:ext cx="2453564" cy="1787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 energy for the next run first. No export leaves a bus short in the morning.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12450" y="3817874"/>
            <a:ext cx="438912" cy="438912"/>
          </a:xfrm>
          <a:prstGeom prst="ellipse">
            <a:avLst/>
          </a:prstGeom>
          <a:solidFill>
            <a:srgbClr val="C05D4E"/>
          </a:solidFill>
          <a:ln/>
        </p:spPr>
      </p:sp>
      <p:sp>
        <p:nvSpPr>
          <p:cNvPr id="14" name="Text 12"/>
          <p:cNvSpPr/>
          <p:nvPr/>
        </p:nvSpPr>
        <p:spPr>
          <a:xfrm>
            <a:off x="4512450" y="381787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042802" y="3945890"/>
            <a:ext cx="182880" cy="182880"/>
          </a:xfrm>
          <a:prstGeom prst="triangle">
            <a:avLst/>
          </a:prstGeom>
          <a:solidFill>
            <a:srgbClr val="C05D4E"/>
          </a:solidFill>
          <a:ln/>
        </p:spPr>
      </p:sp>
      <p:sp>
        <p:nvSpPr>
          <p:cNvPr id="16" name="Text 14"/>
          <p:cNvSpPr/>
          <p:nvPr/>
        </p:nvSpPr>
        <p:spPr>
          <a:xfrm>
            <a:off x="3505124" y="2519934"/>
            <a:ext cx="2453564" cy="13162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battery can give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05124" y="4476242"/>
            <a:ext cx="2453564" cy="1787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charge level and bidirectional link. Charge and discharge paths must be ready.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40334" y="3817874"/>
            <a:ext cx="438912" cy="438912"/>
          </a:xfrm>
          <a:prstGeom prst="ellipse">
            <a:avLst/>
          </a:prstGeom>
          <a:solidFill>
            <a:srgbClr val="C05D4E"/>
          </a:solidFill>
          <a:ln/>
        </p:spPr>
      </p:sp>
      <p:sp>
        <p:nvSpPr>
          <p:cNvPr id="19" name="Text 17"/>
          <p:cNvSpPr/>
          <p:nvPr/>
        </p:nvSpPr>
        <p:spPr>
          <a:xfrm>
            <a:off x="7240334" y="381787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770686" y="3945890"/>
            <a:ext cx="182880" cy="182880"/>
          </a:xfrm>
          <a:prstGeom prst="triangle">
            <a:avLst/>
          </a:prstGeom>
          <a:solidFill>
            <a:srgbClr val="C05D4E"/>
          </a:solidFill>
          <a:ln/>
        </p:spPr>
      </p:sp>
      <p:sp>
        <p:nvSpPr>
          <p:cNvPr id="21" name="Text 19"/>
          <p:cNvSpPr/>
          <p:nvPr/>
        </p:nvSpPr>
        <p:spPr>
          <a:xfrm>
            <a:off x="6233008" y="2519934"/>
            <a:ext cx="2453564" cy="13162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price beats peak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33008" y="4476242"/>
            <a:ext cx="2453564" cy="1787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peak export beats charge cost. Managed charging avoids peak demand rates.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968217" y="3817874"/>
            <a:ext cx="438912" cy="438912"/>
          </a:xfrm>
          <a:prstGeom prst="ellipse">
            <a:avLst/>
          </a:prstGeom>
          <a:solidFill>
            <a:srgbClr val="C05D4E"/>
          </a:solidFill>
          <a:ln/>
        </p:spPr>
      </p:sp>
      <p:sp>
        <p:nvSpPr>
          <p:cNvPr id="24" name="Text 22"/>
          <p:cNvSpPr/>
          <p:nvPr/>
        </p:nvSpPr>
        <p:spPr>
          <a:xfrm>
            <a:off x="9968217" y="381787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60891" y="2519934"/>
            <a:ext cx="2453564" cy="13162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grid for pay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960891" y="4476242"/>
            <a:ext cx="2453564" cy="1787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then send energy back to the grid and earn compensation for the depot.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05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06040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F2DC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3008376"/>
            <a:ext cx="914400" cy="45720"/>
          </a:xfrm>
          <a:prstGeom prst="rect">
            <a:avLst/>
          </a:prstGeom>
          <a:solidFill>
            <a:srgbClr val="F2DCD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27832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Student Routes Run First — The Grid Gets the Idle Hours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4233672"/>
            <a:ext cx="72016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2DC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Morning and afternoon runs are untouchable — buses earn grid value only in the parked window between.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988740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FLEET OPERATIONS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11535" cy="449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Routes First, Then Buses Carry the Peak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316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5775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schedules create set idle windows: midday park, evening export, overnight recharge.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84832" y="2519934"/>
            <a:ext cx="18288" cy="383514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9934"/>
            <a:ext cx="1280160" cy="623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C05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2556510"/>
            <a:ext cx="9265615" cy="5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Morning routes run; no export until buses return and next-run energy is safe.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43885"/>
            <a:ext cx="1280160" cy="623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C05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3180461"/>
            <a:ext cx="9265615" cy="5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Midday idle begins — buses sit parked while daytime electricity demand climbs.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767836"/>
            <a:ext cx="1280160" cy="623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C05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PM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3804412"/>
            <a:ext cx="9265615" cy="5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Afternoon routes run; buses return and reserve tomorrow's mileage first.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391787"/>
            <a:ext cx="1280160" cy="623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C05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PM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4428363"/>
            <a:ext cx="9265615" cy="5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discharge: send stored power when demand is highest and most expensive.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015738"/>
            <a:ext cx="1280160" cy="623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C05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PM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5052314"/>
            <a:ext cx="9265615" cy="5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Off-peak recharge overnight on time-of-use rates for the next school day.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639689"/>
            <a:ext cx="1280160" cy="623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C05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5676265"/>
            <a:ext cx="9265615" cy="550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idle unlocks scale: Beverly sent 27.7 MWh back over 316 hours.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988740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FLEET OPERATIONS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11535" cy="449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V2G fails unless five links lock in order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316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5775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Massachusetts proved it in 2015: one missing link stalls all export.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64228" y="3378137"/>
            <a:ext cx="1531620" cy="201168"/>
          </a:xfrm>
          <a:prstGeom prst="line">
            <a:avLst/>
          </a:prstGeom>
          <a:noFill/>
          <a:ln w="16510">
            <a:solidFill>
              <a:srgbClr val="C05D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6095848" y="3378137"/>
            <a:ext cx="1531620" cy="201168"/>
          </a:xfrm>
          <a:prstGeom prst="line">
            <a:avLst/>
          </a:prstGeom>
          <a:noFill/>
          <a:ln w="16510">
            <a:solidFill>
              <a:srgbClr val="C05D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4564228" y="4336923"/>
            <a:ext cx="1531620" cy="201168"/>
          </a:xfrm>
          <a:prstGeom prst="line">
            <a:avLst/>
          </a:prstGeom>
          <a:noFill/>
          <a:ln w="16510">
            <a:solidFill>
              <a:srgbClr val="C05D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5848" y="4336923"/>
            <a:ext cx="1531620" cy="201168"/>
          </a:xfrm>
          <a:prstGeom prst="line">
            <a:avLst/>
          </a:prstGeom>
          <a:noFill/>
          <a:ln w="16510">
            <a:solidFill>
              <a:srgbClr val="C05D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4228" y="5295710"/>
            <a:ext cx="1531620" cy="201168"/>
          </a:xfrm>
          <a:prstGeom prst="line">
            <a:avLst/>
          </a:prstGeom>
          <a:noFill/>
          <a:ln w="16510">
            <a:solidFill>
              <a:srgbClr val="C05D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6095848" y="5295710"/>
            <a:ext cx="1531620" cy="201168"/>
          </a:xfrm>
          <a:prstGeom prst="line">
            <a:avLst/>
          </a:prstGeom>
          <a:noFill/>
          <a:ln w="16510">
            <a:solidFill>
              <a:srgbClr val="C05D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92628" y="2620518"/>
            <a:ext cx="2743200" cy="757619"/>
          </a:xfrm>
          <a:prstGeom prst="roundRect">
            <a:avLst>
              <a:gd name="adj" fmla="val 289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84068" y="2693670"/>
            <a:ext cx="2560320" cy="318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Morning routes locked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84068" y="3048446"/>
            <a:ext cx="2560320" cy="274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first, idle to grid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55868" y="2620518"/>
            <a:ext cx="2743200" cy="757619"/>
          </a:xfrm>
          <a:prstGeom prst="roundRect">
            <a:avLst>
              <a:gd name="adj" fmla="val 289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47308" y="2693670"/>
            <a:ext cx="2560320" cy="318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staff ready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47308" y="3048446"/>
            <a:ext cx="2560320" cy="274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staff blocked V2G test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24248" y="3579305"/>
            <a:ext cx="2743200" cy="757619"/>
          </a:xfrm>
          <a:prstGeom prst="roundRect">
            <a:avLst>
              <a:gd name="adj" fmla="val 289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15688" y="3652457"/>
            <a:ext cx="2560320" cy="318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Bidirectional chargers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15688" y="4007232"/>
            <a:ext cx="2560320" cy="274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 chargers enable export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92628" y="4538091"/>
            <a:ext cx="2743200" cy="757619"/>
          </a:xfrm>
          <a:prstGeom prst="roundRect">
            <a:avLst>
              <a:gd name="adj" fmla="val 289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84068" y="4611243"/>
            <a:ext cx="2560320" cy="318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Interconnection cleared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84068" y="4966019"/>
            <a:ext cx="2560320" cy="274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Fast-track under-resourced sites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55868" y="4538091"/>
            <a:ext cx="2743200" cy="757619"/>
          </a:xfrm>
          <a:prstGeom prst="roundRect">
            <a:avLst>
              <a:gd name="adj" fmla="val 289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47308" y="4611243"/>
            <a:ext cx="2560320" cy="318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V2G rate structure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47308" y="4966019"/>
            <a:ext cx="2560320" cy="274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15-min demand charges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24248" y="5496878"/>
            <a:ext cx="2743200" cy="757619"/>
          </a:xfrm>
          <a:prstGeom prst="roundRect">
            <a:avLst>
              <a:gd name="adj" fmla="val 289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15688" y="5570030"/>
            <a:ext cx="2560320" cy="318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dispatch pays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15688" y="5924805"/>
            <a:ext cx="2560320" cy="274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50+ hours cut peaker need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988740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FLEET OPERATIONS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11535" cy="449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Routes Stay On Time While Buses Carry the Peak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316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5775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board holds service, availability and battery reserve beside proven export hours and MWh.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9934"/>
            <a:ext cx="2522144" cy="3743706"/>
          </a:xfrm>
          <a:prstGeom prst="roundRect">
            <a:avLst>
              <a:gd name="adj" fmla="val 87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794254"/>
            <a:ext cx="197350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On-time routes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077718"/>
            <a:ext cx="1973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4540" b="1" spc="-100" kern="0" dirty="0">
                <a:solidFill>
                  <a:srgbClr val="C05D4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First</a:t>
            </a:r>
            <a:endParaRPr lang="en-US" sz="4540" dirty="0"/>
          </a:p>
        </p:txBody>
      </p:sp>
      <p:sp>
        <p:nvSpPr>
          <p:cNvPr id="10" name="Shape 8"/>
          <p:cNvSpPr/>
          <p:nvPr/>
        </p:nvSpPr>
        <p:spPr>
          <a:xfrm>
            <a:off x="914400" y="5833872"/>
            <a:ext cx="237744" cy="54864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11" name="Shape 9"/>
          <p:cNvSpPr/>
          <p:nvPr/>
        </p:nvSpPr>
        <p:spPr>
          <a:xfrm>
            <a:off x="3436544" y="2519934"/>
            <a:ext cx="2522144" cy="3743706"/>
          </a:xfrm>
          <a:prstGeom prst="roundRect">
            <a:avLst>
              <a:gd name="adj" fmla="val 87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10864" y="2794254"/>
            <a:ext cx="197350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Buses ready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10864" y="3077718"/>
            <a:ext cx="1973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4540" b="1" spc="-100" kern="0" dirty="0">
                <a:solidFill>
                  <a:srgbClr val="C05D4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</a:t>
            </a:r>
            <a:endParaRPr lang="en-US" sz="4540" dirty="0"/>
          </a:p>
        </p:txBody>
      </p:sp>
      <p:sp>
        <p:nvSpPr>
          <p:cNvPr id="14" name="Shape 12"/>
          <p:cNvSpPr/>
          <p:nvPr/>
        </p:nvSpPr>
        <p:spPr>
          <a:xfrm>
            <a:off x="3710864" y="5833872"/>
            <a:ext cx="237744" cy="54864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15" name="Shape 13"/>
          <p:cNvSpPr/>
          <p:nvPr/>
        </p:nvSpPr>
        <p:spPr>
          <a:xfrm>
            <a:off x="6233008" y="2519934"/>
            <a:ext cx="2522144" cy="3743706"/>
          </a:xfrm>
          <a:prstGeom prst="roundRect">
            <a:avLst>
              <a:gd name="adj" fmla="val 87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07328" y="2794254"/>
            <a:ext cx="197350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hours cut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07328" y="3077718"/>
            <a:ext cx="1973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4540" b="1" spc="-100" kern="0" dirty="0">
                <a:solidFill>
                  <a:srgbClr val="C05D4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316</a:t>
            </a:r>
            <a:endParaRPr lang="en-US" sz="4540" dirty="0"/>
          </a:p>
        </p:txBody>
      </p:sp>
      <p:sp>
        <p:nvSpPr>
          <p:cNvPr id="18" name="Shape 16"/>
          <p:cNvSpPr/>
          <p:nvPr/>
        </p:nvSpPr>
        <p:spPr>
          <a:xfrm>
            <a:off x="6507328" y="5715000"/>
            <a:ext cx="201168" cy="201168"/>
          </a:xfrm>
          <a:prstGeom prst="triangle">
            <a:avLst/>
          </a:prstGeom>
          <a:solidFill>
            <a:srgbClr val="C05D4E"/>
          </a:solidFill>
          <a:ln/>
        </p:spPr>
      </p:sp>
      <p:sp>
        <p:nvSpPr>
          <p:cNvPr id="19" name="Text 17"/>
          <p:cNvSpPr/>
          <p:nvPr/>
        </p:nvSpPr>
        <p:spPr>
          <a:xfrm>
            <a:off x="6818224" y="5715000"/>
            <a:ext cx="166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27.7MWh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29471" y="2519934"/>
            <a:ext cx="2522144" cy="3743706"/>
          </a:xfrm>
          <a:prstGeom prst="roundRect">
            <a:avLst>
              <a:gd name="adj" fmla="val 87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03791" y="2794254"/>
            <a:ext cx="197350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MWh to grid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03791" y="3077718"/>
            <a:ext cx="1973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4540" b="1" spc="-100" kern="0" dirty="0">
                <a:solidFill>
                  <a:srgbClr val="C05D4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31.7</a:t>
            </a:r>
            <a:endParaRPr lang="en-US" sz="4540" dirty="0"/>
          </a:p>
        </p:txBody>
      </p:sp>
      <p:sp>
        <p:nvSpPr>
          <p:cNvPr id="23" name="Shape 21"/>
          <p:cNvSpPr/>
          <p:nvPr/>
        </p:nvSpPr>
        <p:spPr>
          <a:xfrm>
            <a:off x="9303791" y="5715000"/>
            <a:ext cx="201168" cy="201168"/>
          </a:xfrm>
          <a:prstGeom prst="triangle">
            <a:avLst/>
          </a:prstGeom>
          <a:solidFill>
            <a:srgbClr val="C05D4E"/>
          </a:solidFill>
          <a:ln/>
        </p:spPr>
      </p:sp>
      <p:sp>
        <p:nvSpPr>
          <p:cNvPr id="24" name="Text 22"/>
          <p:cNvSpPr/>
          <p:nvPr/>
        </p:nvSpPr>
        <p:spPr>
          <a:xfrm>
            <a:off x="9614687" y="5715000"/>
            <a:ext cx="166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282 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1"><p:bg><p:bgPr><a:solidFill><a:srgbClr val="EBEBE6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640080" y="621792"/><a:ext cx="822960" cy="91440"/></a:xfrm><a:prstGeom prst="rect"><a:avLst></a:avLst></a:prstGeom><a:solidFill><a:srgbClr val="C05D4E"/></a:solidFill><a:ln></a:ln></p:spPr></p:sp><p:sp><p:nvSpPr><p:cNvPr id="3" name="Text 1"></p:cNvPr><p:cNvSpPr/><p:nvPr></p:nvPr></p:nvSpPr><p:spPr><a:xfrm><a:off x="1664208" y="566928"/><a:ext cx="9887407" cy="292608"/></a:xfrm><a:prstGeom prst="rect"><a:avLst></a:avLst></a:prstGeom><a:noFill/><a:ln></a:ln></p:spPr><p:txBody><a:bodyPr wrap="square" rtlCol="0" anchor="ctr"></a:bodyPr><a:lstStyle/><a:p><a:pPr algn="l" indent="0" marL="0"><a:lnSpc><a:spcPts val="1200"/></a:lnSpc><a:buNone/></a:pPr><a:r><a:rPr lang="en-US" sz="1000" b="1" spc="120" kern="0" dirty="0"><a:solidFill><a:srgbClr val="5C5C59"/></a:solidFill><a:latin typeface="Inter" pitchFamily="34" charset="0"/><a:ea typeface="Inter" pitchFamily="34" charset="-122"/><a:cs typeface="Inter" pitchFamily="34" charset="-120"/></a:rPr><a:t>FLEET OPERATIONS</a:t></a:r><a:endParaRPr lang="en-US" sz="1000" dirty="0"/></a:p></p:txBody></p:sp><p:sp><p:nvSpPr><p:cNvPr id="4" name="Text 2"></p:cNvPr><p:cNvSpPr/><p:nvPr></p:nvPr></p:nvSpPr><p:spPr><a:xfrm><a:off x="640080" y="1188720"/><a:ext cx="10911535" cy="449580"/></a:xfrm><a:prstGeom prst="rect"><a:avLst></a:avLst></a:prstGeom><a:noFill/><a:ln></a:ln></p:spPr><p:txBody><a:bodyPr wrap="square" rtlCol="0" anchor="t"></a:bodyPr><a:lstStyle/><a:p><a:pPr indent="0" marL="0"><a:lnSpc><a:spcPts val="3500"/></a:lnSpc><a:buNone/></a:pPr><a:r><a:rPr lang="en-US" sz="3000" b="1" spc="-30" kern="0" dirty="0"><a:solidFill><a:srgbClr val="2D2D2A"/></a:solidFill><a:latin typeface="Merriweather" pitchFamily="34" charset="0"/><a:ea typeface="Merriweather" pitchFamily="34" charset="-122"/><a:cs typeface="Merriweather" pitchFamily="34" charset="-120"/></a:rPr><a:t>Three Buses Sat a Year 2 Never Exported a Kilowatt</a:t></a:r><a:endParaRPr lang="en-US" sz="3000" dirty="0"/></a:p></p:txBody></p:sp><p:sp><p:nvSpPr><p:cNvPr id="5" name="Shape 3"></p:cNvPr><p:cNvSpPr/><p:nvPr></p:nvPr></p:nvSpPr><p:spPr><a:xfrm><a:off x="640080" y="1693164"/><a:ext cx="10911535" cy="13716"/></a:xfrm><a:prstGeom prst="rect"><a:avLst></a:avLst></a:prstGeom><a:solidFill><a:srgbClr val="D8D8D2"/></a:solidFill><a:ln></a:ln></p:spPr></p:sp><p:sp><p:nvSpPr><p:cNvPr id="6" name="Text 4"></p:cNvPr><p:cNvSpPr/><p:nvPr></p:nvPr></p:nvSpPr><p:spPr><a:xfrm><a:off x="640080" y="1857756"/><a:ext cx="10911535" cy="662178"/></a:xfrm><a:prstGeom prst="rect"><a:avLst></a:avLst></a:prstGeom><a:noFill/><a:ln></a:ln></p:spPr><p:txBody><a:bodyPr wrap="square" rtlCol="0" anchor="t"></a:bodyPr><a:lstStyle/><a:p><a:pPr indent="0" marL="0"><a:lnSpc><a:spcPts val="2200"/></a:lnSpc><a:buNone/></a:pPr><a:r><a:rPr lang="en-US" sz="1500" dirty="0"><a:solidFill><a:srgbClr val="5C5C59"/></a:solidFill><a:latin typeface="Inter" pitchFamily="34" charset="0"/><a:ea typeface="Inter" pitchFamily="34" charset="-122"/><a:cs typeface="Inter" pitchFamily="34" charset="-120"/></a:rPr><a:t>A 15-minute demand spike can erase V2G pay if rates ignore school schedules.</a:t></a:r><a:endParaRPr lang="en-US" sz="1500" dirty="0"/></a:p></p:txBody></p:sp><p:sp><p:nvSpPr><p:cNvPr id="7" name="Shape 5"></p:cNvPr><p:cNvSpPr/><p:nvPr></p:nvPr></p:nvSpPr><p:spPr><a:xfrm><a:off x="640080" y="2743200"/><a:ext cx="10911535" cy="1828800"/></a:xfrm><a:prstGeom prst="roundRect"><a:avLst><a:gd name="adj" fmla="val 12000"/></a:avLst></a:prstGeom><a:solidFill><a:srgbClr val="FFFFFF"/></a:solidFill><a:ln></a:ln></p:spPr></p:sp><p:sp><p:nvSpPr><p:cNvPr id="8" name="Shape 6"></p:cNvPr><p:cNvSpPr/><p:nvPr></p:nvPr></p:nvSpPr><p:spPr><a:xfrm><a:off x="640080" y="2743200"/><a:ext cx="10911535" cy="54864"/></a:xfrm><a:prstGeom prst="rect"><a:avLst></a:avLst></a:prstGeom><a:solidFill><a:srgbClr val="D97706"/></a:solidFill><a:ln></a:ln></p:spPr></p:sp><p:sp><p:nvSpPr><p:cNvPr id="9" name="Shape 7"></p:cNvPr><p:cNvSpPr/><p:nvPr></p:nvPr></p:nvSpPr><p:spPr><a:xfrm><a:off x="640080" y="2743200"/><a:ext cx="54864" cy="1828800"/></a:xfrm><a:prstGeom prst="rect"><a:avLst></a:avLst></a:prstGeom><a:solidFill><a:srgbClr val="D97706"/></a:solidFill><a:ln></a:ln></p:spPr></p:sp><p:sp><p:nvSpPr><p:cNvPr id="10" name="Text 8"></p:cNvPr><p:cNvSpPr/><p:nvPr></p:nvPr></p:nvSpPr><p:spPr><a:xfrm><a:off x="1097280" y="3017520"/><a:ext cx="9997135" cy="365760"/></a:xfrm><a:prstGeom prst="rect"><a:avLst></a:avLst></a:prstGeom><a:noFill/><a:ln></a:ln></p:spPr><p:txBody><a:bodyPr wrap="square" rtlCol="0" anchor="ctr"></a:bodyPr><a:lstStyle/><a:p><a:pPr indent="0" marL="0"><a:lnSpc><a:spcPts val="1200"/></a:lnSpc><a:buNone/></a:pPr><a:r><a:rPr lang="en-US" sz="1000" b="1" spc="120" kern="0" dirty="0"><a:solidFill><a:srgbClr val="D97706"/></a:solidFill><a:latin typeface="Inter" pitchFamily="34" charset="0"/><a:ea typeface="Inter" pitchFamily="34" charset="-122"/><a:cs typeface="Inter" pitchFamily="34" charset="-120"/></a:rPr><a:t>Rates + readiness risk</a:t></a:r><a:endParaRPr lang="en-US" sz="1000" dirty="0"/></a:p></p:txBody></p:sp><p:sp><p:nvSpPr><p:cNvPr id="11" name="Text 9"></p:cNvPr><p:cNvSpPr/><p:nvPr></p:nvPr></p:nvSpPr><p:spPr><a:xfrm><a:off x="1097280" y="3456432"/><a:ext cx="9997135" cy="1005840"/></a:xfrm><a:prstGeom prst="rect"><a:avLst></a:avLst></a:prstGeom><a:noFill/><a:ln></a:ln></p:spPr><p:txBody><a:bodyPr wrap="square" rtlCol="0" anchor="t"></a:bodyPr><a:lstStyle/><a:p><a:pPr indent="0" marL="0"><a:lnSpc><a:spcPts val="2000"/></a:lnSpc><a:buNone/></a:pPr><a:r><a:rPr lang="en-US" sz="1300" dirty="0"><a:solidFill><a:srgbClr val="2D2D2A"/></a:solidFill><a:latin typeface="Inter" pitchFamily="34" charset="0"/><a:ea typeface="Inter" pitchFamily="34" charset="-122"/><a:cs typeface="Inter" pitchFamily="34" charset="-120"/></a:rPr><a:t>In 2015 Massachusetts deployed three buses for about a year but never tested V2G for lack of trained staff. Export at peak without wear limits and demand charges strand the route.</a:t></a:r><a:endParaRPr lang="en-US" sz="1300" dirty="0"/></a:p></p:txBody></p:sp><p:sp><p:nvSpPr><p:cNvPr id="12" name="Text 10"></p:cNvPr><p:cNvSpPr/><p:nvPr></p:nvPr></p:nvSpPr><p:spPr><a:xfrm><a:off x="10454335" y="6327648"/><a:ext cx="1097280" cy="274320"/></a:xfrm><a:prstGeom prst="rect"><a:avLst></a:avLst></a:prstGeom><a:noFill/><a:ln></a:ln></p:spPr><p:txBody><a:bodyPr wrap="square" rtlCol="0" anchor="ctr"></a:bodyPr><a:lstStyle/><a:p><a:pPr algn="r" indent="0" marL="0"><a:buNone/></a:pPr><a:r><a:rPr lang="en-US" sz="900" dirty="0"><a:solidFill><a:srgbClr val="5C5C59"/></a:solidFill><a:latin typeface="Inter" pitchFamily="34" charset="0"/><a:ea typeface="Inter" pitchFamily="34" charset="-122"/><a:cs typeface="Inter" pitchFamily="34" charset="-120"/></a:rPr><a:t>11 / 17</a:t></a:r><a:endParaRPr lang="en-US" sz="900" dirty="0"/></a:p></p:txBody></p:sp></p:spTree></p:cSld><p:clrMapOvr><a:masterClrMapping/></p:clrMapOvr>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05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06040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F2DC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3008376"/>
            <a:ext cx="914400" cy="45720"/>
          </a:xfrm>
          <a:prstGeom prst="rect">
            <a:avLst/>
          </a:prstGeom>
          <a:solidFill>
            <a:srgbClr val="F2DCD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27832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Translate V2G capability into a bankable, equitable depot plan.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988740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ECONOMICS &amp; 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11535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Unmanaged Charging Spikes Bills — V2G Turns Peak Into Revenue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4274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0733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Diesel can't export; unmanaged charging risks 15-minute demand charges, while V2G discharged 50+ hours at peak.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969514"/>
          <a:ext cx="6874267" cy="265404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788667" y="3115818"/>
            <a:ext cx="36576" cy="384048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9" name="Text 6"/>
          <p:cNvSpPr/>
          <p:nvPr/>
        </p:nvSpPr>
        <p:spPr>
          <a:xfrm>
            <a:off x="7953259" y="3060954"/>
            <a:ext cx="3598356" cy="7932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7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Unmanaged peak charging can trigger hourly or 15-min demand charges.</a:t>
            </a:r>
            <a:endParaRPr lang="en-US" sz="1170" dirty="0"/>
          </a:p>
        </p:txBody>
      </p:sp>
      <p:sp>
        <p:nvSpPr>
          <p:cNvPr id="10" name="Shape 7"/>
          <p:cNvSpPr/>
          <p:nvPr/>
        </p:nvSpPr>
        <p:spPr>
          <a:xfrm>
            <a:off x="7788667" y="4000500"/>
            <a:ext cx="36576" cy="384048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11" name="Text 8"/>
          <p:cNvSpPr/>
          <p:nvPr/>
        </p:nvSpPr>
        <p:spPr>
          <a:xfrm>
            <a:off x="7953259" y="3945636"/>
            <a:ext cx="3598356" cy="7932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7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V2G shaves peak, avoids firing costly fossil peaker plants.</a:t>
            </a:r>
            <a:endParaRPr lang="en-US" sz="1170" dirty="0"/>
          </a:p>
        </p:txBody>
      </p:sp>
      <p:sp>
        <p:nvSpPr>
          <p:cNvPr id="12" name="Shape 9"/>
          <p:cNvSpPr/>
          <p:nvPr/>
        </p:nvSpPr>
        <p:spPr>
          <a:xfrm>
            <a:off x="7788667" y="4885182"/>
            <a:ext cx="36576" cy="384048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13" name="Text 10"/>
          <p:cNvSpPr/>
          <p:nvPr/>
        </p:nvSpPr>
        <p:spPr>
          <a:xfrm>
            <a:off x="7953259" y="4830318"/>
            <a:ext cx="3598356" cy="7932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7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bus exported 50+ hrs in Beverly summer pilot.</a:t>
            </a:r>
            <a:endParaRPr lang="en-US" sz="1170" dirty="0"/>
          </a:p>
        </p:txBody>
      </p:sp>
      <p:sp>
        <p:nvSpPr>
          <p:cNvPr id="14" name="Shape 11"/>
          <p:cNvSpPr/>
          <p:nvPr/>
        </p:nvSpPr>
        <p:spPr>
          <a:xfrm>
            <a:off x="640080" y="5806440"/>
            <a:ext cx="10911535" cy="475488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" y="5806440"/>
            <a:ext cx="54864" cy="475488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" y="5806440"/>
            <a:ext cx="10710367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 it plain: only the V2G bar earns — the other two only cost.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988740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ECONOMICS &amp; 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11535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Peak-Shaving Wins Paid Dispatch; Backup Wins Battery Life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4274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0733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UD earned roughly $1,200 per BEV yearly in PJM — scored here on money versus wear.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69514"/>
          <a:ext cx="10911535" cy="914400"/>
        </p:xfrm>
        <a:graphic>
          <a:graphicData uri="http://schemas.openxmlformats.org/drawingml/2006/table">
            <a:tbl>
              <a:tblPr/>
              <a:tblGrid>
                <a:gridCol w="2727884"/>
                <a:gridCol w="2727884"/>
                <a:gridCol w="2727884"/>
                <a:gridCol w="2727884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Peak-Shaving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Resilience Backup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D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TOU Arbitrage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D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Revenue upside (w 0.5)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5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Battery friendly (w 0.3)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5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Simple to run (w 0.2)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5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5D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988740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ECONOMICS &amp; 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11535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Pilot in Three Moves: Test One, Pay Five, Scale Fifty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4274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0733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a single-bus discharge, then earn peak revenue before scaling an equity-first VPP.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423160" y="2969514"/>
            <a:ext cx="30428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0-3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65978" y="2969514"/>
            <a:ext cx="30428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4-12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8797" y="2969514"/>
            <a:ext cx="30428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2 onward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326130"/>
            <a:ext cx="1463040" cy="918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1: Prove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150794" y="3326130"/>
            <a:ext cx="3108960" cy="918210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2234" y="3390138"/>
            <a:ext cx="2926080" cy="3768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Single-bus discharge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2234" y="3830955"/>
            <a:ext cx="2926080" cy="4240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Replicate PEPCO fall 2024 first test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15021" y="3326130"/>
            <a:ext cx="3108960" cy="918210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06461" y="3390138"/>
            <a:ext cx="2926080" cy="3768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Reserve morning route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06461" y="3830955"/>
            <a:ext cx="2926080" cy="4240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export until routes are safe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40080" y="432206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335780"/>
            <a:ext cx="1463040" cy="918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2: Earn Peak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150794" y="4335780"/>
            <a:ext cx="3108960" cy="918210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42234" y="4399788"/>
            <a:ext cx="2926080" cy="3768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5-bus peak cut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2234" y="4840605"/>
            <a:ext cx="2926080" cy="4240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White Plains 2018-2021 test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15021" y="4335780"/>
            <a:ext cx="3108960" cy="918210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806461" y="4399788"/>
            <a:ext cx="2926080" cy="3768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27.7 MWh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06461" y="4840605"/>
            <a:ext cx="2926080" cy="4240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Beverly: 316 hrs, 3 buses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40080" y="533171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345430"/>
            <a:ext cx="1463040" cy="918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3: Scale VPP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505456" y="5345430"/>
            <a:ext cx="2878226" cy="918210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96896" y="5409438"/>
            <a:ext cx="2695346" cy="3768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 to 4-bus VPP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96896" y="5850255"/>
            <a:ext cx="2695346" cy="4240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31.7 MWh over 282 hours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5548274" y="5345430"/>
            <a:ext cx="2878226" cy="918210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39714" y="5409438"/>
            <a:ext cx="2695346" cy="3768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low-income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39714" y="5850255"/>
            <a:ext cx="2695346" cy="4240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buses in marginalized routes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8591093" y="5345430"/>
            <a:ext cx="2878226" cy="918210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682533" y="5409438"/>
            <a:ext cx="2695346" cy="3768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resilience hub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682533" y="5850255"/>
            <a:ext cx="2695346" cy="4240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Portland low-income community hub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988740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ECONOMICS &amp; 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11535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Sources: Pilot Census, Measured Exports, Federal Playbooks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4274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0733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depot-as-plant record — where buses discharged, for how long, and what rules paid them.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969514"/>
            <a:ext cx="10911535" cy="3570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 Electric School Bus Initiative (Apr 2025) — Map + Table of Utility V2G ESB Pilots in 19 states.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326587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Census behind pilot scale: fleet counts, durations, utilities and partners.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646627"/>
            <a:ext cx="10911535" cy="3570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National Grid, Beverly MA, summer 2021 — one ESB exported 50+ hours during peak demand.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00370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proof that peak discharge cut peaker-plant need and local emissions.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323740"/>
            <a:ext cx="10911535" cy="3570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Highland + National Grid, Beverly 2021-2024 — 3 buses sent 27.7 MWh back over 316 hours.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680814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follow-on quantifying multi-summer export volume and hours.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5000854"/>
            <a:ext cx="10911535" cy="3570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Edison + White Plains SD, 2018-Sept 2021 — 5 Lion/Nuvve buses in peak-shaving V2G test.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357927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NY first: buses charged/discharged power distributed direct to customers.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5677967"/>
            <a:ext cx="10911535" cy="3570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Highland + Green Mountain Power, 2023-2024 — 4 buses sent 31.7 MWh back over 282 hours.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03504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VPP-as-DER case: utility dispatched buses to optimize the grid.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7"><p:bg><p:bgPr><a:solidFill><a:srgbClr val="2D2D2A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640080" y="1691640"/><a:ext cx="10911535" cy="1554480"/></a:xfrm><a:prstGeom prst="rect"><a:avLst></a:avLst></a:prstGeom><a:noFill/><a:ln></a:ln></p:spPr><p:txBody><a:bodyPr wrap="square" rtlCol="0" anchor="ctr"></a:bodyPr><a:lstStyle/><a:p><a:pPr algn="ctr" indent="0" marL="0"><a:lnSpc><a:spcPts val="4500"/></a:lnSpc><a:buNone/></a:pPr><a:r><a:rPr lang="en-US" sz="4000" b="1" spc="-50" kern="0" dirty="0"><a:solidFill><a:srgbClr val="FFFFFF"/></a:solidFill><a:latin typeface="Merriweather" pitchFamily="34" charset="0"/><a:ea typeface="Merriweather" pitchFamily="34" charset="-122"/><a:cs typeface="Merriweather" pitchFamily="34" charset="-120"/></a:rPr><a:t>Dispatch Routes First, Rates Second, Grid Third</a:t></a:r><a:endParaRPr lang="en-US" sz="4000" dirty="0"/></a:p></p:txBody></p:sp><p:sp><p:nvSpPr><p:cNvPr id="3" name="Text 1"></p:cNvPr><p:cNvSpPr/><p:nvPr></p:nvPr></p:nvSpPr><p:spPr><a:xfrm><a:off x="2167695" y="3383280"/><a:ext cx="7856305" cy="329184"/></a:xfrm><a:prstGeom prst="rect"><a:avLst></a:avLst></a:prstGeom><a:noFill/><a:ln></a:ln></p:spPr><p:txBody><a:bodyPr wrap="square" rtlCol="0" anchor="t"></a:bodyPr><a:lstStyle/><a:p><a:pPr algn="ctr" indent="0" marL="0"><a:lnSpc><a:spcPts val="2200"/></a:lnSpc><a:buNone/></a:pPr><a:r><a:rPr lang="en-US" sz="1500" dirty="0"><a:solidFill><a:srgbClr val="A8A8A2"/></a:solidFill><a:latin typeface="Inter" pitchFamily="34" charset="0"/><a:ea typeface="Inter" pitchFamily="34" charset="-122"/><a:cs typeface="Inter" pitchFamily="34" charset="-120"/></a:rPr><a:t>The proof is measured 2 now run every depot the same way.</a:t></a:r><a:endParaRPr lang="en-US" sz="1500" dirty="0"/></a:p></p:txBody></p:sp><p:sp><p:nvSpPr><p:cNvPr id="4" name="Text 2"></p:cNvPr><p:cNvSpPr/><p:nvPr></p:nvPr></p:nvSpPr><p:spPr><a:xfrm><a:off x="2167695" y="3822192"/><a:ext cx="7856305" cy="1188720"/></a:xfrm><a:prstGeom prst="rect"><a:avLst></a:avLst></a:prstGeom><a:noFill/><a:ln></a:ln></p:spPr><p:txBody><a:bodyPr wrap="square" rtlCol="0" anchor="t"></a:bodyPr><a:lstStyle/><a:p><a:pPr algn="ctr" indent="0" marL="0"><a:lnSpc><a:spcPts val="2000"/></a:lnSpc><a:buNone/></a:pPr><a:r><a:rPr lang="en-US" sz="1300" dirty="0"><a:solidFill><a:srgbClr val="A8A8A2"/></a:solidFill><a:latin typeface="Inter" pitchFamily="34" charset="0"/><a:ea typeface="Inter" pitchFamily="34" charset="-122"/><a:cs typeface="Inter" pitchFamily="34" charset="-120"/></a:rPr><a:t>Beverly&apos;s 3 buses sent 27.7 MWh back over 316 hours in summers 2021-2024 because dispatch protected morning routes, charged off-peak, and exported on signal. Do that everywhere, and every depot becomes a reliable grid asset.</a:t></a:r><a:endParaRPr lang="en-US" sz="1300" dirty="0"/></a:p></p:txBody></p:sp><p:sp><p:nvSpPr><p:cNvPr id="5" name="Shape 3"></p:cNvPr><p:cNvSpPr/><p:nvPr></p:nvPr></p:nvSpPr><p:spPr><a:xfrm><a:off x="3647256" y="5376672"/><a:ext cx="4897184" cy="548640"/></a:xfrm><a:prstGeom prst="roundRect"><a:avLst><a:gd name="adj" fmla="val 66667"/></a:avLst></a:prstGeom><a:solidFill><a:srgbClr val="D97706"/></a:solidFill><a:ln></a:ln></p:spPr></p:sp><p:sp><p:nvSpPr><p:cNvPr id="6" name="Text 4"></p:cNvPr><p:cNvSpPr/><p:nvPr></p:nvPr></p:nvSpPr><p:spPr><a:xfrm><a:off x="3875856" y="5376672"/><a:ext cx="4439984" cy="548640"/></a:xfrm><a:prstGeom prst="rect"><a:avLst></a:avLst></a:prstGeom><a:noFill/><a:ln></a:ln></p:spPr><p:txBody><a:bodyPr wrap="square" rtlCol="0" anchor="ctr"></a:bodyPr><a:lstStyle/><a:p><a:pPr algn="ctr" indent="0" marL="0"><a:lnSpc><a:spcPts val="2200"/></a:lnSpc><a:buNone/></a:pPr><a:r><a:rPr lang="en-US" sz="1500" dirty="0"><a:solidFill><a:srgbClr val="0A0A0A"/></a:solidFill><a:latin typeface="Inter" pitchFamily="34" charset="0"/><a:ea typeface="Inter" pitchFamily="34" charset="-122"/><a:cs typeface="Inter" pitchFamily="34" charset="-120"/></a:rPr><a:t>Make your depot the next grid asset</a:t></a:r><a:endParaRPr lang="en-US" sz="1500" dirty="0"/></a:p></p:txBody></p:sp><p:sp><p:nvSpPr><p:cNvPr id="7" name="Text 5"></p:cNvPr><p:cNvSpPr/><p:nvPr></p:nvPr></p:nvSpPr><p:spPr><a:xfrm><a:off x="10454335" y="6327648"/><a:ext cx="1097280" cy="274320"/></a:xfrm><a:prstGeom prst="rect"><a:avLst></a:avLst></a:prstGeom><a:noFill/><a:ln></a:ln></p:spPr><p:txBody><a:bodyPr wrap="square" rtlCol="0" anchor="ctr"></a:bodyPr><a:lstStyle/><a:p><a:pPr algn="r" indent="0" marL="0"><a:buNone/></a:pPr><a:r><a:rPr lang="en-US" sz="900" dirty="0"><a:solidFill><a:srgbClr val="FFFFFF"/></a:solidFill><a:latin typeface="Inter" pitchFamily="34" charset="0"/><a:ea typeface="Inter" pitchFamily="34" charset="-122"/><a:cs typeface="Inter" pitchFamily="34" charset="-120"/></a:rPr><a:t>17 / 17</a:t></a:r><a:endParaRPr lang="en-US" sz="900" dirty="0"/></a:p></p:txBody></p:sp></p:spTree></p:cSld><p:clrMapOvr><a:masterClrMapping/></p:clrMapOvr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EIT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Bus Depot as a Virtual Power Plant</dc:title>
  <dc:subject>PptxGenJS Presentation</dc:subject>
  <dc:creator>Rohan Das, Mei Joseph, Sara Ali</dc:creator>
  <cp:lastModifiedBy>Rohan Das, Mei Joseph, Sara Ali</cp:lastModifiedBy>
  <cp:revision>1</cp:revision>
  <dcterms:created xsi:type="dcterms:W3CDTF">2026-09-09T10:33:51Z</dcterms:created>
  <dcterms:modified xsi:type="dcterms:W3CDTF">2026-09-09T10:33:51Z</dcterms:modified>
</cp:coreProperties>
</file>