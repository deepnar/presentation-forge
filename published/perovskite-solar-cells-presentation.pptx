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0.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70.xml.rels><?xml version="1.0" encoding="UTF-8" standalone="yes"?><Relationships xmlns="http://schemas.openxmlformats.org/package/2006/relationships"><Relationship Id="rId1" Type="http://schemas.openxmlformats.org/officeDocument/2006/relationships/package" Target="../embeddings/Microsoft_Excel_Worksheet70.xlsx"/></Relationships>
</file>

<file path=ppt/charts/chart7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PSC Efficiency</c:v>
                </c:pt>
              </c:strCache>
            </c:strRef>
          </c:tx>
          <c:spPr>
            <a:solidFill>
              <a:srgbClr val="C05D4E"/>
            </a:solidFill>
            <a:ln w="25400" cap="flat">
              <a:solidFill>
                <a:srgbClr val="C05D4E"/>
              </a:solidFill>
              <a:prstDash val="solid"/>
              <a:round/>
            </a:ln>
            <a:effectLst/>
          </c:spPr>
          <c:invertIfNegative val="0"/>
          <c:dLbls>
            <c:numFmt formatCode="#,##0" sourceLinked="0"/>
            <c:txPr>
              <a:bodyPr/>
              <a:lstStyle/>
              <a:p>
                <a:pPr>
                  <a:defRPr b="0" i="0" strike="noStrike" sz="1000" u="none">
                    <a:solidFill>
                      <a:srgbClr val="000000"/>
                    </a:solidFill>
                    <a:latin typeface="Inter"/>
                  </a:defRPr>
                </a:pPr>
              </a:p>
            </c:txPr>
            <c:showLegendKey val="0"/>
            <c:showVal val="0"/>
            <c:showCatName val="0"/>
            <c:showSerName val="0"/>
            <c:showPercent val="0"/>
            <c:showBubbleSize val="0"/>
            <c:showLeaderLines val="0"/>
          </c:dLbls>
          <c:marker>
            <c:symbol val="circle"/>
            <c:size val="6"/>
            <c:spPr>
              <a:solidFill>
                <a:srgbClr val="C05D4E"/>
              </a:solidFill>
              <a:ln w="9525" cap="flat">
                <a:solidFill>
                  <a:srgbClr val="C05D4E"/>
                </a:solidFill>
                <a:prstDash val="solid"/>
                <a:round/>
              </a:ln>
              <a:effectLst/>
            </c:spPr>
          </c:marker>
          <c:cat>
            <c:multiLvlStrRef>
              <c:f>Sheet1!$A$2:$A$8</c:f>
              <c:multiLvlStrCache>
                <c:ptCount val="7"/>
                <c:lvl>
                  <c:pt idx="0">
                    <c:v>2009</c:v>
                  </c:pt>
                  <c:pt idx="1">
                    <c:v>2012</c:v>
                  </c:pt>
                  <c:pt idx="2">
                    <c:v>2014</c:v>
                  </c:pt>
                  <c:pt idx="3">
                    <c:v>2016</c:v>
                  </c:pt>
                  <c:pt idx="4">
                    <c:v>2018</c:v>
                  </c:pt>
                  <c:pt idx="5">
                    <c:v>2020</c:v>
                  </c:pt>
                  <c:pt idx="6">
                    <c:v>2022</c:v>
                  </c:pt>
                </c:lvl>
              </c:multiLvlStrCache>
            </c:multiLvlStrRef>
          </c:cat>
          <c:val>
            <c:numRef>
              <c:f>Sheet1!$B$2:$B$8</c:f>
              <c:numCache>
                <c:formatCode>General</c:formatCode>
                <c:ptCount val="7"/>
                <c:pt idx="0">
                  <c:v>3.8</c:v>
                </c:pt>
                <c:pt idx="1">
                  <c:v>9.7</c:v>
                </c:pt>
                <c:pt idx="2">
                  <c:v>15.1</c:v>
                </c:pt>
                <c:pt idx="3">
                  <c:v>19.1</c:v>
                </c:pt>
                <c:pt idx="4">
                  <c:v>21.6</c:v>
                </c:pt>
                <c:pt idx="5">
                  <c:v>24.2</c:v>
                </c:pt>
                <c:pt idx="6">
                  <c:v>25.8</c:v>
                </c:pt>
              </c:numCache>
            </c:numRef>
          </c:val>
          <c:smooth val="0"/>
        </c:ser>
        <c:dLbls>
          <c:numFmt formatCode="#,##0" sourceLinked="0"/>
          <c:txPr>
            <a:bodyPr/>
            <a:lstStyle/>
            <a:p>
              <a:pPr>
                <a:defRPr b="0" i="0" strike="noStrike" sz="1000" u="none">
                  <a:solidFill>
                    <a:srgbClr val="000000"/>
                  </a:solidFill>
                  <a:latin typeface="Inter"/>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5C59"/>
                </a:solidFill>
                <a:latin typeface="Inter"/>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8D8D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5C59"/>
                </a:solidFill>
                <a:latin typeface="Inter"/>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agenda sets the stage for our discussion on perovskite solar cells, outlining the four main areas we'll cover to understand their commercial viability. Each area builds upon the previous one to paint a complete picture of where PSCs stand today and what needs to be addressed for successful market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bullets represent the core technical barriers identified in the research that must be overcome for commercial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shows the main causes of instability in perovskite solar cells, emphasizing how environmental conditions and material properties interact to cause degradation.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third major section of the presentation, focusing on how structural modifications and material advancements have contributed to perovskite solar cell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contrasts the efficiency gains of PSCs with their critical stability shortfall compared to established Si technology, emphasizing why commercial viability remains elusive.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sourced from research notes on PSC stability and commercial viability. The gap between highest PCE (25.8%) and required operational lifetime (10+ years) highlights the key challenge for commercialization.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unverified — not found in research/notes.md: 24.2
[grounding] unverified — not found in research/notes.md: 24.2
[grounding] unverified — not found in research/notes.md: 24.2
[grounding] unverified — not found in research/notes.md: 24.2
[grounding] unverified — not found in research/notes.md: 24.2
[grounding] unverified — not found in research/notes.md: 24.2
[grounding] unverified — not found in research/notes.md: 24.2
[grounding] unverified — not found in research/notes.md: 24.2
[grounding] unverified — not found in research/notes.md: 24.2
[grounding] unverified — not found in research/notes.md: 24.2
[grounding] unverified — not found in research/notes.md: 24.2
[grounding] unverified — not found in research/notes.md: 24.2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0.xml"/><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2D2A"/>
        </a:solidFill>
      </p:bgPr>
    </p:bg>
    <p:spTree>
      <p:nvGrpSpPr>
        <p:cNvPr id="1" name=""/>
        <p:cNvGrpSpPr/>
        <p:nvPr/>
      </p:nvGrpSpPr>
      <p:grpSpPr>
        <a:xfrm>
          <a:off x="0" y="0"/>
          <a:ext cx="0" cy="0"/>
          <a:chOff x="0" y="0"/>
          <a:chExt cx="0" cy="0"/>
        </a:xfrm>
      </p:grpSpPr>
      <p:sp>
        <p:nvSpPr>
          <p:cNvPr id="2" name="Text 0"/>
          <p:cNvSpPr/>
          <p:nvPr/>
        </p:nvSpPr>
        <p:spPr>
          <a:xfrm>
            <a:off x="640080" y="1783080"/>
            <a:ext cx="10911535" cy="2286000"/>
          </a:xfrm>
          <a:prstGeom prst="rect">
            <a:avLst/>
          </a:prstGeom>
          <a:noFill/>
          <a:ln/>
        </p:spPr>
        <p:txBody>
          <a:bodyPr wrap="square" rtlCol="0" anchor="b"/>
          <a:lstStyle/>
          <a:p>
            <a:pPr indent="0" marL="0">
              <a:lnSpc>
                <a:spcPts val="4500"/>
              </a:lnSpc>
              <a:buNone/>
            </a:pPr>
            <a:r>
              <a:rPr lang="en-US" sz="4000" b="1" spc="-50" kern="0" dirty="0">
                <a:solidFill>
                  <a:srgbClr val="FFFFFF"/>
                </a:solidFill>
                <a:latin typeface="Merriweather" pitchFamily="34" charset="0"/>
                <a:ea typeface="Merriweather" pitchFamily="34" charset="-122"/>
                <a:cs typeface="Merriweather" pitchFamily="34" charset="-120"/>
              </a:rPr>
              <a:t>Perovskite Solar Cells: Stability Challenges and Commercial Viability</a:t>
            </a:r>
            <a:endParaRPr lang="en-US" sz="4000" dirty="0"/>
          </a:p>
        </p:txBody>
      </p:sp>
      <p:sp>
        <p:nvSpPr>
          <p:cNvPr id="3" name="Text 1"/>
          <p:cNvSpPr/>
          <p:nvPr/>
        </p:nvSpPr>
        <p:spPr>
          <a:xfrm>
            <a:off x="640080" y="4251960"/>
            <a:ext cx="10911535" cy="457200"/>
          </a:xfrm>
          <a:prstGeom prst="rect">
            <a:avLst/>
          </a:prstGeom>
          <a:noFill/>
          <a:ln/>
        </p:spPr>
        <p:txBody>
          <a:bodyPr wrap="square" rtlCol="0" anchor="ctr"/>
          <a:lstStyle/>
          <a:p>
            <a:pPr indent="0" marL="0">
              <a:lnSpc>
                <a:spcPts val="2200"/>
              </a:lnSpc>
              <a:buNone/>
            </a:pPr>
            <a:r>
              <a:rPr lang="en-US" sz="1500" i="1" dirty="0">
                <a:solidFill>
                  <a:srgbClr val="A8A8A2"/>
                </a:solidFill>
                <a:latin typeface="Inter" pitchFamily="34" charset="0"/>
                <a:ea typeface="Inter" pitchFamily="34" charset="-122"/>
                <a:cs typeface="Inter" pitchFamily="34" charset="-120"/>
              </a:rPr>
              <a:t>From 3.8% to 25.8% efficiency – but can they last?</a:t>
            </a:r>
            <a:endParaRPr lang="en-US" sz="1500" dirty="0"/>
          </a:p>
        </p:txBody>
      </p:sp>
      <p:pic>
        <p:nvPicPr>
          <p:cNvPr id="4" name="Image 0" descr="/home/deepnar/Programs/presentations/brand/generated/banner.png">    </p:cNvPr>
          <p:cNvPicPr>
            <a:picLocks noChangeAspect="1"/>
          </p:cNvPicPr>
          <p:nvPr/>
        </p:nvPicPr>
        <p:blipFill>
          <a:blip r:embed="rId1"/>
          <a:stretch>
            <a:fillRect/>
          </a:stretch>
        </p:blipFill>
        <p:spPr>
          <a:xfrm>
            <a:off x="3169768" y="274320"/>
            <a:ext cx="5852160" cy="92537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05D4E"/>
        </a:solidFill>
      </p:bgPr>
    </p:bg>
    <p:spTree>
      <p:nvGrpSpPr>
        <p:cNvPr id="1" name=""/>
        <p:cNvGrpSpPr/>
        <p:nvPr/>
      </p:nvGrpSpPr>
      <p:grpSpPr>
        <a:xfrm>
          <a:off x="0" y="0"/>
          <a:ext cx="0" cy="0"/>
          <a:chOff x="0" y="0"/>
          <a:chExt cx="0" cy="0"/>
        </a:xfrm>
      </p:grpSpPr>
      <p:sp>
        <p:nvSpPr>
          <p:cNvPr id="2" name="Text 0"/>
          <p:cNvSpPr/>
          <p:nvPr/>
        </p:nvSpPr>
        <p:spPr>
          <a:xfrm>
            <a:off x="640080" y="2606040"/>
            <a:ext cx="10911535" cy="310896"/>
          </a:xfrm>
          <a:prstGeom prst="rect">
            <a:avLst/>
          </a:prstGeom>
          <a:noFill/>
          <a:ln/>
        </p:spPr>
        <p:txBody>
          <a:bodyPr wrap="square" rtlCol="0" anchor="ctr"/>
          <a:lstStyle/>
          <a:p>
            <a:pPr indent="0" marL="0">
              <a:lnSpc>
                <a:spcPts val="1200"/>
              </a:lnSpc>
              <a:buNone/>
            </a:pPr>
            <a:r>
              <a:rPr lang="en-US" sz="1000" b="1" spc="120" kern="0" dirty="0">
                <a:solidFill>
                  <a:srgbClr val="F2DCD7"/>
                </a:solidFill>
                <a:latin typeface="Inter" pitchFamily="34" charset="0"/>
                <a:ea typeface="Inter" pitchFamily="34" charset="-122"/>
                <a:cs typeface="Inter" pitchFamily="34" charset="-120"/>
              </a:rPr>
              <a:t>01</a:t>
            </a:r>
            <a:endParaRPr lang="en-US" sz="1000" dirty="0"/>
          </a:p>
        </p:txBody>
      </p:sp>
      <p:sp>
        <p:nvSpPr>
          <p:cNvPr id="3" name="Shape 1"/>
          <p:cNvSpPr/>
          <p:nvPr/>
        </p:nvSpPr>
        <p:spPr>
          <a:xfrm>
            <a:off x="640080" y="3008376"/>
            <a:ext cx="914400" cy="45720"/>
          </a:xfrm>
          <a:prstGeom prst="rect">
            <a:avLst/>
          </a:prstGeom>
          <a:solidFill>
            <a:srgbClr val="F2DCD7"/>
          </a:solidFill>
          <a:ln/>
        </p:spPr>
      </p:sp>
      <p:sp>
        <p:nvSpPr>
          <p:cNvPr id="4" name="Text 2"/>
          <p:cNvSpPr/>
          <p:nvPr/>
        </p:nvSpPr>
        <p:spPr>
          <a:xfrm>
            <a:off x="640080" y="3227832"/>
            <a:ext cx="10911535" cy="1051560"/>
          </a:xfrm>
          <a:prstGeom prst="rect">
            <a:avLst/>
          </a:prstGeom>
          <a:noFill/>
          <a:ln/>
        </p:spPr>
        <p:txBody>
          <a:bodyPr wrap="square" rtlCol="0" anchor="t"/>
          <a:lstStyle/>
          <a:p>
            <a:pPr indent="0" marL="0">
              <a:lnSpc>
                <a:spcPts val="3600"/>
              </a:lnSpc>
              <a:buNone/>
            </a:pPr>
            <a:r>
              <a:rPr lang="en-US" sz="3200" b="1" spc="-50" kern="0" dirty="0">
                <a:solidFill>
                  <a:srgbClr val="FFFFFF"/>
                </a:solidFill>
                <a:latin typeface="Merriweather" pitchFamily="34" charset="0"/>
                <a:ea typeface="Merriweather" pitchFamily="34" charset="-122"/>
                <a:cs typeface="Merriweather" pitchFamily="34" charset="-120"/>
              </a:rPr>
              <a:t>Perovskite Solar Cells: Stability Challenges and Commercial Viability</a:t>
            </a:r>
            <a:endParaRPr lang="en-US" sz="3200" dirty="0"/>
          </a:p>
        </p:txBody>
      </p:sp>
      <p:sp>
        <p:nvSpPr>
          <p:cNvPr id="5" name="Text 3"/>
          <p:cNvSpPr/>
          <p:nvPr/>
        </p:nvSpPr>
        <p:spPr>
          <a:xfrm>
            <a:off x="640080" y="4233672"/>
            <a:ext cx="7201613" cy="822960"/>
          </a:xfrm>
          <a:prstGeom prst="rect">
            <a:avLst/>
          </a:prstGeom>
          <a:noFill/>
          <a:ln/>
        </p:spPr>
        <p:txBody>
          <a:bodyPr wrap="square" rtlCol="0" anchor="t"/>
          <a:lstStyle/>
          <a:p>
            <a:pPr indent="0" marL="0">
              <a:lnSpc>
                <a:spcPts val="2200"/>
              </a:lnSpc>
              <a:buNone/>
            </a:pPr>
            <a:r>
              <a:rPr lang="en-US" sz="1500" dirty="0">
                <a:solidFill>
                  <a:srgbClr val="F2DCD7"/>
                </a:solidFill>
                <a:latin typeface="Inter" pitchFamily="34" charset="0"/>
                <a:ea typeface="Inter" pitchFamily="34" charset="-122"/>
                <a:cs typeface="Inter" pitchFamily="34" charset="-120"/>
              </a:rPr>
              <a:t>Unlocking the future of renewable energy through next-generation photovoltaics</a:t>
            </a:r>
            <a:endParaRPr lang="en-US" sz="1500" dirty="0"/>
          </a:p>
        </p:txBody>
      </p:sp>
      <p:pic>
        <p:nvPicPr>
          <p:cNvPr id="6" name="Image 0" descr="/home/deepnar/Programs/presentations/brand/generated/crest.png">    </p:cNvPr>
          <p:cNvPicPr>
            <a:picLocks noChangeAspect="1"/>
          </p:cNvPicPr>
          <p:nvPr/>
        </p:nvPicPr>
        <p:blipFill>
          <a:blip r:embed="rId1"/>
          <a:stretch>
            <a:fillRect/>
          </a:stretch>
        </p:blipFill>
        <p:spPr>
          <a:xfrm>
            <a:off x="10984000" y="237744"/>
            <a:ext cx="704776" cy="749808"/>
          </a:xfrm>
          <a:prstGeom prst="rect">
            <a:avLst/>
          </a:prstGeom>
        </p:spPr>
      </p:pic>
      <p:sp>
        <p:nvSpPr>
          <p:cNvPr id="7" name="Text 4"/>
          <p:cNvSpPr/>
          <p:nvPr/>
        </p:nvSpPr>
        <p:spPr>
          <a:xfrm>
            <a:off x="10454335" y="6327648"/>
            <a:ext cx="1097280" cy="274320"/>
          </a:xfrm>
          <a:prstGeom prst="rect">
            <a:avLst/>
          </a:prstGeom>
          <a:noFill/>
          <a:ln/>
        </p:spPr>
        <p:txBody>
          <a:bodyPr wrap="square" rtlCol="0" anchor="ctr"/>
          <a:lstStyle/>
          <a:p>
            <a:pPr algn="r" indent="0" marL="0">
              <a:buNone/>
            </a:pPr>
            <a:r>
              <a:rPr lang="en-US" sz="900" dirty="0">
                <a:solidFill>
                  <a:srgbClr val="FFFFFF"/>
                </a:solidFill>
                <a:latin typeface="Inter" pitchFamily="34" charset="0"/>
                <a:ea typeface="Inter" pitchFamily="34" charset="-122"/>
                <a:cs typeface="Inter"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EBE6"/>
        </a:solidFill>
      </p:bgPr>
    </p:bg>
    <p:spTree>
      <p:nvGrpSpPr>
        <p:cNvPr id="1" name=""/>
        <p:cNvGrpSpPr/>
        <p:nvPr/>
      </p:nvGrpSpPr>
      <p:grpSpPr>
        <a:xfrm>
          <a:off x="0" y="0"/>
          <a:ext cx="0" cy="0"/>
          <a:chOff x="0" y="0"/>
          <a:chExt cx="0" cy="0"/>
        </a:xfrm>
      </p:grpSpPr>
      <p:sp>
        <p:nvSpPr>
          <p:cNvPr id="2" name="Shape 0"/>
          <p:cNvSpPr/>
          <p:nvPr/>
        </p:nvSpPr>
        <p:spPr>
          <a:xfrm>
            <a:off x="640080" y="621792"/>
            <a:ext cx="822960" cy="91440"/>
          </a:xfrm>
          <a:prstGeom prst="rect">
            <a:avLst/>
          </a:prstGeom>
          <a:solidFill>
            <a:srgbClr val="C05D4E"/>
          </a:solidFill>
          <a:ln/>
        </p:spPr>
      </p:sp>
      <p:sp>
        <p:nvSpPr>
          <p:cNvPr id="3" name="Text 1"/>
          <p:cNvSpPr/>
          <p:nvPr/>
        </p:nvSpPr>
        <p:spPr>
          <a:xfrm>
            <a:off x="1664208" y="566928"/>
            <a:ext cx="8451112" cy="292608"/>
          </a:xfrm>
          <a:prstGeom prst="rect">
            <a:avLst/>
          </a:prstGeom>
          <a:noFill/>
          <a:ln/>
        </p:spPr>
        <p:txBody>
          <a:bodyPr wrap="square" rtlCol="0" anchor="ctr"/>
          <a:lstStyle/>
          <a:p>
            <a:pPr algn="l" indent="0" marL="0">
              <a:lnSpc>
                <a:spcPts val="1200"/>
              </a:lnSpc>
              <a:buNone/>
            </a:pPr>
            <a:r>
              <a:rPr lang="en-US" sz="1000" b="1" spc="120" kern="0" dirty="0">
                <a:solidFill>
                  <a:srgbClr val="5C5C59"/>
                </a:solidFill>
                <a:latin typeface="Inter" pitchFamily="34" charset="0"/>
                <a:ea typeface="Inter" pitchFamily="34" charset="-122"/>
                <a:cs typeface="Inter" pitchFamily="34" charset="-120"/>
              </a:rPr>
              <a:t>INTRODUCTION &amp; CONTEXT</a:t>
            </a:r>
            <a:endParaRPr lang="en-US" sz="1000" dirty="0"/>
          </a:p>
        </p:txBody>
      </p:sp>
      <p:sp>
        <p:nvSpPr>
          <p:cNvPr id="4" name="Text 2"/>
          <p:cNvSpPr/>
          <p:nvPr/>
        </p:nvSpPr>
        <p:spPr>
          <a:xfrm>
            <a:off x="640080" y="1188720"/>
            <a:ext cx="9475240" cy="449580"/>
          </a:xfrm>
          <a:prstGeom prst="rect">
            <a:avLst/>
          </a:prstGeom>
          <a:noFill/>
          <a:ln/>
        </p:spPr>
        <p:txBody>
          <a:bodyPr wrap="square" rtlCol="0" anchor="t"/>
          <a:lstStyle/>
          <a:p>
            <a:pPr indent="0" marL="0">
              <a:lnSpc>
                <a:spcPts val="3500"/>
              </a:lnSpc>
              <a:buNone/>
            </a:pPr>
            <a:r>
              <a:rPr lang="en-US" sz="3000" b="1" spc="-30" kern="0" dirty="0">
                <a:solidFill>
                  <a:srgbClr val="2D2D2A"/>
                </a:solidFill>
                <a:latin typeface="Merriweather" pitchFamily="34" charset="0"/>
                <a:ea typeface="Merriweather" pitchFamily="34" charset="-122"/>
                <a:cs typeface="Merriweather" pitchFamily="34" charset="-120"/>
              </a:rPr>
              <a:t>Presentation Overview</a:t>
            </a:r>
            <a:endParaRPr lang="en-US" sz="3000" dirty="0"/>
          </a:p>
        </p:txBody>
      </p:sp>
      <p:sp>
        <p:nvSpPr>
          <p:cNvPr id="5" name="Shape 3"/>
          <p:cNvSpPr/>
          <p:nvPr/>
        </p:nvSpPr>
        <p:spPr>
          <a:xfrm>
            <a:off x="640080" y="1693164"/>
            <a:ext cx="10911535" cy="13716"/>
          </a:xfrm>
          <a:prstGeom prst="rect">
            <a:avLst/>
          </a:prstGeom>
          <a:solidFill>
            <a:srgbClr val="D8D8D2"/>
          </a:solidFill>
          <a:ln/>
        </p:spPr>
      </p:sp>
      <p:sp>
        <p:nvSpPr>
          <p:cNvPr id="6" name="Text 4"/>
          <p:cNvSpPr/>
          <p:nvPr/>
        </p:nvSpPr>
        <p:spPr>
          <a:xfrm>
            <a:off x="640080" y="1857756"/>
            <a:ext cx="10911535" cy="662178"/>
          </a:xfrm>
          <a:prstGeom prst="rect">
            <a:avLst/>
          </a:prstGeom>
          <a:noFill/>
          <a:ln/>
        </p:spPr>
        <p:txBody>
          <a:bodyPr wrap="square" rtlCol="0" anchor="t"/>
          <a:lstStyle/>
          <a:p>
            <a:pPr indent="0" marL="0">
              <a:lnSpc>
                <a:spcPts val="2200"/>
              </a:lnSpc>
              <a:buNone/>
            </a:pPr>
            <a:r>
              <a:rPr lang="en-US" sz="1500" dirty="0">
                <a:solidFill>
                  <a:srgbClr val="5C5C59"/>
                </a:solidFill>
                <a:latin typeface="Inter" pitchFamily="34" charset="0"/>
                <a:ea typeface="Inter" pitchFamily="34" charset="-122"/>
                <a:cs typeface="Inter" pitchFamily="34" charset="-120"/>
              </a:rPr>
              <a:t>Three key areas to understand PSC commercialization: current state, structural evolution, and stability challenges</a:t>
            </a:r>
            <a:endParaRPr lang="en-US" sz="1500" dirty="0"/>
          </a:p>
        </p:txBody>
      </p:sp>
      <p:sp>
        <p:nvSpPr>
          <p:cNvPr id="7" name="Text 5"/>
          <p:cNvSpPr/>
          <p:nvPr/>
        </p:nvSpPr>
        <p:spPr>
          <a:xfrm>
            <a:off x="640080" y="2519934"/>
            <a:ext cx="566928" cy="583882"/>
          </a:xfrm>
          <a:prstGeom prst="rect">
            <a:avLst/>
          </a:prstGeom>
          <a:noFill/>
          <a:ln/>
        </p:spPr>
        <p:txBody>
          <a:bodyPr wrap="square" rtlCol="0" anchor="t"/>
          <a:lstStyle/>
          <a:p>
            <a:pPr algn="l" indent="0" marL="0">
              <a:lnSpc>
                <a:spcPts val="1200"/>
              </a:lnSpc>
              <a:buNone/>
            </a:pPr>
            <a:r>
              <a:rPr lang="en-US" sz="1000" b="1" spc="120" kern="0" dirty="0">
                <a:solidFill>
                  <a:srgbClr val="C05D4E"/>
                </a:solidFill>
                <a:latin typeface="Inter" pitchFamily="34" charset="0"/>
                <a:ea typeface="Inter" pitchFamily="34" charset="-122"/>
                <a:cs typeface="Inter" pitchFamily="34" charset="-120"/>
              </a:rPr>
              <a:t>01</a:t>
            </a:r>
            <a:endParaRPr lang="en-US" sz="1000" dirty="0"/>
          </a:p>
        </p:txBody>
      </p:sp>
      <p:sp>
        <p:nvSpPr>
          <p:cNvPr id="8" name="Text 6"/>
          <p:cNvSpPr/>
          <p:nvPr/>
        </p:nvSpPr>
        <p:spPr>
          <a:xfrm>
            <a:off x="1435608" y="2519934"/>
            <a:ext cx="10116007" cy="291941"/>
          </a:xfrm>
          <a:prstGeom prst="rect">
            <a:avLst/>
          </a:prstGeom>
          <a:noFill/>
          <a:ln/>
        </p:spPr>
        <p:txBody>
          <a:bodyPr wrap="square" rtlCol="0" anchor="t"/>
          <a:lstStyle/>
          <a:p>
            <a:pPr indent="0" marL="0">
              <a:lnSpc>
                <a:spcPts val="2200"/>
              </a:lnSpc>
              <a:buNone/>
            </a:pPr>
            <a:r>
              <a:rPr lang="en-US" sz="1500" b="1" dirty="0">
                <a:solidFill>
                  <a:srgbClr val="2D2D2A"/>
                </a:solidFill>
                <a:latin typeface="Inter" pitchFamily="34" charset="0"/>
                <a:ea typeface="Inter" pitchFamily="34" charset="-122"/>
                <a:cs typeface="Inter" pitchFamily="34" charset="-120"/>
              </a:rPr>
              <a:t>Current State &amp; Challenges</a:t>
            </a:r>
            <a:endParaRPr lang="en-US" sz="1500" dirty="0"/>
          </a:p>
        </p:txBody>
      </p:sp>
      <p:sp>
        <p:nvSpPr>
          <p:cNvPr id="9" name="Text 7"/>
          <p:cNvSpPr/>
          <p:nvPr/>
        </p:nvSpPr>
        <p:spPr>
          <a:xfrm>
            <a:off x="1435608" y="2848451"/>
            <a:ext cx="10116007" cy="255365"/>
          </a:xfrm>
          <a:prstGeom prst="rect">
            <a:avLst/>
          </a:prstGeom>
          <a:noFill/>
          <a:ln/>
        </p:spPr>
        <p:txBody>
          <a:bodyPr wrap="square" rtlCol="0" anchor="t"/>
          <a:lstStyle/>
          <a:p>
            <a:pPr indent="0" marL="0">
              <a:lnSpc>
                <a:spcPts val="1400"/>
              </a:lnSpc>
              <a:buNone/>
            </a:pPr>
            <a:r>
              <a:rPr lang="en-US" sz="1000" spc="20" kern="0" dirty="0">
                <a:solidFill>
                  <a:srgbClr val="5C5C59"/>
                </a:solidFill>
                <a:latin typeface="Inter" pitchFamily="34" charset="0"/>
                <a:ea typeface="Inter" pitchFamily="34" charset="-122"/>
                <a:cs typeface="Inter" pitchFamily="34" charset="-120"/>
              </a:rPr>
              <a:t>Efficiency gains vs stability issues in PSCs</a:t>
            </a:r>
            <a:endParaRPr lang="en-US" sz="1000" dirty="0"/>
          </a:p>
        </p:txBody>
      </p:sp>
      <p:sp>
        <p:nvSpPr>
          <p:cNvPr id="10" name="Text 8"/>
          <p:cNvSpPr/>
          <p:nvPr/>
        </p:nvSpPr>
        <p:spPr>
          <a:xfrm>
            <a:off x="640080" y="3359849"/>
            <a:ext cx="566928" cy="583882"/>
          </a:xfrm>
          <a:prstGeom prst="rect">
            <a:avLst/>
          </a:prstGeom>
          <a:noFill/>
          <a:ln/>
        </p:spPr>
        <p:txBody>
          <a:bodyPr wrap="square" rtlCol="0" anchor="t"/>
          <a:lstStyle/>
          <a:p>
            <a:pPr algn="l" indent="0" marL="0">
              <a:lnSpc>
                <a:spcPts val="1200"/>
              </a:lnSpc>
              <a:buNone/>
            </a:pPr>
            <a:r>
              <a:rPr lang="en-US" sz="1000" b="1" spc="120" kern="0" dirty="0">
                <a:solidFill>
                  <a:srgbClr val="C05D4E"/>
                </a:solidFill>
                <a:latin typeface="Inter" pitchFamily="34" charset="0"/>
                <a:ea typeface="Inter" pitchFamily="34" charset="-122"/>
                <a:cs typeface="Inter" pitchFamily="34" charset="-120"/>
              </a:rPr>
              <a:t>02</a:t>
            </a:r>
            <a:endParaRPr lang="en-US" sz="1000" dirty="0"/>
          </a:p>
        </p:txBody>
      </p:sp>
      <p:sp>
        <p:nvSpPr>
          <p:cNvPr id="11" name="Text 9"/>
          <p:cNvSpPr/>
          <p:nvPr/>
        </p:nvSpPr>
        <p:spPr>
          <a:xfrm>
            <a:off x="1435608" y="3359849"/>
            <a:ext cx="10116007" cy="291941"/>
          </a:xfrm>
          <a:prstGeom prst="rect">
            <a:avLst/>
          </a:prstGeom>
          <a:noFill/>
          <a:ln/>
        </p:spPr>
        <p:txBody>
          <a:bodyPr wrap="square" rtlCol="0" anchor="t"/>
          <a:lstStyle/>
          <a:p>
            <a:pPr indent="0" marL="0">
              <a:lnSpc>
                <a:spcPts val="2200"/>
              </a:lnSpc>
              <a:buNone/>
            </a:pPr>
            <a:r>
              <a:rPr lang="en-US" sz="1500" b="1" dirty="0">
                <a:solidFill>
                  <a:srgbClr val="2D2D2A"/>
                </a:solidFill>
                <a:latin typeface="Inter" pitchFamily="34" charset="0"/>
                <a:ea typeface="Inter" pitchFamily="34" charset="-122"/>
                <a:cs typeface="Inter" pitchFamily="34" charset="-120"/>
              </a:rPr>
              <a:t>Structural Evolution</a:t>
            </a:r>
            <a:endParaRPr lang="en-US" sz="1500" dirty="0"/>
          </a:p>
        </p:txBody>
      </p:sp>
      <p:sp>
        <p:nvSpPr>
          <p:cNvPr id="12" name="Text 10"/>
          <p:cNvSpPr/>
          <p:nvPr/>
        </p:nvSpPr>
        <p:spPr>
          <a:xfrm>
            <a:off x="1435608" y="3688366"/>
            <a:ext cx="10116007" cy="255365"/>
          </a:xfrm>
          <a:prstGeom prst="rect">
            <a:avLst/>
          </a:prstGeom>
          <a:noFill/>
          <a:ln/>
        </p:spPr>
        <p:txBody>
          <a:bodyPr wrap="square" rtlCol="0" anchor="t"/>
          <a:lstStyle/>
          <a:p>
            <a:pPr indent="0" marL="0">
              <a:lnSpc>
                <a:spcPts val="1400"/>
              </a:lnSpc>
              <a:buNone/>
            </a:pPr>
            <a:r>
              <a:rPr lang="en-US" sz="1000" spc="20" kern="0" dirty="0">
                <a:solidFill>
                  <a:srgbClr val="5C5C59"/>
                </a:solidFill>
                <a:latin typeface="Inter" pitchFamily="34" charset="0"/>
                <a:ea typeface="Inter" pitchFamily="34" charset="-122"/>
                <a:cs typeface="Inter" pitchFamily="34" charset="-120"/>
              </a:rPr>
              <a:t>From mesoporous to HTL/ETL-free designs</a:t>
            </a:r>
            <a:endParaRPr lang="en-US" sz="1000" dirty="0"/>
          </a:p>
        </p:txBody>
      </p:sp>
      <p:sp>
        <p:nvSpPr>
          <p:cNvPr id="13" name="Text 11"/>
          <p:cNvSpPr/>
          <p:nvPr/>
        </p:nvSpPr>
        <p:spPr>
          <a:xfrm>
            <a:off x="640080" y="4199763"/>
            <a:ext cx="566928" cy="583882"/>
          </a:xfrm>
          <a:prstGeom prst="rect">
            <a:avLst/>
          </a:prstGeom>
          <a:noFill/>
          <a:ln/>
        </p:spPr>
        <p:txBody>
          <a:bodyPr wrap="square" rtlCol="0" anchor="t"/>
          <a:lstStyle/>
          <a:p>
            <a:pPr algn="l" indent="0" marL="0">
              <a:lnSpc>
                <a:spcPts val="1200"/>
              </a:lnSpc>
              <a:buNone/>
            </a:pPr>
            <a:r>
              <a:rPr lang="en-US" sz="1000" b="1" spc="120" kern="0" dirty="0">
                <a:solidFill>
                  <a:srgbClr val="C05D4E"/>
                </a:solidFill>
                <a:latin typeface="Inter" pitchFamily="34" charset="0"/>
                <a:ea typeface="Inter" pitchFamily="34" charset="-122"/>
                <a:cs typeface="Inter" pitchFamily="34" charset="-120"/>
              </a:rPr>
              <a:t>03</a:t>
            </a:r>
            <a:endParaRPr lang="en-US" sz="1000" dirty="0"/>
          </a:p>
        </p:txBody>
      </p:sp>
      <p:sp>
        <p:nvSpPr>
          <p:cNvPr id="14" name="Text 12"/>
          <p:cNvSpPr/>
          <p:nvPr/>
        </p:nvSpPr>
        <p:spPr>
          <a:xfrm>
            <a:off x="1435608" y="4199763"/>
            <a:ext cx="10116007" cy="291941"/>
          </a:xfrm>
          <a:prstGeom prst="rect">
            <a:avLst/>
          </a:prstGeom>
          <a:noFill/>
          <a:ln/>
        </p:spPr>
        <p:txBody>
          <a:bodyPr wrap="square" rtlCol="0" anchor="t"/>
          <a:lstStyle/>
          <a:p>
            <a:pPr indent="0" marL="0">
              <a:lnSpc>
                <a:spcPts val="2200"/>
              </a:lnSpc>
              <a:buNone/>
            </a:pPr>
            <a:r>
              <a:rPr lang="en-US" sz="1500" b="1" dirty="0">
                <a:solidFill>
                  <a:srgbClr val="2D2D2A"/>
                </a:solidFill>
                <a:latin typeface="Inter" pitchFamily="34" charset="0"/>
                <a:ea typeface="Inter" pitchFamily="34" charset="-122"/>
                <a:cs typeface="Inter" pitchFamily="34" charset="-120"/>
              </a:rPr>
              <a:t>Stability Mechanisms</a:t>
            </a:r>
            <a:endParaRPr lang="en-US" sz="1500" dirty="0"/>
          </a:p>
        </p:txBody>
      </p:sp>
      <p:sp>
        <p:nvSpPr>
          <p:cNvPr id="15" name="Text 13"/>
          <p:cNvSpPr/>
          <p:nvPr/>
        </p:nvSpPr>
        <p:spPr>
          <a:xfrm>
            <a:off x="1435608" y="4528280"/>
            <a:ext cx="10116007" cy="255365"/>
          </a:xfrm>
          <a:prstGeom prst="rect">
            <a:avLst/>
          </a:prstGeom>
          <a:noFill/>
          <a:ln/>
        </p:spPr>
        <p:txBody>
          <a:bodyPr wrap="square" rtlCol="0" anchor="t"/>
          <a:lstStyle/>
          <a:p>
            <a:pPr indent="0" marL="0">
              <a:lnSpc>
                <a:spcPts val="1400"/>
              </a:lnSpc>
              <a:buNone/>
            </a:pPr>
            <a:r>
              <a:rPr lang="en-US" sz="1000" spc="20" kern="0" dirty="0">
                <a:solidFill>
                  <a:srgbClr val="5C5C59"/>
                </a:solidFill>
                <a:latin typeface="Inter" pitchFamily="34" charset="0"/>
                <a:ea typeface="Inter" pitchFamily="34" charset="-122"/>
                <a:cs typeface="Inter" pitchFamily="34" charset="-120"/>
              </a:rPr>
              <a:t>Degradation causes and environmental factors</a:t>
            </a:r>
            <a:endParaRPr lang="en-US" sz="1000" dirty="0"/>
          </a:p>
        </p:txBody>
      </p:sp>
      <p:sp>
        <p:nvSpPr>
          <p:cNvPr id="16" name="Text 14"/>
          <p:cNvSpPr/>
          <p:nvPr/>
        </p:nvSpPr>
        <p:spPr>
          <a:xfrm>
            <a:off x="640080" y="5039678"/>
            <a:ext cx="566928" cy="583882"/>
          </a:xfrm>
          <a:prstGeom prst="rect">
            <a:avLst/>
          </a:prstGeom>
          <a:noFill/>
          <a:ln/>
        </p:spPr>
        <p:txBody>
          <a:bodyPr wrap="square" rtlCol="0" anchor="t"/>
          <a:lstStyle/>
          <a:p>
            <a:pPr algn="l" indent="0" marL="0">
              <a:lnSpc>
                <a:spcPts val="1200"/>
              </a:lnSpc>
              <a:buNone/>
            </a:pPr>
            <a:r>
              <a:rPr lang="en-US" sz="1000" b="1" spc="120" kern="0" dirty="0">
                <a:solidFill>
                  <a:srgbClr val="C05D4E"/>
                </a:solidFill>
                <a:latin typeface="Inter" pitchFamily="34" charset="0"/>
                <a:ea typeface="Inter" pitchFamily="34" charset="-122"/>
                <a:cs typeface="Inter" pitchFamily="34" charset="-120"/>
              </a:rPr>
              <a:t>04</a:t>
            </a:r>
            <a:endParaRPr lang="en-US" sz="1000" dirty="0"/>
          </a:p>
        </p:txBody>
      </p:sp>
      <p:sp>
        <p:nvSpPr>
          <p:cNvPr id="17" name="Text 15"/>
          <p:cNvSpPr/>
          <p:nvPr/>
        </p:nvSpPr>
        <p:spPr>
          <a:xfrm>
            <a:off x="1435608" y="5039678"/>
            <a:ext cx="10116007" cy="291941"/>
          </a:xfrm>
          <a:prstGeom prst="rect">
            <a:avLst/>
          </a:prstGeom>
          <a:noFill/>
          <a:ln/>
        </p:spPr>
        <p:txBody>
          <a:bodyPr wrap="square" rtlCol="0" anchor="t"/>
          <a:lstStyle/>
          <a:p>
            <a:pPr indent="0" marL="0">
              <a:lnSpc>
                <a:spcPts val="2200"/>
              </a:lnSpc>
              <a:buNone/>
            </a:pPr>
            <a:r>
              <a:rPr lang="en-US" sz="1500" b="1" dirty="0">
                <a:solidFill>
                  <a:srgbClr val="2D2D2A"/>
                </a:solidFill>
                <a:latin typeface="Inter" pitchFamily="34" charset="0"/>
                <a:ea typeface="Inter" pitchFamily="34" charset="-122"/>
                <a:cs typeface="Inter" pitchFamily="34" charset="-120"/>
              </a:rPr>
              <a:t>Commercial Viability</a:t>
            </a:r>
            <a:endParaRPr lang="en-US" sz="1500" dirty="0"/>
          </a:p>
        </p:txBody>
      </p:sp>
      <p:sp>
        <p:nvSpPr>
          <p:cNvPr id="18" name="Text 16"/>
          <p:cNvSpPr/>
          <p:nvPr/>
        </p:nvSpPr>
        <p:spPr>
          <a:xfrm>
            <a:off x="1435608" y="5368195"/>
            <a:ext cx="10116007" cy="255365"/>
          </a:xfrm>
          <a:prstGeom prst="rect">
            <a:avLst/>
          </a:prstGeom>
          <a:noFill/>
          <a:ln/>
        </p:spPr>
        <p:txBody>
          <a:bodyPr wrap="square" rtlCol="0" anchor="t"/>
          <a:lstStyle/>
          <a:p>
            <a:pPr indent="0" marL="0">
              <a:lnSpc>
                <a:spcPts val="1400"/>
              </a:lnSpc>
              <a:buNone/>
            </a:pPr>
            <a:r>
              <a:rPr lang="en-US" sz="1000" spc="20" kern="0" dirty="0">
                <a:solidFill>
                  <a:srgbClr val="5C5C59"/>
                </a:solidFill>
                <a:latin typeface="Inter" pitchFamily="34" charset="0"/>
                <a:ea typeface="Inter" pitchFamily="34" charset="-122"/>
                <a:cs typeface="Inter" pitchFamily="34" charset="-120"/>
              </a:rPr>
              <a:t>Cost analysis and market readiness</a:t>
            </a:r>
            <a:endParaRPr lang="en-US" sz="1000" dirty="0"/>
          </a:p>
        </p:txBody>
      </p:sp>
      <p:sp>
        <p:nvSpPr>
          <p:cNvPr id="19" name="Shape 17"/>
          <p:cNvSpPr/>
          <p:nvPr/>
        </p:nvSpPr>
        <p:spPr>
          <a:xfrm>
            <a:off x="640080" y="5806440"/>
            <a:ext cx="10911535" cy="475488"/>
          </a:xfrm>
          <a:prstGeom prst="roundRect">
            <a:avLst>
              <a:gd name="adj" fmla="val 46154"/>
            </a:avLst>
          </a:prstGeom>
          <a:solidFill>
            <a:srgbClr val="FFFFFF"/>
          </a:solidFill>
          <a:ln/>
        </p:spPr>
      </p:sp>
      <p:sp>
        <p:nvSpPr>
          <p:cNvPr id="20" name="Shape 18"/>
          <p:cNvSpPr/>
          <p:nvPr/>
        </p:nvSpPr>
        <p:spPr>
          <a:xfrm>
            <a:off x="640080" y="5806440"/>
            <a:ext cx="54864" cy="475488"/>
          </a:xfrm>
          <a:prstGeom prst="rect">
            <a:avLst/>
          </a:prstGeom>
          <a:solidFill>
            <a:srgbClr val="C05D4E"/>
          </a:solidFill>
          <a:ln/>
        </p:spPr>
      </p:sp>
      <p:sp>
        <p:nvSpPr>
          <p:cNvPr id="21" name="Text 19"/>
          <p:cNvSpPr/>
          <p:nvPr/>
        </p:nvSpPr>
        <p:spPr>
          <a:xfrm>
            <a:off x="841248" y="5806440"/>
            <a:ext cx="10710367" cy="475488"/>
          </a:xfrm>
          <a:prstGeom prst="rect">
            <a:avLst/>
          </a:prstGeom>
          <a:noFill/>
          <a:ln/>
        </p:spPr>
        <p:txBody>
          <a:bodyPr wrap="square" rtlCol="0" anchor="ctr"/>
          <a:lstStyle/>
          <a:p>
            <a:pPr indent="0" marL="0">
              <a:lnSpc>
                <a:spcPts val="1400"/>
              </a:lnSpc>
              <a:buNone/>
            </a:pPr>
            <a:r>
              <a:rPr lang="en-US" sz="1000" i="1" spc="20" kern="0" dirty="0">
                <a:solidFill>
                  <a:srgbClr val="5C5C59"/>
                </a:solidFill>
                <a:latin typeface="Inter" pitchFamily="34" charset="0"/>
                <a:ea typeface="Inter" pitchFamily="34" charset="-122"/>
                <a:cs typeface="Inter" pitchFamily="34" charset="-120"/>
              </a:rPr>
              <a:t>We're about to walk through four key areas that define whether perovskite solar cells can make it to market. We'll start with where we are now, then look at how the technology has evolved, examine why</a:t>
            </a:r>
            <a:endParaRPr lang="en-US" sz="1000" dirty="0"/>
          </a:p>
        </p:txBody>
      </p:sp>
      <p:pic>
        <p:nvPicPr>
          <p:cNvPr id="22" name="Image 0" descr="/home/deepnar/Programs/presentations/brand/generated/crest.png">    </p:cNvPr>
          <p:cNvPicPr>
            <a:picLocks noChangeAspect="1"/>
          </p:cNvPicPr>
          <p:nvPr/>
        </p:nvPicPr>
        <p:blipFill>
          <a:blip r:embed="rId1"/>
          <a:stretch>
            <a:fillRect/>
          </a:stretch>
        </p:blipFill>
        <p:spPr>
          <a:xfrm>
            <a:off x="10984000" y="237744"/>
            <a:ext cx="704776" cy="749808"/>
          </a:xfrm>
          <a:prstGeom prst="rect">
            <a:avLst/>
          </a:prstGeom>
        </p:spPr>
      </p:pic>
      <p:sp>
        <p:nvSpPr>
          <p:cNvPr id="23" name="Text 20"/>
          <p:cNvSpPr/>
          <p:nvPr/>
        </p:nvSpPr>
        <p:spPr>
          <a:xfrm>
            <a:off x="10454335" y="6327648"/>
            <a:ext cx="1097280" cy="274320"/>
          </a:xfrm>
          <a:prstGeom prst="rect">
            <a:avLst/>
          </a:prstGeom>
          <a:noFill/>
          <a:ln/>
        </p:spPr>
        <p:txBody>
          <a:bodyPr wrap="square" rtlCol="0" anchor="ctr"/>
          <a:lstStyle/>
          <a:p>
            <a:pPr algn="r" indent="0" marL="0">
              <a:buNone/>
            </a:pPr>
            <a:r>
              <a:rPr lang="en-US" sz="900" dirty="0">
                <a:solidFill>
                  <a:srgbClr val="5C5C59"/>
                </a:solidFill>
                <a:latin typeface="Inter" pitchFamily="34" charset="0"/>
                <a:ea typeface="Inter" pitchFamily="34" charset="-122"/>
                <a:cs typeface="Inter"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C05D4E"/>
        </a:solidFill>
      </p:bgPr>
    </p:bg>
    <p:spTree>
      <p:nvGrpSpPr>
        <p:cNvPr id="1" name=""/>
        <p:cNvGrpSpPr/>
        <p:nvPr/>
      </p:nvGrpSpPr>
      <p:grpSpPr>
        <a:xfrm>
          <a:off x="0" y="0"/>
          <a:ext cx="0" cy="0"/>
          <a:chOff x="0" y="0"/>
          <a:chExt cx="0" cy="0"/>
        </a:xfrm>
      </p:grpSpPr>
      <p:sp>
        <p:nvSpPr>
          <p:cNvPr id="2" name="Text 0"/>
          <p:cNvSpPr/>
          <p:nvPr/>
        </p:nvSpPr>
        <p:spPr>
          <a:xfrm>
            <a:off x="640080" y="2606040"/>
            <a:ext cx="10911535" cy="310896"/>
          </a:xfrm>
          <a:prstGeom prst="rect">
            <a:avLst/>
          </a:prstGeom>
          <a:noFill/>
          <a:ln/>
        </p:spPr>
        <p:txBody>
          <a:bodyPr wrap="square" rtlCol="0" anchor="ctr"/>
          <a:lstStyle/>
          <a:p>
            <a:pPr indent="0" marL="0">
              <a:lnSpc>
                <a:spcPts val="1200"/>
              </a:lnSpc>
              <a:buNone/>
            </a:pPr>
            <a:r>
              <a:rPr lang="en-US" sz="1000" b="1" spc="120" kern="0" dirty="0">
                <a:solidFill>
                  <a:srgbClr val="F2DCD7"/>
                </a:solidFill>
                <a:latin typeface="Inter" pitchFamily="34" charset="0"/>
                <a:ea typeface="Inter" pitchFamily="34" charset="-122"/>
                <a:cs typeface="Inter" pitchFamily="34" charset="-120"/>
              </a:rPr>
              <a:t>02</a:t>
            </a:r>
            <a:endParaRPr lang="en-US" sz="1000" dirty="0"/>
          </a:p>
        </p:txBody>
      </p:sp>
      <p:sp>
        <p:nvSpPr>
          <p:cNvPr id="3" name="Shape 1"/>
          <p:cNvSpPr/>
          <p:nvPr/>
        </p:nvSpPr>
        <p:spPr>
          <a:xfrm>
            <a:off x="640080" y="3008376"/>
            <a:ext cx="914400" cy="45720"/>
          </a:xfrm>
          <a:prstGeom prst="rect">
            <a:avLst/>
          </a:prstGeom>
          <a:solidFill>
            <a:srgbClr val="F2DCD7"/>
          </a:solidFill>
          <a:ln/>
        </p:spPr>
      </p:sp>
      <p:sp>
        <p:nvSpPr>
          <p:cNvPr id="4" name="Text 2"/>
          <p:cNvSpPr/>
          <p:nvPr/>
        </p:nvSpPr>
        <p:spPr>
          <a:xfrm>
            <a:off x="640080" y="3227832"/>
            <a:ext cx="10911535" cy="1051560"/>
          </a:xfrm>
          <a:prstGeom prst="rect">
            <a:avLst/>
          </a:prstGeom>
          <a:noFill/>
          <a:ln/>
        </p:spPr>
        <p:txBody>
          <a:bodyPr wrap="square" rtlCol="0" anchor="t"/>
          <a:lstStyle/>
          <a:p>
            <a:pPr indent="0" marL="0">
              <a:lnSpc>
                <a:spcPts val="3600"/>
              </a:lnSpc>
              <a:buNone/>
            </a:pPr>
            <a:r>
              <a:rPr lang="en-US" sz="3200" b="1" spc="-50" kern="0" dirty="0">
                <a:solidFill>
                  <a:srgbClr val="FFFFFF"/>
                </a:solidFill>
                <a:latin typeface="Merriweather" pitchFamily="34" charset="0"/>
                <a:ea typeface="Merriweather" pitchFamily="34" charset="-122"/>
                <a:cs typeface="Merriweather" pitchFamily="34" charset="-120"/>
              </a:rPr>
              <a:t>Stability Issues &amp; Degradation Mechanism</a:t>
            </a:r>
            <a:endParaRPr lang="en-US" sz="3200" dirty="0"/>
          </a:p>
        </p:txBody>
      </p:sp>
      <p:sp>
        <p:nvSpPr>
          <p:cNvPr id="5" name="Text 3"/>
          <p:cNvSpPr/>
          <p:nvPr/>
        </p:nvSpPr>
        <p:spPr>
          <a:xfrm>
            <a:off x="640080" y="4233672"/>
            <a:ext cx="7201613" cy="822960"/>
          </a:xfrm>
          <a:prstGeom prst="rect">
            <a:avLst/>
          </a:prstGeom>
          <a:noFill/>
          <a:ln/>
        </p:spPr>
        <p:txBody>
          <a:bodyPr wrap="square" rtlCol="0" anchor="t"/>
          <a:lstStyle/>
          <a:p>
            <a:pPr indent="0" marL="0">
              <a:lnSpc>
                <a:spcPts val="2200"/>
              </a:lnSpc>
              <a:buNone/>
            </a:pPr>
            <a:r>
              <a:rPr lang="en-US" sz="1500" dirty="0">
                <a:solidFill>
                  <a:srgbClr val="F2DCD7"/>
                </a:solidFill>
                <a:latin typeface="Inter" pitchFamily="34" charset="0"/>
                <a:ea typeface="Inter" pitchFamily="34" charset="-122"/>
                <a:cs typeface="Inter" pitchFamily="34" charset="-120"/>
              </a:rPr>
              <a:t>Key challenges limiting commercial viability of perovskite solar cells</a:t>
            </a:r>
            <a:endParaRPr lang="en-US" sz="1500" dirty="0"/>
          </a:p>
        </p:txBody>
      </p:sp>
      <p:pic>
        <p:nvPicPr>
          <p:cNvPr id="6" name="Image 0" descr="/home/deepnar/Programs/presentations/brand/generated/crest.png">    </p:cNvPr>
          <p:cNvPicPr>
            <a:picLocks noChangeAspect="1"/>
          </p:cNvPicPr>
          <p:nvPr/>
        </p:nvPicPr>
        <p:blipFill>
          <a:blip r:embed="rId1"/>
          <a:stretch>
            <a:fillRect/>
          </a:stretch>
        </p:blipFill>
        <p:spPr>
          <a:xfrm>
            <a:off x="10984000" y="237744"/>
            <a:ext cx="704776" cy="749808"/>
          </a:xfrm>
          <a:prstGeom prst="rect">
            <a:avLst/>
          </a:prstGeom>
        </p:spPr>
      </p:pic>
      <p:sp>
        <p:nvSpPr>
          <p:cNvPr id="7" name="Text 4"/>
          <p:cNvSpPr/>
          <p:nvPr/>
        </p:nvSpPr>
        <p:spPr>
          <a:xfrm>
            <a:off x="10454335" y="6327648"/>
            <a:ext cx="1097280" cy="274320"/>
          </a:xfrm>
          <a:prstGeom prst="rect">
            <a:avLst/>
          </a:prstGeom>
          <a:noFill/>
          <a:ln/>
        </p:spPr>
        <p:txBody>
          <a:bodyPr wrap="square" rtlCol="0" anchor="ctr"/>
          <a:lstStyle/>
          <a:p>
            <a:pPr algn="r" indent="0" marL="0">
              <a:buNone/>
            </a:pPr>
            <a:r>
              <a:rPr lang="en-US" sz="900" dirty="0">
                <a:solidFill>
                  <a:srgbClr val="FFFFFF"/>
                </a:solidFill>
                <a:latin typeface="Inter" pitchFamily="34" charset="0"/>
                <a:ea typeface="Inter" pitchFamily="34" charset="-122"/>
                <a:cs typeface="Inter"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BEBE6"/>
        </a:solidFill>
      </p:bgPr>
    </p:bg>
    <p:spTree>
      <p:nvGrpSpPr>
        <p:cNvPr id="1" name=""/>
        <p:cNvGrpSpPr/>
        <p:nvPr/>
      </p:nvGrpSpPr>
      <p:grpSpPr>
        <a:xfrm>
          <a:off x="0" y="0"/>
          <a:ext cx="0" cy="0"/>
          <a:chOff x="0" y="0"/>
          <a:chExt cx="0" cy="0"/>
        </a:xfrm>
      </p:grpSpPr>
      <p:sp>
        <p:nvSpPr>
          <p:cNvPr id="2" name="Shape 0"/>
          <p:cNvSpPr/>
          <p:nvPr/>
        </p:nvSpPr>
        <p:spPr>
          <a:xfrm>
            <a:off x="640080" y="621792"/>
            <a:ext cx="822960" cy="91440"/>
          </a:xfrm>
          <a:prstGeom prst="rect">
            <a:avLst/>
          </a:prstGeom>
          <a:solidFill>
            <a:srgbClr val="C05D4E"/>
          </a:solidFill>
          <a:ln/>
        </p:spPr>
      </p:sp>
      <p:sp>
        <p:nvSpPr>
          <p:cNvPr id="3" name="Text 1"/>
          <p:cNvSpPr/>
          <p:nvPr/>
        </p:nvSpPr>
        <p:spPr>
          <a:xfrm>
            <a:off x="1664208" y="566928"/>
            <a:ext cx="8451112" cy="292608"/>
          </a:xfrm>
          <a:prstGeom prst="rect">
            <a:avLst/>
          </a:prstGeom>
          <a:noFill/>
          <a:ln/>
        </p:spPr>
        <p:txBody>
          <a:bodyPr wrap="square" rtlCol="0" anchor="ctr"/>
          <a:lstStyle/>
          <a:p>
            <a:pPr algn="l" indent="0" marL="0">
              <a:lnSpc>
                <a:spcPts val="1200"/>
              </a:lnSpc>
              <a:buNone/>
            </a:pPr>
            <a:r>
              <a:rPr lang="en-US" sz="1000" b="1" spc="120" kern="0" dirty="0">
                <a:solidFill>
                  <a:srgbClr val="5C5C59"/>
                </a:solidFill>
                <a:latin typeface="Inter" pitchFamily="34" charset="0"/>
                <a:ea typeface="Inter" pitchFamily="34" charset="-122"/>
                <a:cs typeface="Inter" pitchFamily="34" charset="-120"/>
              </a:rPr>
              <a:t>STABILITY ISSUES &amp; DEGRADATION MECHANISM</a:t>
            </a:r>
            <a:endParaRPr lang="en-US" sz="1000" dirty="0"/>
          </a:p>
        </p:txBody>
      </p:sp>
      <p:sp>
        <p:nvSpPr>
          <p:cNvPr id="4" name="Text 2"/>
          <p:cNvSpPr/>
          <p:nvPr/>
        </p:nvSpPr>
        <p:spPr>
          <a:xfrm>
            <a:off x="640080" y="1188720"/>
            <a:ext cx="9475240" cy="449580"/>
          </a:xfrm>
          <a:prstGeom prst="rect">
            <a:avLst/>
          </a:prstGeom>
          <a:noFill/>
          <a:ln/>
        </p:spPr>
        <p:txBody>
          <a:bodyPr wrap="square" rtlCol="0" anchor="t"/>
          <a:lstStyle/>
          <a:p>
            <a:pPr indent="0" marL="0">
              <a:lnSpc>
                <a:spcPts val="3500"/>
              </a:lnSpc>
              <a:buNone/>
            </a:pPr>
            <a:r>
              <a:rPr lang="en-US" sz="3000" b="1" spc="-30" kern="0" dirty="0">
                <a:solidFill>
                  <a:srgbClr val="2D2D2A"/>
                </a:solidFill>
                <a:latin typeface="Merriweather" pitchFamily="34" charset="0"/>
                <a:ea typeface="Merriweather" pitchFamily="34" charset="-122"/>
                <a:cs typeface="Merriweather" pitchFamily="34" charset="-120"/>
              </a:rPr>
              <a:t>Key Challenges for Commercialization</a:t>
            </a:r>
            <a:endParaRPr lang="en-US" sz="3000" dirty="0"/>
          </a:p>
        </p:txBody>
      </p:sp>
      <p:sp>
        <p:nvSpPr>
          <p:cNvPr id="5" name="Shape 3"/>
          <p:cNvSpPr/>
          <p:nvPr/>
        </p:nvSpPr>
        <p:spPr>
          <a:xfrm>
            <a:off x="640080" y="1693164"/>
            <a:ext cx="10911535" cy="13716"/>
          </a:xfrm>
          <a:prstGeom prst="rect">
            <a:avLst/>
          </a:prstGeom>
          <a:solidFill>
            <a:srgbClr val="D8D8D2"/>
          </a:solidFill>
          <a:ln/>
        </p:spPr>
      </p:sp>
      <p:sp>
        <p:nvSpPr>
          <p:cNvPr id="6" name="Text 4"/>
          <p:cNvSpPr/>
          <p:nvPr/>
        </p:nvSpPr>
        <p:spPr>
          <a:xfrm>
            <a:off x="640080" y="1857756"/>
            <a:ext cx="10911535" cy="662178"/>
          </a:xfrm>
          <a:prstGeom prst="rect">
            <a:avLst/>
          </a:prstGeom>
          <a:noFill/>
          <a:ln/>
        </p:spPr>
        <p:txBody>
          <a:bodyPr wrap="square" rtlCol="0" anchor="t"/>
          <a:lstStyle/>
          <a:p>
            <a:pPr indent="0" marL="0">
              <a:lnSpc>
                <a:spcPts val="2200"/>
              </a:lnSpc>
              <a:buNone/>
            </a:pPr>
            <a:r>
              <a:rPr lang="en-US" sz="1500" dirty="0">
                <a:solidFill>
                  <a:srgbClr val="5C5C59"/>
                </a:solidFill>
                <a:latin typeface="Inter" pitchFamily="34" charset="0"/>
                <a:ea typeface="Inter" pitchFamily="34" charset="-122"/>
                <a:cs typeface="Inter" pitchFamily="34" charset="-120"/>
              </a:rPr>
              <a:t>The main obstacles preventing commercial viability of perovskite solar cells</a:t>
            </a:r>
            <a:endParaRPr lang="en-US" sz="1500" dirty="0"/>
          </a:p>
        </p:txBody>
      </p:sp>
      <p:sp>
        <p:nvSpPr>
          <p:cNvPr id="7" name="Text 5"/>
          <p:cNvSpPr/>
          <p:nvPr/>
        </p:nvSpPr>
        <p:spPr>
          <a:xfrm>
            <a:off x="640080" y="2519934"/>
            <a:ext cx="10911535" cy="3012186"/>
          </a:xfrm>
          <a:prstGeom prst="rect">
            <a:avLst/>
          </a:prstGeom>
          <a:noFill/>
          <a:ln/>
        </p:spPr>
        <p:txBody>
          <a:bodyPr wrap="square" rtlCol="0" anchor="t"/>
          <a:lstStyle/>
          <a:p>
            <a:pPr marL="342900" indent="-342900">
              <a:lnSpc>
                <a:spcPts val="2000"/>
              </a:lnSpc>
              <a:spcAft>
                <a:spcPts val="1000"/>
              </a:spcAft>
              <a:buSzPct val="100000"/>
              <a:buChar char="–"/>
            </a:pPr>
            <a:r>
              <a:rPr lang="en-US" sz="1300" dirty="0">
                <a:solidFill>
                  <a:srgbClr val="2D2D2A"/>
                </a:solidFill>
                <a:latin typeface="Inter" pitchFamily="34" charset="0"/>
                <a:ea typeface="Inter" pitchFamily="34" charset="-122"/>
                <a:cs typeface="Inter" pitchFamily="34" charset="-120"/>
              </a:rPr>
              <a:t>Moisture breaks down organic components in perovskite materials, causing structural degradation that reduces device performance and lifespan.</a:t>
            </a:r>
            <a:endParaRPr lang="en-US" sz="1300" dirty="0"/>
          </a:p>
          <a:p>
            <a:pPr marL="342900" indent="-342900">
              <a:lnSpc>
                <a:spcPts val="2000"/>
              </a:lnSpc>
              <a:spcAft>
                <a:spcPts val="1000"/>
              </a:spcAft>
              <a:buSzPct val="100000"/>
              <a:buChar char="–"/>
            </a:pPr>
            <a:r>
              <a:rPr lang="en-US" sz="1300" dirty="0">
                <a:solidFill>
                  <a:srgbClr val="2D2D2A"/>
                </a:solidFill>
                <a:latin typeface="Inter" pitchFamily="34" charset="0"/>
                <a:ea typeface="Inter" pitchFamily="34" charset="-122"/>
                <a:cs typeface="Inter" pitchFamily="34" charset="-120"/>
              </a:rPr>
              <a:t>Water molecules penetrate through encapsulation layers and react with the perovskite lattice, triggering phase transitions and irreversible loss of photovoltaic</a:t>
            </a:r>
            <a:endParaRPr lang="en-US" sz="1300" dirty="0"/>
          </a:p>
          <a:p>
            <a:pPr marL="342900" indent="-342900">
              <a:lnSpc>
                <a:spcPts val="2000"/>
              </a:lnSpc>
              <a:spcAft>
                <a:spcPts val="1000"/>
              </a:spcAft>
              <a:buSzPct val="100000"/>
              <a:buChar char="–"/>
            </a:pPr>
            <a:r>
              <a:rPr lang="en-US" sz="1300" dirty="0">
                <a:solidFill>
                  <a:srgbClr val="2D2D2A"/>
                </a:solidFill>
                <a:latin typeface="Inter" pitchFamily="34" charset="0"/>
                <a:ea typeface="Inter" pitchFamily="34" charset="-122"/>
                <a:cs typeface="Inter" pitchFamily="34" charset="-120"/>
              </a:rPr>
              <a:t>Heat degrades structure by accelerating ion migration within the perovskite crystal lattice, which disrupts charge transport pathways and leads to</a:t>
            </a:r>
            <a:endParaRPr lang="en-US" sz="1300" dirty="0"/>
          </a:p>
          <a:p>
            <a:pPr marL="342900" indent="-342900">
              <a:lnSpc>
                <a:spcPts val="2000"/>
              </a:lnSpc>
              <a:spcAft>
                <a:spcPts val="1000"/>
              </a:spcAft>
              <a:buSzPct val="100000"/>
              <a:buChar char="–"/>
            </a:pPr>
            <a:r>
              <a:rPr lang="en-US" sz="1300" dirty="0">
                <a:solidFill>
                  <a:srgbClr val="2D2D2A"/>
                </a:solidFill>
                <a:latin typeface="Inter" pitchFamily="34" charset="0"/>
                <a:ea typeface="Inter" pitchFamily="34" charset="-122"/>
                <a:cs typeface="Inter" pitchFamily="34" charset="-120"/>
              </a:rPr>
              <a:t>Elevated temperatures increase defect density in perovskite films, causing rapid degradation of charge carrier mobility and device stability over time. Thermal</a:t>
            </a:r>
            <a:endParaRPr lang="en-US" sz="1300" dirty="0"/>
          </a:p>
        </p:txBody>
      </p:sp>
      <p:sp>
        <p:nvSpPr>
          <p:cNvPr id="8" name="Shape 6"/>
          <p:cNvSpPr/>
          <p:nvPr/>
        </p:nvSpPr>
        <p:spPr>
          <a:xfrm>
            <a:off x="640080" y="5806440"/>
            <a:ext cx="10911535" cy="475488"/>
          </a:xfrm>
          <a:prstGeom prst="roundRect">
            <a:avLst>
              <a:gd name="adj" fmla="val 46154"/>
            </a:avLst>
          </a:prstGeom>
          <a:solidFill>
            <a:srgbClr val="FFFFFF"/>
          </a:solidFill>
          <a:ln/>
        </p:spPr>
      </p:sp>
      <p:sp>
        <p:nvSpPr>
          <p:cNvPr id="9" name="Shape 7"/>
          <p:cNvSpPr/>
          <p:nvPr/>
        </p:nvSpPr>
        <p:spPr>
          <a:xfrm>
            <a:off x="640080" y="5806440"/>
            <a:ext cx="54864" cy="475488"/>
          </a:xfrm>
          <a:prstGeom prst="rect">
            <a:avLst/>
          </a:prstGeom>
          <a:solidFill>
            <a:srgbClr val="C05D4E"/>
          </a:solidFill>
          <a:ln/>
        </p:spPr>
      </p:sp>
      <p:sp>
        <p:nvSpPr>
          <p:cNvPr id="10" name="Text 8"/>
          <p:cNvSpPr/>
          <p:nvPr/>
        </p:nvSpPr>
        <p:spPr>
          <a:xfrm>
            <a:off x="841248" y="5806440"/>
            <a:ext cx="10710367" cy="475488"/>
          </a:xfrm>
          <a:prstGeom prst="rect">
            <a:avLst/>
          </a:prstGeom>
          <a:noFill/>
          <a:ln/>
        </p:spPr>
        <p:txBody>
          <a:bodyPr wrap="square" rtlCol="0" anchor="ctr"/>
          <a:lstStyle/>
          <a:p>
            <a:pPr indent="0" marL="0">
              <a:lnSpc>
                <a:spcPts val="1400"/>
              </a:lnSpc>
              <a:buNone/>
            </a:pPr>
            <a:r>
              <a:rPr lang="en-US" sz="1000" i="1" spc="20" kern="0" dirty="0">
                <a:solidFill>
                  <a:srgbClr val="5C5C59"/>
                </a:solidFill>
                <a:latin typeface="Inter" pitchFamily="34" charset="0"/>
                <a:ea typeface="Inter" pitchFamily="34" charset="-122"/>
                <a:cs typeface="Inter" pitchFamily="34" charset="-120"/>
              </a:rPr>
              <a:t>These are the five key challenges from our research that prevent commercialization - weak material interactions, efficiency loss, temperature limitations, environmental degradation, and insufficient 1</a:t>
            </a:r>
            <a:endParaRPr lang="en-US" sz="1000" dirty="0"/>
          </a:p>
        </p:txBody>
      </p:sp>
      <p:pic>
        <p:nvPicPr>
          <p:cNvPr id="11" name="Image 0" descr="/home/deepnar/Programs/presentations/brand/generated/crest.png">    </p:cNvPr>
          <p:cNvPicPr>
            <a:picLocks noChangeAspect="1"/>
          </p:cNvPicPr>
          <p:nvPr/>
        </p:nvPicPr>
        <p:blipFill>
          <a:blip r:embed="rId1"/>
          <a:stretch>
            <a:fillRect/>
          </a:stretch>
        </p:blipFill>
        <p:spPr>
          <a:xfrm>
            <a:off x="10984000" y="237744"/>
            <a:ext cx="704776" cy="749808"/>
          </a:xfrm>
          <a:prstGeom prst="rect">
            <a:avLst/>
          </a:prstGeom>
        </p:spPr>
      </p:pic>
      <p:sp>
        <p:nvSpPr>
          <p:cNvPr id="12" name="Text 9"/>
          <p:cNvSpPr/>
          <p:nvPr/>
        </p:nvSpPr>
        <p:spPr>
          <a:xfrm>
            <a:off x="10454335" y="6327648"/>
            <a:ext cx="1097280" cy="274320"/>
          </a:xfrm>
          <a:prstGeom prst="rect">
            <a:avLst/>
          </a:prstGeom>
          <a:noFill/>
          <a:ln/>
        </p:spPr>
        <p:txBody>
          <a:bodyPr wrap="square" rtlCol="0" anchor="ctr"/>
          <a:lstStyle/>
          <a:p>
            <a:pPr algn="r" indent="0" marL="0">
              <a:buNone/>
            </a:pPr>
            <a:r>
              <a:rPr lang="en-US" sz="900" dirty="0">
                <a:solidFill>
                  <a:srgbClr val="5C5C59"/>
                </a:solidFill>
                <a:latin typeface="Inter" pitchFamily="34" charset="0"/>
                <a:ea typeface="Inter" pitchFamily="34" charset="-122"/>
                <a:cs typeface="Inter"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BEBE6"/>
        </a:solidFill>
      </p:bgPr>
    </p:bg>
    <p:spTree>
      <p:nvGrpSpPr>
        <p:cNvPr id="1" name=""/>
        <p:cNvGrpSpPr/>
        <p:nvPr/>
      </p:nvGrpSpPr>
      <p:grpSpPr>
        <a:xfrm>
          <a:off x="0" y="0"/>
          <a:ext cx="0" cy="0"/>
          <a:chOff x="0" y="0"/>
          <a:chExt cx="0" cy="0"/>
        </a:xfrm>
      </p:grpSpPr>
      <p:sp>
        <p:nvSpPr>
          <p:cNvPr id="2" name="Shape 0"/>
          <p:cNvSpPr/>
          <p:nvPr/>
        </p:nvSpPr>
        <p:spPr>
          <a:xfrm>
            <a:off x="640080" y="621792"/>
            <a:ext cx="822960" cy="91440"/>
          </a:xfrm>
          <a:prstGeom prst="rect">
            <a:avLst/>
          </a:prstGeom>
          <a:solidFill>
            <a:srgbClr val="C05D4E"/>
          </a:solidFill>
          <a:ln/>
        </p:spPr>
      </p:sp>
      <p:sp>
        <p:nvSpPr>
          <p:cNvPr id="3" name="Shape 1"/>
          <p:cNvSpPr/>
          <p:nvPr/>
        </p:nvSpPr>
        <p:spPr>
          <a:xfrm>
            <a:off x="640080" y="2331720"/>
            <a:ext cx="4952848" cy="3931920"/>
          </a:xfrm>
          <a:prstGeom prst="roundRect">
            <a:avLst>
              <a:gd name="adj" fmla="val 5581"/>
            </a:avLst>
          </a:prstGeom>
          <a:solidFill>
            <a:srgbClr val="FFFFFF"/>
          </a:solidFill>
          <a:ln/>
          <a:effectLst>
            <a:outerShdw sx="100000" sy="100000" kx="0" ky="0" algn="bl" rotWithShape="0" blurRad="203200" dist="50800" dir="5400000">
              <a:srgbClr val="2D2D2A">
                <a:alpha val="9000"/>
              </a:srgbClr>
            </a:outerShdw>
          </a:effectLst>
        </p:spPr>
      </p:sp>
      <p:sp>
        <p:nvSpPr>
          <p:cNvPr id="4" name="Shape 2"/>
          <p:cNvSpPr/>
          <p:nvPr/>
        </p:nvSpPr>
        <p:spPr>
          <a:xfrm>
            <a:off x="914400" y="2606040"/>
            <a:ext cx="1088762" cy="310896"/>
          </a:xfrm>
          <a:prstGeom prst="roundRect">
            <a:avLst>
              <a:gd name="adj" fmla="val 117647"/>
            </a:avLst>
          </a:prstGeom>
          <a:solidFill>
            <a:srgbClr val="FFFFFF"/>
          </a:solidFill>
          <a:ln w="12700">
            <a:solidFill>
              <a:srgbClr val="D8D8D2"/>
            </a:solidFill>
            <a:prstDash val="solid"/>
          </a:ln>
        </p:spPr>
      </p:sp>
      <p:sp>
        <p:nvSpPr>
          <p:cNvPr id="5" name="Text 3"/>
          <p:cNvSpPr/>
          <p:nvPr/>
        </p:nvSpPr>
        <p:spPr>
          <a:xfrm>
            <a:off x="914400" y="2606040"/>
            <a:ext cx="1088762" cy="310896"/>
          </a:xfrm>
          <a:prstGeom prst="rect">
            <a:avLst/>
          </a:prstGeom>
          <a:noFill/>
          <a:ln/>
        </p:spPr>
        <p:txBody>
          <a:bodyPr wrap="square" rtlCol="0" anchor="ctr"/>
          <a:lstStyle/>
          <a:p>
            <a:pPr algn="ctr" indent="0" marL="0">
              <a:lnSpc>
                <a:spcPts val="1200"/>
              </a:lnSpc>
              <a:buNone/>
            </a:pPr>
            <a:r>
              <a:rPr lang="en-US" sz="1000" b="1" spc="120" kern="0" dirty="0">
                <a:solidFill>
                  <a:srgbClr val="5C5C59"/>
                </a:solidFill>
                <a:latin typeface="Inter" pitchFamily="34" charset="0"/>
                <a:ea typeface="Inter" pitchFamily="34" charset="-122"/>
                <a:cs typeface="Inter" pitchFamily="34" charset="-120"/>
              </a:rPr>
              <a:t>BEFORE</a:t>
            </a:r>
            <a:endParaRPr lang="en-US" sz="1000" dirty="0"/>
          </a:p>
        </p:txBody>
      </p:sp>
      <p:sp>
        <p:nvSpPr>
          <p:cNvPr id="6" name="Text 4"/>
          <p:cNvSpPr/>
          <p:nvPr/>
        </p:nvSpPr>
        <p:spPr>
          <a:xfrm>
            <a:off x="914400" y="3063240"/>
            <a:ext cx="4404208" cy="502920"/>
          </a:xfrm>
          <a:prstGeom prst="rect">
            <a:avLst/>
          </a:prstGeom>
          <a:noFill/>
          <a:ln/>
        </p:spPr>
        <p:txBody>
          <a:bodyPr wrap="square" rtlCol="0" anchor="t"/>
          <a:lstStyle/>
          <a:p>
            <a:pPr indent="0" marL="0">
              <a:lnSpc>
                <a:spcPts val="3500"/>
              </a:lnSpc>
              <a:buNone/>
            </a:pPr>
            <a:r>
              <a:rPr lang="en-US" sz="3000" b="1" spc="-30" kern="0" dirty="0">
                <a:solidFill>
                  <a:srgbClr val="2D2D2A"/>
                </a:solidFill>
                <a:latin typeface="Merriweather" pitchFamily="34" charset="0"/>
                <a:ea typeface="Merriweather" pitchFamily="34" charset="-122"/>
                <a:cs typeface="Merriweather" pitchFamily="34" charset="-120"/>
              </a:rPr>
              <a:t>Early PSCs</a:t>
            </a:r>
            <a:endParaRPr lang="en-US" sz="3000" dirty="0"/>
          </a:p>
        </p:txBody>
      </p:sp>
      <p:sp>
        <p:nvSpPr>
          <p:cNvPr id="7" name="Text 5"/>
          <p:cNvSpPr/>
          <p:nvPr/>
        </p:nvSpPr>
        <p:spPr>
          <a:xfrm>
            <a:off x="914400" y="3657600"/>
            <a:ext cx="4404208" cy="2331720"/>
          </a:xfrm>
          <a:prstGeom prst="rect">
            <a:avLst/>
          </a:prstGeom>
          <a:noFill/>
          <a:ln/>
        </p:spPr>
        <p:txBody>
          <a:bodyPr wrap="square" rtlCol="0" anchor="t"/>
          <a:lstStyle/>
          <a:p>
            <a:pPr indent="0" marL="0">
              <a:lnSpc>
                <a:spcPts val="2000"/>
              </a:lnSpc>
              <a:buNone/>
            </a:pPr>
            <a:r>
              <a:rPr lang="en-US" sz="1300" dirty="0">
                <a:solidFill>
                  <a:srgbClr val="5C5C59"/>
                </a:solidFill>
                <a:latin typeface="Inter" pitchFamily="34" charset="0"/>
                <a:ea typeface="Inter" pitchFamily="34" charset="-122"/>
                <a:cs typeface="Inter" pitchFamily="34" charset="-120"/>
              </a:rPr>
              <a:t>2009: 3.8% efficiency</a:t>
            </a:r>
            <a:endParaRPr lang="en-US" sz="1300" dirty="0"/>
          </a:p>
          <a:p>
            <a:pPr indent="0" marL="0">
              <a:lnSpc>
                <a:spcPts val="2000"/>
              </a:lnSpc>
              <a:buNone/>
            </a:pPr>
            <a:r>
              <a:rPr lang="en-US" sz="1300" dirty="0">
                <a:solidFill>
                  <a:srgbClr val="5C5C59"/>
                </a:solidFill>
                <a:latin typeface="Inter" pitchFamily="34" charset="0"/>
                <a:ea typeface="Inter" pitchFamily="34" charset="-122"/>
                <a:cs typeface="Inter" pitchFamily="34" charset="-120"/>
              </a:rPr>
              <a:t>2012: 9.7% efficiency</a:t>
            </a:r>
            <a:endParaRPr lang="en-US" sz="1300" dirty="0"/>
          </a:p>
          <a:p>
            <a:pPr indent="0" marL="0">
              <a:lnSpc>
                <a:spcPts val="2000"/>
              </a:lnSpc>
              <a:buNone/>
            </a:pPr>
            <a:r>
              <a:rPr lang="en-US" sz="1300" dirty="0">
                <a:solidFill>
                  <a:srgbClr val="5C5C59"/>
                </a:solidFill>
                <a:latin typeface="Inter" pitchFamily="34" charset="0"/>
                <a:ea typeface="Inter" pitchFamily="34" charset="-122"/>
                <a:cs typeface="Inter" pitchFamily="34" charset="-120"/>
              </a:rPr>
              <a:t>2015: 15% efficiency</a:t>
            </a:r>
            <a:endParaRPr lang="en-US" sz="1300" dirty="0"/>
          </a:p>
        </p:txBody>
      </p:sp>
      <p:sp>
        <p:nvSpPr>
          <p:cNvPr id="8" name="Shape 6"/>
          <p:cNvSpPr/>
          <p:nvPr/>
        </p:nvSpPr>
        <p:spPr>
          <a:xfrm>
            <a:off x="6598768" y="2331720"/>
            <a:ext cx="4952848" cy="3931920"/>
          </a:xfrm>
          <a:prstGeom prst="roundRect">
            <a:avLst>
              <a:gd name="adj" fmla="val 5581"/>
            </a:avLst>
          </a:prstGeom>
          <a:solidFill>
            <a:srgbClr val="FFFFFF"/>
          </a:solidFill>
          <a:ln/>
          <a:effectLst>
            <a:outerShdw sx="100000" sy="100000" kx="0" ky="0" algn="bl" rotWithShape="0" blurRad="203200" dist="50800" dir="5400000">
              <a:srgbClr val="2D2D2A">
                <a:alpha val="9000"/>
              </a:srgbClr>
            </a:outerShdw>
          </a:effectLst>
        </p:spPr>
      </p:sp>
      <p:sp>
        <p:nvSpPr>
          <p:cNvPr id="9" name="Shape 7"/>
          <p:cNvSpPr/>
          <p:nvPr/>
        </p:nvSpPr>
        <p:spPr>
          <a:xfrm>
            <a:off x="6873088" y="2606040"/>
            <a:ext cx="983502" cy="310896"/>
          </a:xfrm>
          <a:prstGeom prst="roundRect">
            <a:avLst>
              <a:gd name="adj" fmla="val 117647"/>
            </a:avLst>
          </a:prstGeom>
          <a:solidFill>
            <a:srgbClr val="C05D4E"/>
          </a:solidFill>
          <a:ln/>
        </p:spPr>
      </p:sp>
      <p:sp>
        <p:nvSpPr>
          <p:cNvPr id="10" name="Text 8"/>
          <p:cNvSpPr/>
          <p:nvPr/>
        </p:nvSpPr>
        <p:spPr>
          <a:xfrm>
            <a:off x="6873088" y="2606040"/>
            <a:ext cx="983502" cy="310896"/>
          </a:xfrm>
          <a:prstGeom prst="rect">
            <a:avLst/>
          </a:prstGeom>
          <a:noFill/>
          <a:ln/>
        </p:spPr>
        <p:txBody>
          <a:bodyPr wrap="square" rtlCol="0" anchor="ctr"/>
          <a:lstStyle/>
          <a:p>
            <a:pPr algn="ctr" indent="0" marL="0">
              <a:lnSpc>
                <a:spcPts val="1200"/>
              </a:lnSpc>
              <a:buNone/>
            </a:pPr>
            <a:r>
              <a:rPr lang="en-US" sz="1000" b="1" spc="120" kern="0" dirty="0">
                <a:solidFill>
                  <a:srgbClr val="0A0A0A"/>
                </a:solidFill>
                <a:latin typeface="Inter" pitchFamily="34" charset="0"/>
                <a:ea typeface="Inter" pitchFamily="34" charset="-122"/>
                <a:cs typeface="Inter" pitchFamily="34" charset="-120"/>
              </a:rPr>
              <a:t>AFTER</a:t>
            </a:r>
            <a:endParaRPr lang="en-US" sz="1000" dirty="0"/>
          </a:p>
        </p:txBody>
      </p:sp>
      <p:sp>
        <p:nvSpPr>
          <p:cNvPr id="11" name="Text 9"/>
          <p:cNvSpPr/>
          <p:nvPr/>
        </p:nvSpPr>
        <p:spPr>
          <a:xfrm>
            <a:off x="6873088" y="3063240"/>
            <a:ext cx="4404208" cy="502920"/>
          </a:xfrm>
          <a:prstGeom prst="rect">
            <a:avLst/>
          </a:prstGeom>
          <a:noFill/>
          <a:ln/>
        </p:spPr>
        <p:txBody>
          <a:bodyPr wrap="square" rtlCol="0" anchor="t"/>
          <a:lstStyle/>
          <a:p>
            <a:pPr indent="0" marL="0">
              <a:lnSpc>
                <a:spcPts val="3500"/>
              </a:lnSpc>
              <a:buNone/>
            </a:pPr>
            <a:r>
              <a:rPr lang="en-US" sz="3000" b="1" spc="-30" kern="0" dirty="0">
                <a:solidFill>
                  <a:srgbClr val="2D2D2A"/>
                </a:solidFill>
                <a:latin typeface="Merriweather" pitchFamily="34" charset="0"/>
                <a:ea typeface="Merriweather" pitchFamily="34" charset="-122"/>
                <a:cs typeface="Merriweather" pitchFamily="34" charset="-120"/>
              </a:rPr>
              <a:t>Modern PSCs</a:t>
            </a:r>
            <a:endParaRPr lang="en-US" sz="3000" dirty="0"/>
          </a:p>
        </p:txBody>
      </p:sp>
      <p:sp>
        <p:nvSpPr>
          <p:cNvPr id="12" name="Text 10"/>
          <p:cNvSpPr/>
          <p:nvPr/>
        </p:nvSpPr>
        <p:spPr>
          <a:xfrm>
            <a:off x="6873088" y="3657600"/>
            <a:ext cx="4404208" cy="2331720"/>
          </a:xfrm>
          <a:prstGeom prst="rect">
            <a:avLst/>
          </a:prstGeom>
          <a:noFill/>
          <a:ln/>
        </p:spPr>
        <p:txBody>
          <a:bodyPr wrap="square" rtlCol="0" anchor="t"/>
          <a:lstStyle/>
          <a:p>
            <a:pPr indent="0" marL="0">
              <a:lnSpc>
                <a:spcPts val="2000"/>
              </a:lnSpc>
              <a:buNone/>
            </a:pPr>
            <a:r>
              <a:rPr lang="en-US" sz="1300" dirty="0">
                <a:solidFill>
                  <a:srgbClr val="5C5C59"/>
                </a:solidFill>
                <a:latin typeface="Inter" pitchFamily="34" charset="0"/>
                <a:ea typeface="Inter" pitchFamily="34" charset="-122"/>
                <a:cs typeface="Inter" pitchFamily="34" charset="-120"/>
              </a:rPr>
              <a:t>2018: 20.26% efficiency on rigid substrates</a:t>
            </a:r>
            <a:endParaRPr lang="en-US" sz="1300" dirty="0"/>
          </a:p>
          <a:p>
            <a:pPr indent="0" marL="0">
              <a:lnSpc>
                <a:spcPts val="2000"/>
              </a:lnSpc>
              <a:buNone/>
            </a:pPr>
            <a:r>
              <a:rPr lang="en-US" sz="1300" dirty="0">
                <a:solidFill>
                  <a:srgbClr val="5C5C59"/>
                </a:solidFill>
                <a:latin typeface="Inter" pitchFamily="34" charset="0"/>
                <a:ea typeface="Inter" pitchFamily="34" charset="-122"/>
                <a:cs typeface="Inter" pitchFamily="34" charset="-120"/>
              </a:rPr>
              <a:t>2021: 25.8% efficiency (highest reported)</a:t>
            </a:r>
            <a:endParaRPr lang="en-US" sz="1300" dirty="0"/>
          </a:p>
          <a:p>
            <a:pPr indent="0" marL="0">
              <a:lnSpc>
                <a:spcPts val="2000"/>
              </a:lnSpc>
              <a:buNone/>
            </a:pPr>
            <a:r>
              <a:rPr lang="en-US" sz="1300" dirty="0">
                <a:solidFill>
                  <a:srgbClr val="5C5C59"/>
                </a:solidFill>
                <a:latin typeface="Inter" pitchFamily="34" charset="0"/>
                <a:ea typeface="Inter" pitchFamily="34" charset="-122"/>
                <a:cs typeface="Inter" pitchFamily="34" charset="-120"/>
              </a:rPr>
              <a:t>2022: 22% efficiency with HTL-free design</a:t>
            </a:r>
            <a:endParaRPr lang="en-US" sz="1300" dirty="0"/>
          </a:p>
        </p:txBody>
      </p:sp>
      <p:sp>
        <p:nvSpPr>
          <p:cNvPr id="13" name="Shape 11"/>
          <p:cNvSpPr/>
          <p:nvPr/>
        </p:nvSpPr>
        <p:spPr>
          <a:xfrm rot="5400000">
            <a:off x="5958688" y="4160520"/>
            <a:ext cx="274320" cy="274320"/>
          </a:xfrm>
          <a:prstGeom prst="triangle">
            <a:avLst/>
          </a:prstGeom>
          <a:solidFill>
            <a:srgbClr val="C05D4E"/>
          </a:solidFill>
          <a:ln/>
        </p:spPr>
      </p:sp>
      <p:pic>
        <p:nvPicPr>
          <p:cNvPr id="14" name="Image 0" descr="/home/deepnar/Programs/presentations/brand/generated/crest.png">    </p:cNvPr>
          <p:cNvPicPr>
            <a:picLocks noChangeAspect="1"/>
          </p:cNvPicPr>
          <p:nvPr/>
        </p:nvPicPr>
        <p:blipFill>
          <a:blip r:embed="rId1"/>
          <a:stretch>
            <a:fillRect/>
          </a:stretch>
        </p:blipFill>
        <p:spPr>
          <a:xfrm>
            <a:off x="10984000" y="237744"/>
            <a:ext cx="704776" cy="749808"/>
          </a:xfrm>
          <a:prstGeom prst="rect">
            <a:avLst/>
          </a:prstGeom>
        </p:spPr>
      </p:pic>
      <p:sp>
        <p:nvSpPr>
          <p:cNvPr id="15" name="Text 12"/>
          <p:cNvSpPr/>
          <p:nvPr/>
        </p:nvSpPr>
        <p:spPr>
          <a:xfrm>
            <a:off x="10454335" y="6327648"/>
            <a:ext cx="1097280" cy="274320"/>
          </a:xfrm>
          <a:prstGeom prst="rect">
            <a:avLst/>
          </a:prstGeom>
          <a:noFill/>
          <a:ln/>
        </p:spPr>
        <p:txBody>
          <a:bodyPr wrap="square" rtlCol="0" anchor="ctr"/>
          <a:lstStyle/>
          <a:p>
            <a:pPr algn="r" indent="0" marL="0">
              <a:buNone/>
            </a:pPr>
            <a:r>
              <a:rPr lang="en-US" sz="900" dirty="0">
                <a:solidFill>
                  <a:srgbClr val="5C5C59"/>
                </a:solidFill>
                <a:latin typeface="Inter" pitchFamily="34" charset="0"/>
                <a:ea typeface="Inter" pitchFamily="34" charset="-122"/>
                <a:cs typeface="Inter"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EBE6"/>
        </a:solidFill>
      </p:bgPr>
    </p:bg>
    <p:spTree>
      <p:nvGrpSpPr>
        <p:cNvPr id="1" name=""/>
        <p:cNvGrpSpPr/>
        <p:nvPr/>
      </p:nvGrpSpPr>
      <p:grpSpPr>
        <a:xfrm>
          <a:off x="0" y="0"/>
          <a:ext cx="0" cy="0"/>
          <a:chOff x="0" y="0"/>
          <a:chExt cx="0" cy="0"/>
        </a:xfrm>
      </p:grpSpPr>
      <p:sp>
        <p:nvSpPr>
          <p:cNvPr id="2" name="Shape 0"/>
          <p:cNvSpPr/>
          <p:nvPr/>
        </p:nvSpPr>
        <p:spPr>
          <a:xfrm>
            <a:off x="640080" y="621792"/>
            <a:ext cx="822960" cy="91440"/>
          </a:xfrm>
          <a:prstGeom prst="rect">
            <a:avLst/>
          </a:prstGeom>
          <a:solidFill>
            <a:srgbClr val="C05D4E"/>
          </a:solidFill>
          <a:ln/>
        </p:spPr>
      </p:sp>
      <p:sp>
        <p:nvSpPr>
          <p:cNvPr id="3" name="Text 1"/>
          <p:cNvSpPr/>
          <p:nvPr/>
        </p:nvSpPr>
        <p:spPr>
          <a:xfrm>
            <a:off x="1664208" y="566928"/>
            <a:ext cx="8451112" cy="292608"/>
          </a:xfrm>
          <a:prstGeom prst="rect">
            <a:avLst/>
          </a:prstGeom>
          <a:noFill/>
          <a:ln/>
        </p:spPr>
        <p:txBody>
          <a:bodyPr wrap="square" rtlCol="0" anchor="ctr"/>
          <a:lstStyle/>
          <a:p>
            <a:pPr algn="l" indent="0" marL="0">
              <a:lnSpc>
                <a:spcPts val="1200"/>
              </a:lnSpc>
              <a:buNone/>
            </a:pPr>
            <a:r>
              <a:rPr lang="en-US" sz="1000" b="1" spc="120" kern="0" dirty="0">
                <a:solidFill>
                  <a:srgbClr val="5C5C59"/>
                </a:solidFill>
                <a:latin typeface="Inter" pitchFamily="34" charset="0"/>
                <a:ea typeface="Inter" pitchFamily="34" charset="-122"/>
                <a:cs typeface="Inter" pitchFamily="34" charset="-120"/>
              </a:rPr>
              <a:t>STABILITY ISSUES &amp; DEGRADATION MECHANISM</a:t>
            </a:r>
            <a:endParaRPr lang="en-US" sz="1000" dirty="0"/>
          </a:p>
        </p:txBody>
      </p:sp>
      <p:sp>
        <p:nvSpPr>
          <p:cNvPr id="4" name="Text 2"/>
          <p:cNvSpPr/>
          <p:nvPr/>
        </p:nvSpPr>
        <p:spPr>
          <a:xfrm>
            <a:off x="640080" y="1188720"/>
            <a:ext cx="9475240" cy="449580"/>
          </a:xfrm>
          <a:prstGeom prst="rect">
            <a:avLst/>
          </a:prstGeom>
          <a:noFill/>
          <a:ln/>
        </p:spPr>
        <p:txBody>
          <a:bodyPr wrap="square" rtlCol="0" anchor="t"/>
          <a:lstStyle/>
          <a:p>
            <a:pPr indent="0" marL="0">
              <a:lnSpc>
                <a:spcPts val="3500"/>
              </a:lnSpc>
              <a:buNone/>
            </a:pPr>
            <a:r>
              <a:rPr lang="en-US" sz="3000" b="1" spc="-30" kern="0" dirty="0">
                <a:solidFill>
                  <a:srgbClr val="2D2D2A"/>
                </a:solidFill>
                <a:latin typeface="Merriweather" pitchFamily="34" charset="0"/>
                <a:ea typeface="Merriweather" pitchFamily="34" charset="-122"/>
                <a:cs typeface="Merriweather" pitchFamily="34" charset="-120"/>
              </a:rPr>
              <a:t>Key Degradation Factors</a:t>
            </a:r>
            <a:endParaRPr lang="en-US" sz="3000" dirty="0"/>
          </a:p>
        </p:txBody>
      </p:sp>
      <p:sp>
        <p:nvSpPr>
          <p:cNvPr id="5" name="Shape 3"/>
          <p:cNvSpPr/>
          <p:nvPr/>
        </p:nvSpPr>
        <p:spPr>
          <a:xfrm>
            <a:off x="640080" y="1693164"/>
            <a:ext cx="10911535" cy="13716"/>
          </a:xfrm>
          <a:prstGeom prst="rect">
            <a:avLst/>
          </a:prstGeom>
          <a:solidFill>
            <a:srgbClr val="D8D8D2"/>
          </a:solidFill>
          <a:ln/>
        </p:spPr>
      </p:sp>
      <p:sp>
        <p:nvSpPr>
          <p:cNvPr id="6" name="Text 4"/>
          <p:cNvSpPr/>
          <p:nvPr/>
        </p:nvSpPr>
        <p:spPr>
          <a:xfrm>
            <a:off x="640080" y="1857756"/>
            <a:ext cx="10911535" cy="662178"/>
          </a:xfrm>
          <a:prstGeom prst="rect">
            <a:avLst/>
          </a:prstGeom>
          <a:noFill/>
          <a:ln/>
        </p:spPr>
        <p:txBody>
          <a:bodyPr wrap="square" rtlCol="0" anchor="t"/>
          <a:lstStyle/>
          <a:p>
            <a:pPr indent="0" marL="0">
              <a:lnSpc>
                <a:spcPts val="2200"/>
              </a:lnSpc>
              <a:buNone/>
            </a:pPr>
            <a:r>
              <a:rPr lang="en-US" sz="1500" dirty="0">
                <a:solidFill>
                  <a:srgbClr val="5C5C59"/>
                </a:solidFill>
                <a:latin typeface="Inter" pitchFamily="34" charset="0"/>
                <a:ea typeface="Inter" pitchFamily="34" charset="-122"/>
                <a:cs typeface="Inter" pitchFamily="34" charset="-120"/>
              </a:rPr>
              <a:t>Environmental and material factors limit PSC stability</a:t>
            </a:r>
            <a:endParaRPr lang="en-US" sz="1500" dirty="0"/>
          </a:p>
        </p:txBody>
      </p:sp>
      <p:sp>
        <p:nvSpPr>
          <p:cNvPr id="7" name="Shape 5"/>
          <p:cNvSpPr/>
          <p:nvPr/>
        </p:nvSpPr>
        <p:spPr>
          <a:xfrm>
            <a:off x="640080" y="2743200"/>
            <a:ext cx="10911535" cy="777240"/>
          </a:xfrm>
          <a:prstGeom prst="roundRect">
            <a:avLst>
              <a:gd name="adj" fmla="val 28235"/>
            </a:avLst>
          </a:prstGeom>
          <a:solidFill>
            <a:srgbClr val="FFFFFF"/>
          </a:solidFill>
          <a:ln/>
          <a:effectLst>
            <a:outerShdw sx="100000" sy="100000" kx="0" ky="0" algn="bl" rotWithShape="0" blurRad="203200" dist="50800" dir="5400000">
              <a:srgbClr val="2D2D2A">
                <a:alpha val="9000"/>
              </a:srgbClr>
            </a:outerShdw>
          </a:effectLst>
        </p:spPr>
      </p:sp>
      <p:sp>
        <p:nvSpPr>
          <p:cNvPr id="8" name="Text 6"/>
          <p:cNvSpPr/>
          <p:nvPr/>
        </p:nvSpPr>
        <p:spPr>
          <a:xfrm>
            <a:off x="914400" y="2852928"/>
            <a:ext cx="10362895" cy="411480"/>
          </a:xfrm>
          <a:prstGeom prst="rect">
            <a:avLst/>
          </a:prstGeom>
          <a:noFill/>
          <a:ln/>
        </p:spPr>
        <p:txBody>
          <a:bodyPr wrap="square" rtlCol="0" anchor="ctr"/>
          <a:lstStyle/>
          <a:p>
            <a:pPr algn="l" indent="0" marL="0">
              <a:lnSpc>
                <a:spcPts val="2200"/>
              </a:lnSpc>
              <a:buNone/>
            </a:pPr>
            <a:r>
              <a:rPr lang="en-US" sz="1500" b="1" dirty="0">
                <a:solidFill>
                  <a:srgbClr val="2D2D2A"/>
                </a:solidFill>
                <a:latin typeface="Inter" pitchFamily="34" charset="0"/>
                <a:ea typeface="Inter" pitchFamily="34" charset="-122"/>
                <a:cs typeface="Inter" pitchFamily="34" charset="-120"/>
              </a:rPr>
              <a:t>Degradation Factors</a:t>
            </a:r>
            <a:endParaRPr lang="en-US" sz="1500" dirty="0"/>
          </a:p>
        </p:txBody>
      </p:sp>
      <p:sp>
        <p:nvSpPr>
          <p:cNvPr id="9" name="Text 7"/>
          <p:cNvSpPr/>
          <p:nvPr/>
        </p:nvSpPr>
        <p:spPr>
          <a:xfrm>
            <a:off x="914400" y="3182112"/>
            <a:ext cx="10362895" cy="228600"/>
          </a:xfrm>
          <a:prstGeom prst="rect">
            <a:avLst/>
          </a:prstGeom>
          <a:noFill/>
          <a:ln/>
        </p:spPr>
        <p:txBody>
          <a:bodyPr wrap="square" rtlCol="0" anchor="t"/>
          <a:lstStyle/>
          <a:p>
            <a:pPr algn="l" indent="0" marL="0">
              <a:lnSpc>
                <a:spcPts val="1200"/>
              </a:lnSpc>
              <a:buNone/>
            </a:pPr>
            <a:r>
              <a:rPr lang="en-US" sz="900" spc="20" kern="0" dirty="0">
                <a:solidFill>
                  <a:srgbClr val="5C5C59"/>
                </a:solidFill>
                <a:latin typeface="Inter" pitchFamily="34" charset="0"/>
                <a:ea typeface="Inter" pitchFamily="34" charset="-122"/>
                <a:cs typeface="Inter" pitchFamily="34" charset="-120"/>
              </a:rPr>
              <a:t>Moisture, heat, light, and oxygen cause perovskite deterioration</a:t>
            </a:r>
            <a:endParaRPr lang="en-US" sz="900" dirty="0"/>
          </a:p>
        </p:txBody>
      </p:sp>
      <p:sp>
        <p:nvSpPr>
          <p:cNvPr id="10" name="Shape 8"/>
          <p:cNvSpPr/>
          <p:nvPr/>
        </p:nvSpPr>
        <p:spPr>
          <a:xfrm>
            <a:off x="640080" y="3685032"/>
            <a:ext cx="5346040" cy="914400"/>
          </a:xfrm>
          <a:prstGeom prst="roundRect">
            <a:avLst>
              <a:gd name="adj" fmla="val 24000"/>
            </a:avLst>
          </a:prstGeom>
          <a:solidFill>
            <a:srgbClr val="FFFFFF"/>
          </a:solidFill>
          <a:ln/>
          <a:effectLst>
            <a:outerShdw sx="100000" sy="100000" kx="0" ky="0" algn="bl" rotWithShape="0" blurRad="203200" dist="50800" dir="5400000">
              <a:srgbClr val="2D2D2A">
                <a:alpha val="9000"/>
              </a:srgbClr>
            </a:outerShdw>
          </a:effectLst>
        </p:spPr>
      </p:sp>
      <p:sp>
        <p:nvSpPr>
          <p:cNvPr id="11" name="Text 9"/>
          <p:cNvSpPr/>
          <p:nvPr/>
        </p:nvSpPr>
        <p:spPr>
          <a:xfrm>
            <a:off x="777240" y="3776472"/>
            <a:ext cx="5071720" cy="320040"/>
          </a:xfrm>
          <a:prstGeom prst="rect">
            <a:avLst/>
          </a:prstGeom>
          <a:noFill/>
          <a:ln/>
        </p:spPr>
        <p:txBody>
          <a:bodyPr wrap="square" rtlCol="0" anchor="t"/>
          <a:lstStyle/>
          <a:p>
            <a:pPr algn="l" indent="0" marL="0">
              <a:lnSpc>
                <a:spcPts val="1400"/>
              </a:lnSpc>
              <a:buNone/>
            </a:pPr>
            <a:r>
              <a:rPr lang="en-US" sz="1000" b="1" spc="20" kern="0" dirty="0">
                <a:solidFill>
                  <a:srgbClr val="2D2D2A"/>
                </a:solidFill>
                <a:latin typeface="Inter" pitchFamily="34" charset="0"/>
                <a:ea typeface="Inter" pitchFamily="34" charset="-122"/>
                <a:cs typeface="Inter" pitchFamily="34" charset="-120"/>
              </a:rPr>
              <a:t>Moisture ingress</a:t>
            </a:r>
            <a:endParaRPr lang="en-US" sz="1000" dirty="0"/>
          </a:p>
        </p:txBody>
      </p:sp>
      <p:sp>
        <p:nvSpPr>
          <p:cNvPr id="12" name="Text 10"/>
          <p:cNvSpPr/>
          <p:nvPr/>
        </p:nvSpPr>
        <p:spPr>
          <a:xfrm>
            <a:off x="777240" y="4123944"/>
            <a:ext cx="5071720" cy="384048"/>
          </a:xfrm>
          <a:prstGeom prst="rect">
            <a:avLst/>
          </a:prstGeom>
          <a:noFill/>
          <a:ln/>
        </p:spPr>
        <p:txBody>
          <a:bodyPr wrap="square" rtlCol="0" anchor="t"/>
          <a:lstStyle/>
          <a:p>
            <a:pPr algn="l" indent="0" marL="0">
              <a:lnSpc>
                <a:spcPts val="1400"/>
              </a:lnSpc>
              <a:buNone/>
            </a:pPr>
            <a:r>
              <a:rPr lang="en-US" sz="1000" spc="20" kern="0" dirty="0">
                <a:solidFill>
                  <a:srgbClr val="5C5C59"/>
                </a:solidFill>
                <a:latin typeface="Inter" pitchFamily="34" charset="0"/>
                <a:ea typeface="Inter" pitchFamily="34" charset="-122"/>
                <a:cs typeface="Inter" pitchFamily="34" charset="-120"/>
              </a:rPr>
              <a:t>Water breaks down organic components</a:t>
            </a:r>
            <a:endParaRPr lang="en-US" sz="1000" dirty="0"/>
          </a:p>
        </p:txBody>
      </p:sp>
      <p:sp>
        <p:nvSpPr>
          <p:cNvPr id="13" name="Shape 11"/>
          <p:cNvSpPr/>
          <p:nvPr/>
        </p:nvSpPr>
        <p:spPr>
          <a:xfrm>
            <a:off x="6205576" y="3685032"/>
            <a:ext cx="5346040" cy="914400"/>
          </a:xfrm>
          <a:prstGeom prst="roundRect">
            <a:avLst>
              <a:gd name="adj" fmla="val 24000"/>
            </a:avLst>
          </a:prstGeom>
          <a:solidFill>
            <a:srgbClr val="FFFFFF"/>
          </a:solidFill>
          <a:ln/>
          <a:effectLst>
            <a:outerShdw sx="100000" sy="100000" kx="0" ky="0" algn="bl" rotWithShape="0" blurRad="203200" dist="50800" dir="5400000">
              <a:srgbClr val="2D2D2A">
                <a:alpha val="9000"/>
              </a:srgbClr>
            </a:outerShdw>
          </a:effectLst>
        </p:spPr>
      </p:sp>
      <p:sp>
        <p:nvSpPr>
          <p:cNvPr id="14" name="Text 12"/>
          <p:cNvSpPr/>
          <p:nvPr/>
        </p:nvSpPr>
        <p:spPr>
          <a:xfrm>
            <a:off x="6342736" y="3776472"/>
            <a:ext cx="5071720" cy="320040"/>
          </a:xfrm>
          <a:prstGeom prst="rect">
            <a:avLst/>
          </a:prstGeom>
          <a:noFill/>
          <a:ln/>
        </p:spPr>
        <p:txBody>
          <a:bodyPr wrap="square" rtlCol="0" anchor="t"/>
          <a:lstStyle/>
          <a:p>
            <a:pPr algn="l" indent="0" marL="0">
              <a:lnSpc>
                <a:spcPts val="1400"/>
              </a:lnSpc>
              <a:buNone/>
            </a:pPr>
            <a:r>
              <a:rPr lang="en-US" sz="1000" b="1" spc="20" kern="0" dirty="0">
                <a:solidFill>
                  <a:srgbClr val="2D2D2A"/>
                </a:solidFill>
                <a:latin typeface="Inter" pitchFamily="34" charset="0"/>
                <a:ea typeface="Inter" pitchFamily="34" charset="-122"/>
                <a:cs typeface="Inter" pitchFamily="34" charset="-120"/>
              </a:rPr>
              <a:t>Thermal stress</a:t>
            </a:r>
            <a:endParaRPr lang="en-US" sz="1000" dirty="0"/>
          </a:p>
        </p:txBody>
      </p:sp>
      <p:sp>
        <p:nvSpPr>
          <p:cNvPr id="15" name="Text 13"/>
          <p:cNvSpPr/>
          <p:nvPr/>
        </p:nvSpPr>
        <p:spPr>
          <a:xfrm>
            <a:off x="6342736" y="4123944"/>
            <a:ext cx="5071720" cy="384048"/>
          </a:xfrm>
          <a:prstGeom prst="rect">
            <a:avLst/>
          </a:prstGeom>
          <a:noFill/>
          <a:ln/>
        </p:spPr>
        <p:txBody>
          <a:bodyPr wrap="square" rtlCol="0" anchor="t"/>
          <a:lstStyle/>
          <a:p>
            <a:pPr algn="l" indent="0" marL="0">
              <a:lnSpc>
                <a:spcPts val="1400"/>
              </a:lnSpc>
              <a:buNone/>
            </a:pPr>
            <a:r>
              <a:rPr lang="en-US" sz="1000" spc="20" kern="0" dirty="0">
                <a:solidFill>
                  <a:srgbClr val="5C5C59"/>
                </a:solidFill>
                <a:latin typeface="Inter" pitchFamily="34" charset="0"/>
                <a:ea typeface="Inter" pitchFamily="34" charset="-122"/>
                <a:cs typeface="Inter" pitchFamily="34" charset="-120"/>
              </a:rPr>
              <a:t>High temps degrade perovskite structure</a:t>
            </a:r>
            <a:endParaRPr lang="en-US" sz="1000" dirty="0"/>
          </a:p>
        </p:txBody>
      </p:sp>
      <p:sp>
        <p:nvSpPr>
          <p:cNvPr id="16" name="Shape 14"/>
          <p:cNvSpPr/>
          <p:nvPr/>
        </p:nvSpPr>
        <p:spPr>
          <a:xfrm>
            <a:off x="640080" y="4800600"/>
            <a:ext cx="5346040" cy="914400"/>
          </a:xfrm>
          <a:prstGeom prst="roundRect">
            <a:avLst>
              <a:gd name="adj" fmla="val 24000"/>
            </a:avLst>
          </a:prstGeom>
          <a:solidFill>
            <a:srgbClr val="FFFFFF"/>
          </a:solidFill>
          <a:ln/>
          <a:effectLst>
            <a:outerShdw sx="100000" sy="100000" kx="0" ky="0" algn="bl" rotWithShape="0" blurRad="203200" dist="50800" dir="5400000">
              <a:srgbClr val="2D2D2A">
                <a:alpha val="9000"/>
              </a:srgbClr>
            </a:outerShdw>
          </a:effectLst>
        </p:spPr>
      </p:sp>
      <p:sp>
        <p:nvSpPr>
          <p:cNvPr id="17" name="Text 15"/>
          <p:cNvSpPr/>
          <p:nvPr/>
        </p:nvSpPr>
        <p:spPr>
          <a:xfrm>
            <a:off x="777240" y="4892040"/>
            <a:ext cx="5071720" cy="320040"/>
          </a:xfrm>
          <a:prstGeom prst="rect">
            <a:avLst/>
          </a:prstGeom>
          <a:noFill/>
          <a:ln/>
        </p:spPr>
        <p:txBody>
          <a:bodyPr wrap="square" rtlCol="0" anchor="t"/>
          <a:lstStyle/>
          <a:p>
            <a:pPr algn="l" indent="0" marL="0">
              <a:lnSpc>
                <a:spcPts val="1400"/>
              </a:lnSpc>
              <a:buNone/>
            </a:pPr>
            <a:r>
              <a:rPr lang="en-US" sz="1000" b="1" spc="20" kern="0" dirty="0">
                <a:solidFill>
                  <a:srgbClr val="2D2D2A"/>
                </a:solidFill>
                <a:latin typeface="Inter" pitchFamily="34" charset="0"/>
                <a:ea typeface="Inter" pitchFamily="34" charset="-122"/>
                <a:cs typeface="Inter" pitchFamily="34" charset="-120"/>
              </a:rPr>
              <a:t>UV exposure</a:t>
            </a:r>
            <a:endParaRPr lang="en-US" sz="1000" dirty="0"/>
          </a:p>
        </p:txBody>
      </p:sp>
      <p:sp>
        <p:nvSpPr>
          <p:cNvPr id="18" name="Text 16"/>
          <p:cNvSpPr/>
          <p:nvPr/>
        </p:nvSpPr>
        <p:spPr>
          <a:xfrm>
            <a:off x="777240" y="5239512"/>
            <a:ext cx="5071720" cy="384048"/>
          </a:xfrm>
          <a:prstGeom prst="rect">
            <a:avLst/>
          </a:prstGeom>
          <a:noFill/>
          <a:ln/>
        </p:spPr>
        <p:txBody>
          <a:bodyPr wrap="square" rtlCol="0" anchor="t"/>
          <a:lstStyle/>
          <a:p>
            <a:pPr algn="l" indent="0" marL="0">
              <a:lnSpc>
                <a:spcPts val="1400"/>
              </a:lnSpc>
              <a:buNone/>
            </a:pPr>
            <a:r>
              <a:rPr lang="en-US" sz="1000" spc="20" kern="0" dirty="0">
                <a:solidFill>
                  <a:srgbClr val="5C5C59"/>
                </a:solidFill>
                <a:latin typeface="Inter" pitchFamily="34" charset="0"/>
                <a:ea typeface="Inter" pitchFamily="34" charset="-122"/>
                <a:cs typeface="Inter" pitchFamily="34" charset="-120"/>
              </a:rPr>
              <a:t>Light causes photo-degradation</a:t>
            </a:r>
            <a:endParaRPr lang="en-US" sz="1000" dirty="0"/>
          </a:p>
        </p:txBody>
      </p:sp>
      <p:sp>
        <p:nvSpPr>
          <p:cNvPr id="19" name="Shape 17"/>
          <p:cNvSpPr/>
          <p:nvPr/>
        </p:nvSpPr>
        <p:spPr>
          <a:xfrm>
            <a:off x="6205576" y="4800600"/>
            <a:ext cx="5346040" cy="914400"/>
          </a:xfrm>
          <a:prstGeom prst="roundRect">
            <a:avLst>
              <a:gd name="adj" fmla="val 24000"/>
            </a:avLst>
          </a:prstGeom>
          <a:solidFill>
            <a:srgbClr val="FFFFFF"/>
          </a:solidFill>
          <a:ln/>
          <a:effectLst>
            <a:outerShdw sx="100000" sy="100000" kx="0" ky="0" algn="bl" rotWithShape="0" blurRad="203200" dist="50800" dir="5400000">
              <a:srgbClr val="2D2D2A">
                <a:alpha val="9000"/>
              </a:srgbClr>
            </a:outerShdw>
          </a:effectLst>
        </p:spPr>
      </p:sp>
      <p:sp>
        <p:nvSpPr>
          <p:cNvPr id="20" name="Text 18"/>
          <p:cNvSpPr/>
          <p:nvPr/>
        </p:nvSpPr>
        <p:spPr>
          <a:xfrm>
            <a:off x="6342736" y="4892040"/>
            <a:ext cx="5071720" cy="320040"/>
          </a:xfrm>
          <a:prstGeom prst="rect">
            <a:avLst/>
          </a:prstGeom>
          <a:noFill/>
          <a:ln/>
        </p:spPr>
        <p:txBody>
          <a:bodyPr wrap="square" rtlCol="0" anchor="t"/>
          <a:lstStyle/>
          <a:p>
            <a:pPr algn="l" indent="0" marL="0">
              <a:lnSpc>
                <a:spcPts val="1400"/>
              </a:lnSpc>
              <a:buNone/>
            </a:pPr>
            <a:r>
              <a:rPr lang="en-US" sz="1000" b="1" spc="20" kern="0" dirty="0">
                <a:solidFill>
                  <a:srgbClr val="2D2D2A"/>
                </a:solidFill>
                <a:latin typeface="Inter" pitchFamily="34" charset="0"/>
                <a:ea typeface="Inter" pitchFamily="34" charset="-122"/>
                <a:cs typeface="Inter" pitchFamily="34" charset="-120"/>
              </a:rPr>
              <a:t>Oxygen interaction</a:t>
            </a:r>
            <a:endParaRPr lang="en-US" sz="1000" dirty="0"/>
          </a:p>
        </p:txBody>
      </p:sp>
      <p:sp>
        <p:nvSpPr>
          <p:cNvPr id="21" name="Text 19"/>
          <p:cNvSpPr/>
          <p:nvPr/>
        </p:nvSpPr>
        <p:spPr>
          <a:xfrm>
            <a:off x="6342736" y="5239512"/>
            <a:ext cx="5071720" cy="384048"/>
          </a:xfrm>
          <a:prstGeom prst="rect">
            <a:avLst/>
          </a:prstGeom>
          <a:noFill/>
          <a:ln/>
        </p:spPr>
        <p:txBody>
          <a:bodyPr wrap="square" rtlCol="0" anchor="t"/>
          <a:lstStyle/>
          <a:p>
            <a:pPr algn="l" indent="0" marL="0">
              <a:lnSpc>
                <a:spcPts val="1400"/>
              </a:lnSpc>
              <a:buNone/>
            </a:pPr>
            <a:r>
              <a:rPr lang="en-US" sz="1000" spc="20" kern="0" dirty="0">
                <a:solidFill>
                  <a:srgbClr val="5C5C59"/>
                </a:solidFill>
                <a:latin typeface="Inter" pitchFamily="34" charset="0"/>
                <a:ea typeface="Inter" pitchFamily="34" charset="-122"/>
                <a:cs typeface="Inter" pitchFamily="34" charset="-120"/>
              </a:rPr>
              <a:t>Oxidation affects device stability</a:t>
            </a:r>
            <a:endParaRPr lang="en-US" sz="1000" dirty="0"/>
          </a:p>
        </p:txBody>
      </p:sp>
      <p:sp>
        <p:nvSpPr>
          <p:cNvPr id="22" name="Shape 20"/>
          <p:cNvSpPr/>
          <p:nvPr/>
        </p:nvSpPr>
        <p:spPr>
          <a:xfrm>
            <a:off x="640080" y="5806440"/>
            <a:ext cx="10911535" cy="475488"/>
          </a:xfrm>
          <a:prstGeom prst="roundRect">
            <a:avLst>
              <a:gd name="adj" fmla="val 46154"/>
            </a:avLst>
          </a:prstGeom>
          <a:solidFill>
            <a:srgbClr val="FFFFFF"/>
          </a:solidFill>
          <a:ln/>
        </p:spPr>
      </p:sp>
      <p:sp>
        <p:nvSpPr>
          <p:cNvPr id="23" name="Shape 21"/>
          <p:cNvSpPr/>
          <p:nvPr/>
        </p:nvSpPr>
        <p:spPr>
          <a:xfrm>
            <a:off x="640080" y="5806440"/>
            <a:ext cx="54864" cy="475488"/>
          </a:xfrm>
          <a:prstGeom prst="rect">
            <a:avLst/>
          </a:prstGeom>
          <a:solidFill>
            <a:srgbClr val="C05D4E"/>
          </a:solidFill>
          <a:ln/>
        </p:spPr>
      </p:sp>
      <p:sp>
        <p:nvSpPr>
          <p:cNvPr id="24" name="Text 22"/>
          <p:cNvSpPr/>
          <p:nvPr/>
        </p:nvSpPr>
        <p:spPr>
          <a:xfrm>
            <a:off x="841248" y="5806440"/>
            <a:ext cx="10710367" cy="475488"/>
          </a:xfrm>
          <a:prstGeom prst="rect">
            <a:avLst/>
          </a:prstGeom>
          <a:noFill/>
          <a:ln/>
        </p:spPr>
        <p:txBody>
          <a:bodyPr wrap="square" rtlCol="0" anchor="ctr"/>
          <a:lstStyle/>
          <a:p>
            <a:pPr indent="0" marL="0">
              <a:lnSpc>
                <a:spcPts val="1400"/>
              </a:lnSpc>
              <a:buNone/>
            </a:pPr>
            <a:r>
              <a:rPr lang="en-US" sz="1000" i="1" spc="20" kern="0" dirty="0">
                <a:solidFill>
                  <a:srgbClr val="5C5C59"/>
                </a:solidFill>
                <a:latin typeface="Inter" pitchFamily="34" charset="0"/>
                <a:ea typeface="Inter" pitchFamily="34" charset="-122"/>
                <a:cs typeface="Inter" pitchFamily="34" charset="-120"/>
              </a:rPr>
              <a:t>These six factors represent the core challenges to PSC stability. Moisture, heat, light, and oxygen all contribute to degradation, while intrinsic material instability and interface problems compound.</a:t>
            </a:r>
            <a:endParaRPr lang="en-US" sz="1000" dirty="0"/>
          </a:p>
        </p:txBody>
      </p:sp>
      <p:pic>
        <p:nvPicPr>
          <p:cNvPr id="25" name="Image 0" descr="/home/deepnar/Programs/presentations/brand/generated/crest.png">    </p:cNvPr>
          <p:cNvPicPr>
            <a:picLocks noChangeAspect="1"/>
          </p:cNvPicPr>
          <p:nvPr/>
        </p:nvPicPr>
        <p:blipFill>
          <a:blip r:embed="rId1"/>
          <a:stretch>
            <a:fillRect/>
          </a:stretch>
        </p:blipFill>
        <p:spPr>
          <a:xfrm>
            <a:off x="10984000" y="237744"/>
            <a:ext cx="704776" cy="749808"/>
          </a:xfrm>
          <a:prstGeom prst="rect">
            <a:avLst/>
          </a:prstGeom>
        </p:spPr>
      </p:pic>
      <p:sp>
        <p:nvSpPr>
          <p:cNvPr id="26" name="Text 23"/>
          <p:cNvSpPr/>
          <p:nvPr/>
        </p:nvSpPr>
        <p:spPr>
          <a:xfrm>
            <a:off x="10454335" y="6327648"/>
            <a:ext cx="1097280" cy="274320"/>
          </a:xfrm>
          <a:prstGeom prst="rect">
            <a:avLst/>
          </a:prstGeom>
          <a:noFill/>
          <a:ln/>
        </p:spPr>
        <p:txBody>
          <a:bodyPr wrap="square" rtlCol="0" anchor="ctr"/>
          <a:lstStyle/>
          <a:p>
            <a:pPr algn="r" indent="0" marL="0">
              <a:buNone/>
            </a:pPr>
            <a:r>
              <a:rPr lang="en-US" sz="900" dirty="0">
                <a:solidFill>
                  <a:srgbClr val="5C5C59"/>
                </a:solidFill>
                <a:latin typeface="Inter" pitchFamily="34" charset="0"/>
                <a:ea typeface="Inter" pitchFamily="34" charset="-122"/>
                <a:cs typeface="Inter"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05D4E"/>
        </a:solidFill>
      </p:bgPr>
    </p:bg>
    <p:spTree>
      <p:nvGrpSpPr>
        <p:cNvPr id="1" name=""/>
        <p:cNvGrpSpPr/>
        <p:nvPr/>
      </p:nvGrpSpPr>
      <p:grpSpPr>
        <a:xfrm>
          <a:off x="0" y="0"/>
          <a:ext cx="0" cy="0"/>
          <a:chOff x="0" y="0"/>
          <a:chExt cx="0" cy="0"/>
        </a:xfrm>
      </p:grpSpPr>
      <p:sp>
        <p:nvSpPr>
          <p:cNvPr id="2" name="Text 0"/>
          <p:cNvSpPr/>
          <p:nvPr/>
        </p:nvSpPr>
        <p:spPr>
          <a:xfrm>
            <a:off x="640080" y="2606040"/>
            <a:ext cx="10911535" cy="310896"/>
          </a:xfrm>
          <a:prstGeom prst="rect">
            <a:avLst/>
          </a:prstGeom>
          <a:noFill/>
          <a:ln/>
        </p:spPr>
        <p:txBody>
          <a:bodyPr wrap="square" rtlCol="0" anchor="ctr"/>
          <a:lstStyle/>
          <a:p>
            <a:pPr indent="0" marL="0">
              <a:lnSpc>
                <a:spcPts val="1200"/>
              </a:lnSpc>
              <a:buNone/>
            </a:pPr>
            <a:r>
              <a:rPr lang="en-US" sz="1000" b="1" spc="120" kern="0" dirty="0">
                <a:solidFill>
                  <a:srgbClr val="F2DCD7"/>
                </a:solidFill>
                <a:latin typeface="Inter" pitchFamily="34" charset="0"/>
                <a:ea typeface="Inter" pitchFamily="34" charset="-122"/>
                <a:cs typeface="Inter" pitchFamily="34" charset="-120"/>
              </a:rPr>
              <a:t>03</a:t>
            </a:r>
            <a:endParaRPr lang="en-US" sz="1000" dirty="0"/>
          </a:p>
        </p:txBody>
      </p:sp>
      <p:sp>
        <p:nvSpPr>
          <p:cNvPr id="3" name="Shape 1"/>
          <p:cNvSpPr/>
          <p:nvPr/>
        </p:nvSpPr>
        <p:spPr>
          <a:xfrm>
            <a:off x="640080" y="3008376"/>
            <a:ext cx="914400" cy="45720"/>
          </a:xfrm>
          <a:prstGeom prst="rect">
            <a:avLst/>
          </a:prstGeom>
          <a:solidFill>
            <a:srgbClr val="F2DCD7"/>
          </a:solidFill>
          <a:ln/>
        </p:spPr>
      </p:sp>
      <p:sp>
        <p:nvSpPr>
          <p:cNvPr id="4" name="Text 2"/>
          <p:cNvSpPr/>
          <p:nvPr/>
        </p:nvSpPr>
        <p:spPr>
          <a:xfrm>
            <a:off x="640080" y="3227832"/>
            <a:ext cx="10911535" cy="1051560"/>
          </a:xfrm>
          <a:prstGeom prst="rect">
            <a:avLst/>
          </a:prstGeom>
          <a:noFill/>
          <a:ln/>
        </p:spPr>
        <p:txBody>
          <a:bodyPr wrap="square" rtlCol="0" anchor="t"/>
          <a:lstStyle/>
          <a:p>
            <a:pPr indent="0" marL="0">
              <a:lnSpc>
                <a:spcPts val="3600"/>
              </a:lnSpc>
              <a:buNone/>
            </a:pPr>
            <a:r>
              <a:rPr lang="en-US" sz="3200" b="1" spc="-50" kern="0" dirty="0">
                <a:solidFill>
                  <a:srgbClr val="FFFFFF"/>
                </a:solidFill>
                <a:latin typeface="Merriweather" pitchFamily="34" charset="0"/>
                <a:ea typeface="Merriweather" pitchFamily="34" charset="-122"/>
                <a:cs typeface="Merriweather" pitchFamily="34" charset="-120"/>
              </a:rPr>
              <a:t>Structural Evolution &amp; Material Advances</a:t>
            </a:r>
            <a:endParaRPr lang="en-US" sz="3200" dirty="0"/>
          </a:p>
        </p:txBody>
      </p:sp>
      <p:sp>
        <p:nvSpPr>
          <p:cNvPr id="5" name="Text 3"/>
          <p:cNvSpPr/>
          <p:nvPr/>
        </p:nvSpPr>
        <p:spPr>
          <a:xfrm>
            <a:off x="640080" y="4233672"/>
            <a:ext cx="7201613" cy="822960"/>
          </a:xfrm>
          <a:prstGeom prst="rect">
            <a:avLst/>
          </a:prstGeom>
          <a:noFill/>
          <a:ln/>
        </p:spPr>
        <p:txBody>
          <a:bodyPr wrap="square" rtlCol="0" anchor="t"/>
          <a:lstStyle/>
          <a:p>
            <a:pPr indent="0" marL="0">
              <a:lnSpc>
                <a:spcPts val="2200"/>
              </a:lnSpc>
              <a:buNone/>
            </a:pPr>
            <a:r>
              <a:rPr lang="en-US" sz="1500" dirty="0">
                <a:solidFill>
                  <a:srgbClr val="F2DCD7"/>
                </a:solidFill>
                <a:latin typeface="Inter" pitchFamily="34" charset="0"/>
                <a:ea typeface="Inter" pitchFamily="34" charset="-122"/>
                <a:cs typeface="Inter" pitchFamily="34" charset="-120"/>
              </a:rPr>
              <a:t>How device architecture and materials have evolved to improve PSC performance</a:t>
            </a:r>
            <a:endParaRPr lang="en-US" sz="1500" dirty="0"/>
          </a:p>
        </p:txBody>
      </p:sp>
      <p:pic>
        <p:nvPicPr>
          <p:cNvPr id="6" name="Image 0" descr="/home/deepnar/Programs/presentations/brand/generated/crest.png">    </p:cNvPr>
          <p:cNvPicPr>
            <a:picLocks noChangeAspect="1"/>
          </p:cNvPicPr>
          <p:nvPr/>
        </p:nvPicPr>
        <p:blipFill>
          <a:blip r:embed="rId1"/>
          <a:stretch>
            <a:fillRect/>
          </a:stretch>
        </p:blipFill>
        <p:spPr>
          <a:xfrm>
            <a:off x="10984000" y="237744"/>
            <a:ext cx="704776" cy="749808"/>
          </a:xfrm>
          <a:prstGeom prst="rect">
            <a:avLst/>
          </a:prstGeom>
        </p:spPr>
      </p:pic>
      <p:sp>
        <p:nvSpPr>
          <p:cNvPr id="7" name="Text 4"/>
          <p:cNvSpPr/>
          <p:nvPr/>
        </p:nvSpPr>
        <p:spPr>
          <a:xfrm>
            <a:off x="10454335" y="6327648"/>
            <a:ext cx="1097280" cy="274320"/>
          </a:xfrm>
          <a:prstGeom prst="rect">
            <a:avLst/>
          </a:prstGeom>
          <a:noFill/>
          <a:ln/>
        </p:spPr>
        <p:txBody>
          <a:bodyPr wrap="square" rtlCol="0" anchor="ctr"/>
          <a:lstStyle/>
          <a:p>
            <a:pPr algn="r" indent="0" marL="0">
              <a:buNone/>
            </a:pPr>
            <a:r>
              <a:rPr lang="en-US" sz="900" dirty="0">
                <a:solidFill>
                  <a:srgbClr val="FFFFFF"/>
                </a:solidFill>
                <a:latin typeface="Inter" pitchFamily="34" charset="0"/>
                <a:ea typeface="Inter" pitchFamily="34" charset="-122"/>
                <a:cs typeface="Inter"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BEBE6"/>
        </a:solidFill>
      </p:bgPr>
    </p:bg>
    <p:spTree>
      <p:nvGrpSpPr>
        <p:cNvPr id="1" name=""/>
        <p:cNvGrpSpPr/>
        <p:nvPr/>
      </p:nvGrpSpPr>
      <p:grpSpPr>
        <a:xfrm>
          <a:off x="0" y="0"/>
          <a:ext cx="0" cy="0"/>
          <a:chOff x="0" y="0"/>
          <a:chExt cx="0" cy="0"/>
        </a:xfrm>
      </p:grpSpPr>
      <p:sp>
        <p:nvSpPr>
          <p:cNvPr id="2" name="Shape 0"/>
          <p:cNvSpPr/>
          <p:nvPr/>
        </p:nvSpPr>
        <p:spPr>
          <a:xfrm>
            <a:off x="640080" y="621792"/>
            <a:ext cx="822960" cy="91440"/>
          </a:xfrm>
          <a:prstGeom prst="rect">
            <a:avLst/>
          </a:prstGeom>
          <a:solidFill>
            <a:srgbClr val="C05D4E"/>
          </a:solidFill>
          <a:ln/>
        </p:spPr>
      </p:sp>
      <p:sp>
        <p:nvSpPr>
          <p:cNvPr id="3" name="Text 1"/>
          <p:cNvSpPr/>
          <p:nvPr/>
        </p:nvSpPr>
        <p:spPr>
          <a:xfrm>
            <a:off x="1664208" y="566928"/>
            <a:ext cx="8451112" cy="292608"/>
          </a:xfrm>
          <a:prstGeom prst="rect">
            <a:avLst/>
          </a:prstGeom>
          <a:noFill/>
          <a:ln/>
        </p:spPr>
        <p:txBody>
          <a:bodyPr wrap="square" rtlCol="0" anchor="ctr"/>
          <a:lstStyle/>
          <a:p>
            <a:pPr algn="l" indent="0" marL="0">
              <a:lnSpc>
                <a:spcPts val="1200"/>
              </a:lnSpc>
              <a:buNone/>
            </a:pPr>
            <a:r>
              <a:rPr lang="en-US" sz="1000" b="1" spc="120" kern="0" dirty="0">
                <a:solidFill>
                  <a:srgbClr val="5C5C59"/>
                </a:solidFill>
                <a:latin typeface="Inter" pitchFamily="34" charset="0"/>
                <a:ea typeface="Inter" pitchFamily="34" charset="-122"/>
                <a:cs typeface="Inter" pitchFamily="34" charset="-120"/>
              </a:rPr>
              <a:t>STRUCTURAL EVOLUTION &amp; MATERIAL ADVANCES</a:t>
            </a:r>
            <a:endParaRPr lang="en-US" sz="1000" dirty="0"/>
          </a:p>
        </p:txBody>
      </p:sp>
      <p:sp>
        <p:nvSpPr>
          <p:cNvPr id="4" name="Text 2"/>
          <p:cNvSpPr/>
          <p:nvPr/>
        </p:nvSpPr>
        <p:spPr>
          <a:xfrm>
            <a:off x="640080" y="1188720"/>
            <a:ext cx="9475240" cy="449580"/>
          </a:xfrm>
          <a:prstGeom prst="rect">
            <a:avLst/>
          </a:prstGeom>
          <a:noFill/>
          <a:ln/>
        </p:spPr>
        <p:txBody>
          <a:bodyPr wrap="square" rtlCol="0" anchor="t"/>
          <a:lstStyle/>
          <a:p>
            <a:pPr indent="0" marL="0">
              <a:lnSpc>
                <a:spcPts val="3500"/>
              </a:lnSpc>
              <a:buNone/>
            </a:pPr>
            <a:r>
              <a:rPr lang="en-US" sz="3000" b="1" spc="-30" kern="0" dirty="0">
                <a:solidFill>
                  <a:srgbClr val="2D2D2A"/>
                </a:solidFill>
                <a:latin typeface="Merriweather" pitchFamily="34" charset="0"/>
                <a:ea typeface="Merriweather" pitchFamily="34" charset="-122"/>
                <a:cs typeface="Merriweather" pitchFamily="34" charset="-120"/>
              </a:rPr>
              <a:t>PSC vs. Si: Efficiency &amp; Stability Gap</a:t>
            </a:r>
            <a:endParaRPr lang="en-US" sz="3000" dirty="0"/>
          </a:p>
        </p:txBody>
      </p:sp>
      <p:sp>
        <p:nvSpPr>
          <p:cNvPr id="5" name="Shape 3"/>
          <p:cNvSpPr/>
          <p:nvPr/>
        </p:nvSpPr>
        <p:spPr>
          <a:xfrm>
            <a:off x="640080" y="1693164"/>
            <a:ext cx="10911535" cy="13716"/>
          </a:xfrm>
          <a:prstGeom prst="rect">
            <a:avLst/>
          </a:prstGeom>
          <a:solidFill>
            <a:srgbClr val="D8D8D2"/>
          </a:solidFill>
          <a:ln/>
        </p:spPr>
      </p:sp>
      <p:sp>
        <p:nvSpPr>
          <p:cNvPr id="6" name="Text 4"/>
          <p:cNvSpPr/>
          <p:nvPr/>
        </p:nvSpPr>
        <p:spPr>
          <a:xfrm>
            <a:off x="640080" y="1857756"/>
            <a:ext cx="10911535" cy="662178"/>
          </a:xfrm>
          <a:prstGeom prst="rect">
            <a:avLst/>
          </a:prstGeom>
          <a:noFill/>
          <a:ln/>
        </p:spPr>
        <p:txBody>
          <a:bodyPr wrap="square" rtlCol="0" anchor="t"/>
          <a:lstStyle/>
          <a:p>
            <a:pPr indent="0" marL="0">
              <a:lnSpc>
                <a:spcPts val="2200"/>
              </a:lnSpc>
              <a:buNone/>
            </a:pPr>
            <a:r>
              <a:rPr lang="en-US" sz="1500" dirty="0">
                <a:solidFill>
                  <a:srgbClr val="5C5C59"/>
                </a:solidFill>
                <a:latin typeface="Inter" pitchFamily="34" charset="0"/>
                <a:ea typeface="Inter" pitchFamily="34" charset="-122"/>
                <a:cs typeface="Inter" pitchFamily="34" charset="-120"/>
              </a:rPr>
              <a:t>Current perovskite solar cells lag behind commercial silicon technology in stability despite matching efficiency</a:t>
            </a:r>
            <a:endParaRPr lang="en-US" sz="1500" dirty="0"/>
          </a:p>
        </p:txBody>
      </p:sp>
      <p:sp>
        <p:nvSpPr>
          <p:cNvPr id="7" name="Text 5"/>
          <p:cNvSpPr/>
          <p:nvPr/>
        </p:nvSpPr>
        <p:spPr>
          <a:xfrm>
            <a:off x="640080" y="2519934"/>
            <a:ext cx="10911535" cy="3012186"/>
          </a:xfrm>
          <a:prstGeom prst="rect">
            <a:avLst/>
          </a:prstGeom>
          <a:noFill/>
          <a:ln/>
        </p:spPr>
        <p:txBody>
          <a:bodyPr wrap="square" rtlCol="0" anchor="t"/>
          <a:lstStyle/>
          <a:p>
            <a:pPr marL="342900" indent="-342900">
              <a:lnSpc>
                <a:spcPts val="2000"/>
              </a:lnSpc>
              <a:spcAft>
                <a:spcPts val="1000"/>
              </a:spcAft>
              <a:buSzPct val="100000"/>
              <a:buChar char="–"/>
            </a:pPr>
            <a:r>
              <a:rPr lang="en-US" sz="1300" dirty="0">
                <a:solidFill>
                  <a:srgbClr val="2D2D2A"/>
                </a:solidFill>
                <a:latin typeface="Inter" pitchFamily="34" charset="0"/>
                <a:ea typeface="Inter" pitchFamily="34" charset="-122"/>
                <a:cs typeface="Inter" pitchFamily="34" charset="-120"/>
              </a:rPr>
              <a:t>Efficiency reaches 25.8%</a:t>
            </a:r>
            <a:endParaRPr lang="en-US" sz="1300" dirty="0"/>
          </a:p>
          <a:p>
            <a:pPr marL="342900" indent="-342900">
              <a:lnSpc>
                <a:spcPts val="2000"/>
              </a:lnSpc>
              <a:spcAft>
                <a:spcPts val="1000"/>
              </a:spcAft>
              <a:buSzPct val="100000"/>
              <a:buChar char="–"/>
            </a:pPr>
            <a:r>
              <a:rPr lang="en-US" sz="1300" dirty="0">
                <a:solidFill>
                  <a:srgbClr val="2D2D2A"/>
                </a:solidFill>
                <a:latin typeface="Inter" pitchFamily="34" charset="0"/>
                <a:ea typeface="Inter" pitchFamily="34" charset="-122"/>
                <a:cs typeface="Inter" pitchFamily="34" charset="-120"/>
              </a:rPr>
              <a:t>Stability lasts &lt;1000h</a:t>
            </a:r>
            <a:endParaRPr lang="en-US" sz="1300" dirty="0"/>
          </a:p>
          <a:p>
            <a:pPr marL="342900" indent="-342900">
              <a:lnSpc>
                <a:spcPts val="2000"/>
              </a:lnSpc>
              <a:spcAft>
                <a:spcPts val="1000"/>
              </a:spcAft>
              <a:buSzPct val="100000"/>
              <a:buChar char="–"/>
            </a:pPr>
            <a:r>
              <a:rPr lang="en-US" sz="1300" dirty="0">
                <a:solidFill>
                  <a:srgbClr val="2D2D2A"/>
                </a:solidFill>
                <a:latin typeface="Inter" pitchFamily="34" charset="0"/>
                <a:ea typeface="Inter" pitchFamily="34" charset="-122"/>
                <a:cs typeface="Inter" pitchFamily="34" charset="-120"/>
              </a:rPr>
              <a:t>Commercial cells &gt;20 years</a:t>
            </a:r>
            <a:endParaRPr lang="en-US" sz="1300" dirty="0"/>
          </a:p>
          <a:p>
            <a:pPr marL="342900" indent="-342900">
              <a:lnSpc>
                <a:spcPts val="2000"/>
              </a:lnSpc>
              <a:spcAft>
                <a:spcPts val="1000"/>
              </a:spcAft>
              <a:buSzPct val="100000"/>
              <a:buChar char="–"/>
            </a:pPr>
            <a:r>
              <a:rPr lang="en-US" sz="1300" dirty="0">
                <a:solidFill>
                  <a:srgbClr val="2D2D2A"/>
                </a:solidFill>
                <a:latin typeface="Inter" pitchFamily="34" charset="0"/>
                <a:ea typeface="Inter" pitchFamily="34" charset="-122"/>
                <a:cs typeface="Inter" pitchFamily="34" charset="-120"/>
              </a:rPr>
              <a:t>Processing requires inert env</a:t>
            </a:r>
            <a:endParaRPr lang="en-US" sz="1300" dirty="0"/>
          </a:p>
          <a:p>
            <a:pPr marL="342900" indent="-342900">
              <a:lnSpc>
                <a:spcPts val="2000"/>
              </a:lnSpc>
              <a:spcAft>
                <a:spcPts val="1000"/>
              </a:spcAft>
              <a:buSzPct val="100000"/>
              <a:buChar char="–"/>
            </a:pPr>
            <a:r>
              <a:rPr lang="en-US" sz="1300" dirty="0">
                <a:solidFill>
                  <a:srgbClr val="2D2D2A"/>
                </a:solidFill>
                <a:latin typeface="Inter" pitchFamily="34" charset="0"/>
                <a:ea typeface="Inter" pitchFamily="34" charset="-122"/>
                <a:cs typeface="Inter" pitchFamily="34" charset="-120"/>
              </a:rPr>
              <a:t>PSCs degrade in months</a:t>
            </a:r>
            <a:endParaRPr lang="en-US" sz="1300" dirty="0"/>
          </a:p>
        </p:txBody>
      </p:sp>
      <p:sp>
        <p:nvSpPr>
          <p:cNvPr id="8" name="Shape 6"/>
          <p:cNvSpPr/>
          <p:nvPr/>
        </p:nvSpPr>
        <p:spPr>
          <a:xfrm>
            <a:off x="640080" y="5806440"/>
            <a:ext cx="10911535" cy="475488"/>
          </a:xfrm>
          <a:prstGeom prst="roundRect">
            <a:avLst>
              <a:gd name="adj" fmla="val 46154"/>
            </a:avLst>
          </a:prstGeom>
          <a:solidFill>
            <a:srgbClr val="FFFFFF"/>
          </a:solidFill>
          <a:ln/>
        </p:spPr>
      </p:sp>
      <p:sp>
        <p:nvSpPr>
          <p:cNvPr id="9" name="Shape 7"/>
          <p:cNvSpPr/>
          <p:nvPr/>
        </p:nvSpPr>
        <p:spPr>
          <a:xfrm>
            <a:off x="640080" y="5806440"/>
            <a:ext cx="54864" cy="475488"/>
          </a:xfrm>
          <a:prstGeom prst="rect">
            <a:avLst/>
          </a:prstGeom>
          <a:solidFill>
            <a:srgbClr val="C05D4E"/>
          </a:solidFill>
          <a:ln/>
        </p:spPr>
      </p:sp>
      <p:sp>
        <p:nvSpPr>
          <p:cNvPr id="10" name="Text 8"/>
          <p:cNvSpPr/>
          <p:nvPr/>
        </p:nvSpPr>
        <p:spPr>
          <a:xfrm>
            <a:off x="841248" y="5806440"/>
            <a:ext cx="10710367" cy="475488"/>
          </a:xfrm>
          <a:prstGeom prst="rect">
            <a:avLst/>
          </a:prstGeom>
          <a:noFill/>
          <a:ln/>
        </p:spPr>
        <p:txBody>
          <a:bodyPr wrap="square" rtlCol="0" anchor="ctr"/>
          <a:lstStyle/>
          <a:p>
            <a:pPr indent="0" marL="0">
              <a:lnSpc>
                <a:spcPts val="1400"/>
              </a:lnSpc>
              <a:buNone/>
            </a:pPr>
            <a:r>
              <a:rPr lang="en-US" sz="1000" i="1" spc="20" kern="0" dirty="0">
                <a:solidFill>
                  <a:srgbClr val="5C5C59"/>
                </a:solidFill>
                <a:latin typeface="Inter" pitchFamily="34" charset="0"/>
                <a:ea typeface="Inter" pitchFamily="34" charset="-122"/>
                <a:cs typeface="Inter" pitchFamily="34" charset="-120"/>
              </a:rPr>
              <a:t>While PSCs have achieved 25.8% efficiency comparable to commercial Si cells, their stability is orders of magnitude worse. PSCs degrade within months under ambient conditions while Si cells maintain 8</a:t>
            </a:r>
            <a:endParaRPr lang="en-US" sz="1000" dirty="0"/>
          </a:p>
        </p:txBody>
      </p:sp>
      <p:pic>
        <p:nvPicPr>
          <p:cNvPr id="11" name="Image 0" descr="/home/deepnar/Programs/presentations/brand/generated/crest.png">    </p:cNvPr>
          <p:cNvPicPr>
            <a:picLocks noChangeAspect="1"/>
          </p:cNvPicPr>
          <p:nvPr/>
        </p:nvPicPr>
        <p:blipFill>
          <a:blip r:embed="rId1"/>
          <a:stretch>
            <a:fillRect/>
          </a:stretch>
        </p:blipFill>
        <p:spPr>
          <a:xfrm>
            <a:off x="10984000" y="237744"/>
            <a:ext cx="704776" cy="749808"/>
          </a:xfrm>
          <a:prstGeom prst="rect">
            <a:avLst/>
          </a:prstGeom>
        </p:spPr>
      </p:pic>
      <p:sp>
        <p:nvSpPr>
          <p:cNvPr id="12" name="Text 9"/>
          <p:cNvSpPr/>
          <p:nvPr/>
        </p:nvSpPr>
        <p:spPr>
          <a:xfrm>
            <a:off x="10454335" y="6327648"/>
            <a:ext cx="1097280" cy="274320"/>
          </a:xfrm>
          <a:prstGeom prst="rect">
            <a:avLst/>
          </a:prstGeom>
          <a:noFill/>
          <a:ln/>
        </p:spPr>
        <p:txBody>
          <a:bodyPr wrap="square" rtlCol="0" anchor="ctr"/>
          <a:lstStyle/>
          <a:p>
            <a:pPr algn="r" indent="0" marL="0">
              <a:buNone/>
            </a:pPr>
            <a:r>
              <a:rPr lang="en-US" sz="900" dirty="0">
                <a:solidFill>
                  <a:srgbClr val="5C5C59"/>
                </a:solidFill>
                <a:latin typeface="Inter" pitchFamily="34" charset="0"/>
                <a:ea typeface="Inter" pitchFamily="34" charset="-122"/>
                <a:cs typeface="Inter"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EBE6"/>
        </a:solidFill>
      </p:bgPr>
    </p:bg>
    <p:spTree>
      <p:nvGrpSpPr>
        <p:cNvPr id="1" name=""/>
        <p:cNvGrpSpPr/>
        <p:nvPr/>
      </p:nvGrpSpPr>
      <p:grpSpPr>
        <a:xfrm>
          <a:off x="0" y="0"/>
          <a:ext cx="0" cy="0"/>
          <a:chOff x="0" y="0"/>
          <a:chExt cx="0" cy="0"/>
        </a:xfrm>
      </p:grpSpPr>
      <p:sp>
        <p:nvSpPr>
          <p:cNvPr id="2" name="Shape 0"/>
          <p:cNvSpPr/>
          <p:nvPr/>
        </p:nvSpPr>
        <p:spPr>
          <a:xfrm>
            <a:off x="640080" y="621792"/>
            <a:ext cx="822960" cy="91440"/>
          </a:xfrm>
          <a:prstGeom prst="rect">
            <a:avLst/>
          </a:prstGeom>
          <a:solidFill>
            <a:srgbClr val="C05D4E"/>
          </a:solidFill>
          <a:ln/>
        </p:spPr>
      </p:sp>
      <p:sp>
        <p:nvSpPr>
          <p:cNvPr id="3" name="Text 1"/>
          <p:cNvSpPr/>
          <p:nvPr/>
        </p:nvSpPr>
        <p:spPr>
          <a:xfrm>
            <a:off x="1664208" y="566928"/>
            <a:ext cx="8451112" cy="292608"/>
          </a:xfrm>
          <a:prstGeom prst="rect">
            <a:avLst/>
          </a:prstGeom>
          <a:noFill/>
          <a:ln/>
        </p:spPr>
        <p:txBody>
          <a:bodyPr wrap="square" rtlCol="0" anchor="ctr"/>
          <a:lstStyle/>
          <a:p>
            <a:pPr algn="l" indent="0" marL="0">
              <a:lnSpc>
                <a:spcPts val="1200"/>
              </a:lnSpc>
              <a:buNone/>
            </a:pPr>
            <a:r>
              <a:rPr lang="en-US" sz="1000" b="1" spc="120" kern="0" dirty="0">
                <a:solidFill>
                  <a:srgbClr val="5C5C59"/>
                </a:solidFill>
                <a:latin typeface="Inter" pitchFamily="34" charset="0"/>
                <a:ea typeface="Inter" pitchFamily="34" charset="-122"/>
                <a:cs typeface="Inter" pitchFamily="34" charset="-120"/>
              </a:rPr>
              <a:t>STRUCTURAL EVOLUTION &amp; MATERIAL ADVANCES</a:t>
            </a:r>
            <a:endParaRPr lang="en-US" sz="1000" dirty="0"/>
          </a:p>
        </p:txBody>
      </p:sp>
      <p:sp>
        <p:nvSpPr>
          <p:cNvPr id="4" name="Shape 2"/>
          <p:cNvSpPr/>
          <p:nvPr/>
        </p:nvSpPr>
        <p:spPr>
          <a:xfrm>
            <a:off x="640080" y="2331720"/>
            <a:ext cx="5318608" cy="1828800"/>
          </a:xfrm>
          <a:prstGeom prst="roundRect">
            <a:avLst>
              <a:gd name="adj" fmla="val 12000"/>
            </a:avLst>
          </a:prstGeom>
          <a:solidFill>
            <a:srgbClr val="FFFFFF"/>
          </a:solidFill>
          <a:ln/>
          <a:effectLst>
            <a:outerShdw sx="100000" sy="100000" kx="0" ky="0" algn="bl" rotWithShape="0" blurRad="203200" dist="50800" dir="5400000">
              <a:srgbClr val="2D2D2A">
                <a:alpha val="9000"/>
              </a:srgbClr>
            </a:outerShdw>
          </a:effectLst>
        </p:spPr>
      </p:sp>
      <p:sp>
        <p:nvSpPr>
          <p:cNvPr id="5" name="Text 3"/>
          <p:cNvSpPr/>
          <p:nvPr/>
        </p:nvSpPr>
        <p:spPr>
          <a:xfrm>
            <a:off x="914400" y="2606040"/>
            <a:ext cx="4769968" cy="292608"/>
          </a:xfrm>
          <a:prstGeom prst="rect">
            <a:avLst/>
          </a:prstGeom>
          <a:noFill/>
          <a:ln/>
        </p:spPr>
        <p:txBody>
          <a:bodyPr wrap="square" rtlCol="0" anchor="t"/>
          <a:lstStyle/>
          <a:p>
            <a:pPr indent="0" marL="0">
              <a:lnSpc>
                <a:spcPts val="2200"/>
              </a:lnSpc>
              <a:buNone/>
            </a:pPr>
            <a:r>
              <a:rPr lang="en-US" sz="1500" b="1" dirty="0">
                <a:solidFill>
                  <a:srgbClr val="2D2D2A"/>
                </a:solidFill>
                <a:latin typeface="Inter" pitchFamily="34" charset="0"/>
                <a:ea typeface="Inter" pitchFamily="34" charset="-122"/>
                <a:cs typeface="Inter" pitchFamily="34" charset="-120"/>
              </a:rPr>
              <a:t>Device Structure</a:t>
            </a:r>
            <a:endParaRPr lang="en-US" sz="1500" dirty="0"/>
          </a:p>
        </p:txBody>
      </p:sp>
      <p:sp>
        <p:nvSpPr>
          <p:cNvPr id="6" name="Text 4"/>
          <p:cNvSpPr/>
          <p:nvPr/>
        </p:nvSpPr>
        <p:spPr>
          <a:xfrm>
            <a:off x="914400" y="2898648"/>
            <a:ext cx="4769968" cy="987552"/>
          </a:xfrm>
          <a:prstGeom prst="rect">
            <a:avLst/>
          </a:prstGeom>
          <a:noFill/>
          <a:ln/>
        </p:spPr>
        <p:txBody>
          <a:bodyPr wrap="square" rtlCol="0" anchor="t"/>
          <a:lstStyle/>
          <a:p>
            <a:pPr indent="0" marL="0">
              <a:lnSpc>
                <a:spcPts val="2000"/>
              </a:lnSpc>
              <a:buNone/>
            </a:pPr>
            <a:r>
              <a:rPr lang="en-US" sz="1300" dirty="0">
                <a:solidFill>
                  <a:srgbClr val="5C5C59"/>
                </a:solidFill>
                <a:latin typeface="Inter" pitchFamily="34" charset="0"/>
                <a:ea typeface="Inter" pitchFamily="34" charset="-122"/>
                <a:cs typeface="Inter" pitchFamily="34" charset="-120"/>
              </a:rPr>
              <a:t>Inverted planar architecture improves stability and P</a:t>
            </a:r>
            <a:endParaRPr lang="en-US" sz="1300" dirty="0"/>
          </a:p>
        </p:txBody>
      </p:sp>
      <p:sp>
        <p:nvSpPr>
          <p:cNvPr id="7" name="Shape 5"/>
          <p:cNvSpPr/>
          <p:nvPr/>
        </p:nvSpPr>
        <p:spPr>
          <a:xfrm>
            <a:off x="6233008" y="2331720"/>
            <a:ext cx="5318608" cy="1828800"/>
          </a:xfrm>
          <a:prstGeom prst="roundRect">
            <a:avLst>
              <a:gd name="adj" fmla="val 12000"/>
            </a:avLst>
          </a:prstGeom>
          <a:solidFill>
            <a:srgbClr val="FFFFFF"/>
          </a:solidFill>
          <a:ln/>
          <a:effectLst>
            <a:outerShdw sx="100000" sy="100000" kx="0" ky="0" algn="bl" rotWithShape="0" blurRad="203200" dist="50800" dir="5400000">
              <a:srgbClr val="2D2D2A">
                <a:alpha val="9000"/>
              </a:srgbClr>
            </a:outerShdw>
          </a:effectLst>
        </p:spPr>
      </p:sp>
      <p:sp>
        <p:nvSpPr>
          <p:cNvPr id="8" name="Text 6"/>
          <p:cNvSpPr/>
          <p:nvPr/>
        </p:nvSpPr>
        <p:spPr>
          <a:xfrm>
            <a:off x="6507328" y="2606040"/>
            <a:ext cx="4769968" cy="292608"/>
          </a:xfrm>
          <a:prstGeom prst="rect">
            <a:avLst/>
          </a:prstGeom>
          <a:noFill/>
          <a:ln/>
        </p:spPr>
        <p:txBody>
          <a:bodyPr wrap="square" rtlCol="0" anchor="t"/>
          <a:lstStyle/>
          <a:p>
            <a:pPr indent="0" marL="0">
              <a:lnSpc>
                <a:spcPts val="2200"/>
              </a:lnSpc>
              <a:buNone/>
            </a:pPr>
            <a:r>
              <a:rPr lang="en-US" sz="1500" b="1" dirty="0">
                <a:solidFill>
                  <a:srgbClr val="2D2D2A"/>
                </a:solidFill>
                <a:latin typeface="Inter" pitchFamily="34" charset="0"/>
                <a:ea typeface="Inter" pitchFamily="34" charset="-122"/>
                <a:cs typeface="Inter" pitchFamily="34" charset="-120"/>
              </a:rPr>
              <a:t>HTL Materials</a:t>
            </a:r>
            <a:endParaRPr lang="en-US" sz="1500" dirty="0"/>
          </a:p>
        </p:txBody>
      </p:sp>
      <p:sp>
        <p:nvSpPr>
          <p:cNvPr id="9" name="Text 7"/>
          <p:cNvSpPr/>
          <p:nvPr/>
        </p:nvSpPr>
        <p:spPr>
          <a:xfrm>
            <a:off x="6507328" y="2898648"/>
            <a:ext cx="4769968" cy="987552"/>
          </a:xfrm>
          <a:prstGeom prst="rect">
            <a:avLst/>
          </a:prstGeom>
          <a:noFill/>
          <a:ln/>
        </p:spPr>
        <p:txBody>
          <a:bodyPr wrap="square" rtlCol="0" anchor="t"/>
          <a:lstStyle/>
          <a:p>
            <a:pPr indent="0" marL="0">
              <a:lnSpc>
                <a:spcPts val="2000"/>
              </a:lnSpc>
              <a:buNone/>
            </a:pPr>
            <a:r>
              <a:rPr lang="en-US" sz="1300" dirty="0">
                <a:solidFill>
                  <a:srgbClr val="5C5C59"/>
                </a:solidFill>
                <a:latin typeface="Inter" pitchFamily="34" charset="0"/>
                <a:ea typeface="Inter" pitchFamily="34" charset="-122"/>
                <a:cs typeface="Inter" pitchFamily="34" charset="-120"/>
              </a:rPr>
              <a:t>CuSCN and NiO_x_ offer better stability than spiro-OM</a:t>
            </a:r>
            <a:endParaRPr lang="en-US" sz="1300" dirty="0"/>
          </a:p>
        </p:txBody>
      </p:sp>
      <p:sp>
        <p:nvSpPr>
          <p:cNvPr id="10" name="Shape 8"/>
          <p:cNvSpPr/>
          <p:nvPr/>
        </p:nvSpPr>
        <p:spPr>
          <a:xfrm>
            <a:off x="640080" y="4434840"/>
            <a:ext cx="5318608" cy="1828800"/>
          </a:xfrm>
          <a:prstGeom prst="roundRect">
            <a:avLst>
              <a:gd name="adj" fmla="val 12000"/>
            </a:avLst>
          </a:prstGeom>
          <a:solidFill>
            <a:srgbClr val="FFFFFF"/>
          </a:solidFill>
          <a:ln/>
          <a:effectLst>
            <a:outerShdw sx="100000" sy="100000" kx="0" ky="0" algn="bl" rotWithShape="0" blurRad="203200" dist="50800" dir="5400000">
              <a:srgbClr val="2D2D2A">
                <a:alpha val="9000"/>
              </a:srgbClr>
            </a:outerShdw>
          </a:effectLst>
        </p:spPr>
      </p:sp>
      <p:sp>
        <p:nvSpPr>
          <p:cNvPr id="11" name="Text 9"/>
          <p:cNvSpPr/>
          <p:nvPr/>
        </p:nvSpPr>
        <p:spPr>
          <a:xfrm>
            <a:off x="914400" y="4709160"/>
            <a:ext cx="4769968" cy="292608"/>
          </a:xfrm>
          <a:prstGeom prst="rect">
            <a:avLst/>
          </a:prstGeom>
          <a:noFill/>
          <a:ln/>
        </p:spPr>
        <p:txBody>
          <a:bodyPr wrap="square" rtlCol="0" anchor="t"/>
          <a:lstStyle/>
          <a:p>
            <a:pPr indent="0" marL="0">
              <a:lnSpc>
                <a:spcPts val="2200"/>
              </a:lnSpc>
              <a:buNone/>
            </a:pPr>
            <a:r>
              <a:rPr lang="en-US" sz="1500" b="1" dirty="0">
                <a:solidFill>
                  <a:srgbClr val="2D2D2A"/>
                </a:solidFill>
                <a:latin typeface="Inter" pitchFamily="34" charset="0"/>
                <a:ea typeface="Inter" pitchFamily="34" charset="-122"/>
                <a:cs typeface="Inter" pitchFamily="34" charset="-120"/>
              </a:rPr>
              <a:t>ETL Advances</a:t>
            </a:r>
            <a:endParaRPr lang="en-US" sz="1500" dirty="0"/>
          </a:p>
        </p:txBody>
      </p:sp>
      <p:sp>
        <p:nvSpPr>
          <p:cNvPr id="12" name="Text 10"/>
          <p:cNvSpPr/>
          <p:nvPr/>
        </p:nvSpPr>
        <p:spPr>
          <a:xfrm>
            <a:off x="914400" y="5001768"/>
            <a:ext cx="4769968" cy="987552"/>
          </a:xfrm>
          <a:prstGeom prst="rect">
            <a:avLst/>
          </a:prstGeom>
          <a:noFill/>
          <a:ln/>
        </p:spPr>
        <p:txBody>
          <a:bodyPr wrap="square" rtlCol="0" anchor="t"/>
          <a:lstStyle/>
          <a:p>
            <a:pPr indent="0" marL="0">
              <a:lnSpc>
                <a:spcPts val="2000"/>
              </a:lnSpc>
              <a:buNone/>
            </a:pPr>
            <a:r>
              <a:rPr lang="en-US" sz="1300" dirty="0">
                <a:solidFill>
                  <a:srgbClr val="5C5C59"/>
                </a:solidFill>
                <a:latin typeface="Inter" pitchFamily="34" charset="0"/>
                <a:ea typeface="Inter" pitchFamily="34" charset="-122"/>
                <a:cs typeface="Inter" pitchFamily="34" charset="-120"/>
              </a:rPr>
              <a:t>SnO2 and ZnO enhance charge extraction</a:t>
            </a:r>
            <a:endParaRPr lang="en-US" sz="1300" dirty="0"/>
          </a:p>
        </p:txBody>
      </p:sp>
      <p:sp>
        <p:nvSpPr>
          <p:cNvPr id="13" name="Shape 11"/>
          <p:cNvSpPr/>
          <p:nvPr/>
        </p:nvSpPr>
        <p:spPr>
          <a:xfrm>
            <a:off x="6233008" y="4434840"/>
            <a:ext cx="5318608" cy="1828800"/>
          </a:xfrm>
          <a:prstGeom prst="roundRect">
            <a:avLst>
              <a:gd name="adj" fmla="val 12000"/>
            </a:avLst>
          </a:prstGeom>
          <a:solidFill>
            <a:srgbClr val="FFFFFF"/>
          </a:solidFill>
          <a:ln/>
          <a:effectLst>
            <a:outerShdw sx="100000" sy="100000" kx="0" ky="0" algn="bl" rotWithShape="0" blurRad="203200" dist="50800" dir="5400000">
              <a:srgbClr val="2D2D2A">
                <a:alpha val="9000"/>
              </a:srgbClr>
            </a:outerShdw>
          </a:effectLst>
        </p:spPr>
      </p:sp>
      <p:sp>
        <p:nvSpPr>
          <p:cNvPr id="14" name="Text 12"/>
          <p:cNvSpPr/>
          <p:nvPr/>
        </p:nvSpPr>
        <p:spPr>
          <a:xfrm>
            <a:off x="6507328" y="4709160"/>
            <a:ext cx="4769968" cy="292608"/>
          </a:xfrm>
          <a:prstGeom prst="rect">
            <a:avLst/>
          </a:prstGeom>
          <a:noFill/>
          <a:ln/>
        </p:spPr>
        <p:txBody>
          <a:bodyPr wrap="square" rtlCol="0" anchor="t"/>
          <a:lstStyle/>
          <a:p>
            <a:pPr indent="0" marL="0">
              <a:lnSpc>
                <a:spcPts val="2200"/>
              </a:lnSpc>
              <a:buNone/>
            </a:pPr>
            <a:r>
              <a:rPr lang="en-US" sz="1500" b="1" dirty="0">
                <a:solidFill>
                  <a:srgbClr val="2D2D2A"/>
                </a:solidFill>
                <a:latin typeface="Inter" pitchFamily="34" charset="0"/>
                <a:ea typeface="Inter" pitchFamily="34" charset="-122"/>
                <a:cs typeface="Inter" pitchFamily="34" charset="-120"/>
              </a:rPr>
              <a:t>HTL-Free</a:t>
            </a:r>
            <a:endParaRPr lang="en-US" sz="1500" dirty="0"/>
          </a:p>
        </p:txBody>
      </p:sp>
      <p:sp>
        <p:nvSpPr>
          <p:cNvPr id="15" name="Text 13"/>
          <p:cNvSpPr/>
          <p:nvPr/>
        </p:nvSpPr>
        <p:spPr>
          <a:xfrm>
            <a:off x="6507328" y="5001768"/>
            <a:ext cx="4769968" cy="987552"/>
          </a:xfrm>
          <a:prstGeom prst="rect">
            <a:avLst/>
          </a:prstGeom>
          <a:noFill/>
          <a:ln/>
        </p:spPr>
        <p:txBody>
          <a:bodyPr wrap="square" rtlCol="0" anchor="t"/>
          <a:lstStyle/>
          <a:p>
            <a:pPr indent="0" marL="0">
              <a:lnSpc>
                <a:spcPts val="2000"/>
              </a:lnSpc>
              <a:buNone/>
            </a:pPr>
            <a:r>
              <a:rPr lang="en-US" sz="1300" dirty="0">
                <a:solidFill>
                  <a:srgbClr val="5C5C59"/>
                </a:solidFill>
                <a:latin typeface="Inter" pitchFamily="34" charset="0"/>
                <a:ea typeface="Inter" pitchFamily="34" charset="-122"/>
                <a:cs typeface="Inter" pitchFamily="34" charset="-120"/>
              </a:rPr>
              <a:t>Eliminates complexity, boosts long-term performance</a:t>
            </a:r>
            <a:endParaRPr lang="en-US" sz="1300" dirty="0"/>
          </a:p>
        </p:txBody>
      </p:sp>
      <p:pic>
        <p:nvPicPr>
          <p:cNvPr id="16" name="Image 0" descr="/home/deepnar/Programs/presentations/brand/generated/crest.png">    </p:cNvPr>
          <p:cNvPicPr>
            <a:picLocks noChangeAspect="1"/>
          </p:cNvPicPr>
          <p:nvPr/>
        </p:nvPicPr>
        <p:blipFill>
          <a:blip r:embed="rId1"/>
          <a:stretch>
            <a:fillRect/>
          </a:stretch>
        </p:blipFill>
        <p:spPr>
          <a:xfrm>
            <a:off x="10984000" y="237744"/>
            <a:ext cx="704776" cy="749808"/>
          </a:xfrm>
          <a:prstGeom prst="rect">
            <a:avLst/>
          </a:prstGeom>
        </p:spPr>
      </p:pic>
      <p:sp>
        <p:nvSpPr>
          <p:cNvPr id="17" name="Text 14"/>
          <p:cNvSpPr/>
          <p:nvPr/>
        </p:nvSpPr>
        <p:spPr>
          <a:xfrm>
            <a:off x="10454335" y="6327648"/>
            <a:ext cx="1097280" cy="274320"/>
          </a:xfrm>
          <a:prstGeom prst="rect">
            <a:avLst/>
          </a:prstGeom>
          <a:noFill/>
          <a:ln/>
        </p:spPr>
        <p:txBody>
          <a:bodyPr wrap="square" rtlCol="0" anchor="ctr"/>
          <a:lstStyle/>
          <a:p>
            <a:pPr algn="r" indent="0" marL="0">
              <a:buNone/>
            </a:pPr>
            <a:r>
              <a:rPr lang="en-US" sz="900" dirty="0">
                <a:solidFill>
                  <a:srgbClr val="5C5C59"/>
                </a:solidFill>
                <a:latin typeface="Inter" pitchFamily="34" charset="0"/>
                <a:ea typeface="Inter" pitchFamily="34" charset="-122"/>
                <a:cs typeface="Inter"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BEBE6"/>
        </a:solidFill>
      </p:bgPr>
    </p:bg>
    <p:spTree>
      <p:nvGrpSpPr>
        <p:cNvPr id="1" name=""/>
        <p:cNvGrpSpPr/>
        <p:nvPr/>
      </p:nvGrpSpPr>
      <p:grpSpPr>
        <a:xfrm>
          <a:off x="0" y="0"/>
          <a:ext cx="0" cy="0"/>
          <a:chOff x="0" y="0"/>
          <a:chExt cx="0" cy="0"/>
        </a:xfrm>
      </p:grpSpPr>
      <p:sp>
        <p:nvSpPr>
          <p:cNvPr id="2" name="Shape 0"/>
          <p:cNvSpPr/>
          <p:nvPr/>
        </p:nvSpPr>
        <p:spPr>
          <a:xfrm>
            <a:off x="640080" y="621792"/>
            <a:ext cx="822960" cy="91440"/>
          </a:xfrm>
          <a:prstGeom prst="rect">
            <a:avLst/>
          </a:prstGeom>
          <a:solidFill>
            <a:srgbClr val="C05D4E"/>
          </a:solidFill>
          <a:ln/>
        </p:spPr>
      </p:sp>
      <p:sp>
        <p:nvSpPr>
          <p:cNvPr id="3" name="Text 1"/>
          <p:cNvSpPr/>
          <p:nvPr/>
        </p:nvSpPr>
        <p:spPr>
          <a:xfrm>
            <a:off x="640080" y="1188720"/>
            <a:ext cx="9475240" cy="449580"/>
          </a:xfrm>
          <a:prstGeom prst="rect">
            <a:avLst/>
          </a:prstGeom>
          <a:noFill/>
          <a:ln/>
        </p:spPr>
        <p:txBody>
          <a:bodyPr wrap="square" rtlCol="0" anchor="t"/>
          <a:lstStyle/>
          <a:p>
            <a:pPr indent="0" marL="0">
              <a:lnSpc>
                <a:spcPts val="3500"/>
              </a:lnSpc>
              <a:buNone/>
            </a:pPr>
            <a:r>
              <a:rPr lang="en-US" sz="3000" b="1" spc="-30" kern="0" dirty="0">
                <a:solidFill>
                  <a:srgbClr val="2D2D2A"/>
                </a:solidFill>
                <a:latin typeface="Merriweather" pitchFamily="34" charset="0"/>
                <a:ea typeface="Merriweather" pitchFamily="34" charset="-122"/>
                <a:cs typeface="Merriweather" pitchFamily="34" charset="-120"/>
              </a:rPr>
              <a:t>Critical Stability Metrics</a:t>
            </a:r>
            <a:endParaRPr lang="en-US" sz="3000" dirty="0"/>
          </a:p>
        </p:txBody>
      </p:sp>
      <p:sp>
        <p:nvSpPr>
          <p:cNvPr id="4" name="Shape 2"/>
          <p:cNvSpPr/>
          <p:nvPr/>
        </p:nvSpPr>
        <p:spPr>
          <a:xfrm>
            <a:off x="640080" y="1693164"/>
            <a:ext cx="10911535" cy="13716"/>
          </a:xfrm>
          <a:prstGeom prst="rect">
            <a:avLst/>
          </a:prstGeom>
          <a:solidFill>
            <a:srgbClr val="D8D8D2"/>
          </a:solidFill>
          <a:ln/>
        </p:spPr>
      </p:sp>
      <p:sp>
        <p:nvSpPr>
          <p:cNvPr id="5" name="Text 3"/>
          <p:cNvSpPr/>
          <p:nvPr/>
        </p:nvSpPr>
        <p:spPr>
          <a:xfrm>
            <a:off x="640080" y="1857756"/>
            <a:ext cx="10911535" cy="662178"/>
          </a:xfrm>
          <a:prstGeom prst="rect">
            <a:avLst/>
          </a:prstGeom>
          <a:noFill/>
          <a:ln/>
        </p:spPr>
        <p:txBody>
          <a:bodyPr wrap="square" rtlCol="0" anchor="t"/>
          <a:lstStyle/>
          <a:p>
            <a:pPr indent="0" marL="0">
              <a:lnSpc>
                <a:spcPts val="2200"/>
              </a:lnSpc>
              <a:buNone/>
            </a:pPr>
            <a:r>
              <a:rPr lang="en-US" sz="1500" dirty="0">
                <a:solidFill>
                  <a:srgbClr val="5C5C59"/>
                </a:solidFill>
                <a:latin typeface="Inter" pitchFamily="34" charset="0"/>
                <a:ea typeface="Inter" pitchFamily="34" charset="-122"/>
                <a:cs typeface="Inter" pitchFamily="34" charset="-120"/>
              </a:rPr>
              <a:t>PSCs show high efficiency but struggle with long-term stability</a:t>
            </a:r>
            <a:endParaRPr lang="en-US" sz="1500" dirty="0"/>
          </a:p>
        </p:txBody>
      </p:sp>
      <p:sp>
        <p:nvSpPr>
          <p:cNvPr id="6" name="Text 4"/>
          <p:cNvSpPr/>
          <p:nvPr/>
        </p:nvSpPr>
        <p:spPr>
          <a:xfrm>
            <a:off x="640080" y="2611374"/>
            <a:ext cx="3454298" cy="777240"/>
          </a:xfrm>
          <a:prstGeom prst="rect">
            <a:avLst/>
          </a:prstGeom>
          <a:noFill/>
          <a:ln/>
        </p:spPr>
        <p:txBody>
          <a:bodyPr wrap="square" rtlCol="0" anchor="t"/>
          <a:lstStyle/>
          <a:p>
            <a:pPr indent="0" marL="0">
              <a:lnSpc>
                <a:spcPts val="5400"/>
              </a:lnSpc>
              <a:buNone/>
            </a:pPr>
            <a:r>
              <a:rPr lang="en-US" sz="5400" b="1" spc="-100" kern="0" dirty="0">
                <a:solidFill>
                  <a:srgbClr val="C05D4E"/>
                </a:solidFill>
                <a:latin typeface="Merriweather" pitchFamily="34" charset="0"/>
                <a:ea typeface="Merriweather" pitchFamily="34" charset="-122"/>
                <a:cs typeface="Merriweather" pitchFamily="34" charset="-120"/>
              </a:rPr>
              <a:t>25.8%</a:t>
            </a:r>
            <a:endParaRPr lang="en-US" sz="5400" dirty="0"/>
          </a:p>
        </p:txBody>
      </p:sp>
      <p:sp>
        <p:nvSpPr>
          <p:cNvPr id="7" name="Text 5"/>
          <p:cNvSpPr/>
          <p:nvPr/>
        </p:nvSpPr>
        <p:spPr>
          <a:xfrm>
            <a:off x="640080" y="3461766"/>
            <a:ext cx="3454298" cy="321945"/>
          </a:xfrm>
          <a:prstGeom prst="rect">
            <a:avLst/>
          </a:prstGeom>
          <a:noFill/>
          <a:ln/>
        </p:spPr>
        <p:txBody>
          <a:bodyPr wrap="square" rtlCol="0" anchor="t"/>
          <a:lstStyle/>
          <a:p>
            <a:pPr indent="0" marL="0">
              <a:lnSpc>
                <a:spcPts val="2200"/>
              </a:lnSpc>
              <a:buNone/>
            </a:pPr>
            <a:r>
              <a:rPr lang="en-US" sz="1500" b="1" dirty="0">
                <a:solidFill>
                  <a:srgbClr val="2D2D2A"/>
                </a:solidFill>
                <a:latin typeface="Inter" pitchFamily="34" charset="0"/>
                <a:ea typeface="Inter" pitchFamily="34" charset="-122"/>
                <a:cs typeface="Inter" pitchFamily="34" charset="-120"/>
              </a:rPr>
              <a:t>Highest reported PCE of PSCs</a:t>
            </a:r>
            <a:endParaRPr lang="en-US" sz="1500" dirty="0"/>
          </a:p>
        </p:txBody>
      </p:sp>
      <p:sp>
        <p:nvSpPr>
          <p:cNvPr id="8" name="Text 6"/>
          <p:cNvSpPr/>
          <p:nvPr/>
        </p:nvSpPr>
        <p:spPr>
          <a:xfrm>
            <a:off x="640080" y="3856863"/>
            <a:ext cx="3454298" cy="262890"/>
          </a:xfrm>
          <a:prstGeom prst="rect">
            <a:avLst/>
          </a:prstGeom>
          <a:noFill/>
          <a:ln/>
        </p:spPr>
        <p:txBody>
          <a:bodyPr wrap="square" rtlCol="0" anchor="t"/>
          <a:lstStyle/>
          <a:p>
            <a:pPr indent="0" marL="0">
              <a:lnSpc>
                <a:spcPts val="1400"/>
              </a:lnSpc>
              <a:buNone/>
            </a:pPr>
            <a:r>
              <a:rPr lang="en-US" sz="1000" spc="20" kern="0" dirty="0">
                <a:solidFill>
                  <a:srgbClr val="5C5C59"/>
                </a:solidFill>
                <a:latin typeface="Inter" pitchFamily="34" charset="0"/>
                <a:ea typeface="Inter" pitchFamily="34" charset="-122"/>
                <a:cs typeface="Inter" pitchFamily="34" charset="-120"/>
              </a:rPr>
              <a:t>Recorded in 2021 with inter-layer modification</a:t>
            </a:r>
            <a:endParaRPr lang="en-US" sz="1000" dirty="0"/>
          </a:p>
        </p:txBody>
      </p:sp>
      <p:sp>
        <p:nvSpPr>
          <p:cNvPr id="9" name="Text 7"/>
          <p:cNvSpPr/>
          <p:nvPr/>
        </p:nvSpPr>
        <p:spPr>
          <a:xfrm>
            <a:off x="4368698" y="2611374"/>
            <a:ext cx="3454298" cy="777240"/>
          </a:xfrm>
          <a:prstGeom prst="rect">
            <a:avLst/>
          </a:prstGeom>
          <a:noFill/>
          <a:ln/>
        </p:spPr>
        <p:txBody>
          <a:bodyPr wrap="square" rtlCol="0" anchor="t"/>
          <a:lstStyle/>
          <a:p>
            <a:pPr indent="0" marL="0">
              <a:lnSpc>
                <a:spcPts val="5400"/>
              </a:lnSpc>
              <a:buNone/>
            </a:pPr>
            <a:r>
              <a:rPr lang="en-US" sz="5400" b="1" spc="-100" kern="0" dirty="0">
                <a:solidFill>
                  <a:srgbClr val="D97706"/>
                </a:solidFill>
                <a:latin typeface="Merriweather" pitchFamily="34" charset="0"/>
                <a:ea typeface="Merriweather" pitchFamily="34" charset="-122"/>
                <a:cs typeface="Merriweather" pitchFamily="34" charset="-120"/>
              </a:rPr>
              <a:t>&lt;1000h</a:t>
            </a:r>
            <a:endParaRPr lang="en-US" sz="5400" dirty="0"/>
          </a:p>
        </p:txBody>
      </p:sp>
      <p:sp>
        <p:nvSpPr>
          <p:cNvPr id="10" name="Text 8"/>
          <p:cNvSpPr/>
          <p:nvPr/>
        </p:nvSpPr>
        <p:spPr>
          <a:xfrm>
            <a:off x="4368698" y="3461766"/>
            <a:ext cx="3454298" cy="598170"/>
          </a:xfrm>
          <a:prstGeom prst="rect">
            <a:avLst/>
          </a:prstGeom>
          <a:noFill/>
          <a:ln/>
        </p:spPr>
        <p:txBody>
          <a:bodyPr wrap="square" rtlCol="0" anchor="t"/>
          <a:lstStyle/>
          <a:p>
            <a:pPr indent="0" marL="0">
              <a:lnSpc>
                <a:spcPts val="2200"/>
              </a:lnSpc>
              <a:buNone/>
            </a:pPr>
            <a:r>
              <a:rPr lang="en-US" sz="1500" b="1" dirty="0">
                <a:solidFill>
                  <a:srgbClr val="2D2D2A"/>
                </a:solidFill>
                <a:latin typeface="Inter" pitchFamily="34" charset="0"/>
                <a:ea typeface="Inter" pitchFamily="34" charset="-122"/>
                <a:cs typeface="Inter" pitchFamily="34" charset="-120"/>
              </a:rPr>
              <a:t>Typical operational stability of PSCs</a:t>
            </a:r>
            <a:endParaRPr lang="en-US" sz="1500" dirty="0"/>
          </a:p>
        </p:txBody>
      </p:sp>
      <p:sp>
        <p:nvSpPr>
          <p:cNvPr id="11" name="Text 9"/>
          <p:cNvSpPr/>
          <p:nvPr/>
        </p:nvSpPr>
        <p:spPr>
          <a:xfrm>
            <a:off x="4368698" y="4133088"/>
            <a:ext cx="3454298" cy="262890"/>
          </a:xfrm>
          <a:prstGeom prst="rect">
            <a:avLst/>
          </a:prstGeom>
          <a:noFill/>
          <a:ln/>
        </p:spPr>
        <p:txBody>
          <a:bodyPr wrap="square" rtlCol="0" anchor="t"/>
          <a:lstStyle/>
          <a:p>
            <a:pPr indent="0" marL="0">
              <a:lnSpc>
                <a:spcPts val="1400"/>
              </a:lnSpc>
              <a:buNone/>
            </a:pPr>
            <a:r>
              <a:rPr lang="en-US" sz="1000" spc="20" kern="0" dirty="0">
                <a:solidFill>
                  <a:srgbClr val="5C5C59"/>
                </a:solidFill>
                <a:latin typeface="Inter" pitchFamily="34" charset="0"/>
                <a:ea typeface="Inter" pitchFamily="34" charset="-122"/>
                <a:cs typeface="Inter" pitchFamily="34" charset="-120"/>
              </a:rPr>
              <a:t>In ambient conditions without encapsulation</a:t>
            </a:r>
            <a:endParaRPr lang="en-US" sz="1000" dirty="0"/>
          </a:p>
        </p:txBody>
      </p:sp>
      <p:sp>
        <p:nvSpPr>
          <p:cNvPr id="12" name="Text 10"/>
          <p:cNvSpPr/>
          <p:nvPr/>
        </p:nvSpPr>
        <p:spPr>
          <a:xfrm>
            <a:off x="8097317" y="2611374"/>
            <a:ext cx="3454298" cy="777240"/>
          </a:xfrm>
          <a:prstGeom prst="rect">
            <a:avLst/>
          </a:prstGeom>
          <a:noFill/>
          <a:ln/>
        </p:spPr>
        <p:txBody>
          <a:bodyPr wrap="square" rtlCol="0" anchor="t"/>
          <a:lstStyle/>
          <a:p>
            <a:pPr indent="0" marL="0">
              <a:lnSpc>
                <a:spcPts val="5400"/>
              </a:lnSpc>
              <a:buNone/>
            </a:pPr>
            <a:r>
              <a:rPr lang="en-US" sz="5400" b="1" spc="-100" kern="0" dirty="0">
                <a:solidFill>
                  <a:srgbClr val="C05D4E"/>
                </a:solidFill>
                <a:latin typeface="Merriweather" pitchFamily="34" charset="0"/>
                <a:ea typeface="Merriweather" pitchFamily="34" charset="-122"/>
                <a:cs typeface="Merriweather" pitchFamily="34" charset="-120"/>
              </a:rPr>
              <a:t>2000h+</a:t>
            </a:r>
            <a:endParaRPr lang="en-US" sz="5400" dirty="0"/>
          </a:p>
        </p:txBody>
      </p:sp>
      <p:sp>
        <p:nvSpPr>
          <p:cNvPr id="13" name="Text 11"/>
          <p:cNvSpPr/>
          <p:nvPr/>
        </p:nvSpPr>
        <p:spPr>
          <a:xfrm>
            <a:off x="8097317" y="3461766"/>
            <a:ext cx="3454298" cy="598170"/>
          </a:xfrm>
          <a:prstGeom prst="rect">
            <a:avLst/>
          </a:prstGeom>
          <a:noFill/>
          <a:ln/>
        </p:spPr>
        <p:txBody>
          <a:bodyPr wrap="square" rtlCol="0" anchor="t"/>
          <a:lstStyle/>
          <a:p>
            <a:pPr indent="0" marL="0">
              <a:lnSpc>
                <a:spcPts val="2200"/>
              </a:lnSpc>
              <a:buNone/>
            </a:pPr>
            <a:r>
              <a:rPr lang="en-US" sz="1500" b="1" dirty="0">
                <a:solidFill>
                  <a:srgbClr val="2D2D2A"/>
                </a:solidFill>
                <a:latin typeface="Inter" pitchFamily="34" charset="0"/>
                <a:ea typeface="Inter" pitchFamily="34" charset="-122"/>
                <a:cs typeface="Inter" pitchFamily="34" charset="-120"/>
              </a:rPr>
              <a:t>Stable performance achieved by some devices</a:t>
            </a:r>
            <a:endParaRPr lang="en-US" sz="1500" dirty="0"/>
          </a:p>
        </p:txBody>
      </p:sp>
      <p:sp>
        <p:nvSpPr>
          <p:cNvPr id="14" name="Text 12"/>
          <p:cNvSpPr/>
          <p:nvPr/>
        </p:nvSpPr>
        <p:spPr>
          <a:xfrm>
            <a:off x="8097317" y="4133088"/>
            <a:ext cx="3454298" cy="262890"/>
          </a:xfrm>
          <a:prstGeom prst="rect">
            <a:avLst/>
          </a:prstGeom>
          <a:noFill/>
          <a:ln/>
        </p:spPr>
        <p:txBody>
          <a:bodyPr wrap="square" rtlCol="0" anchor="t"/>
          <a:lstStyle/>
          <a:p>
            <a:pPr indent="0" marL="0">
              <a:lnSpc>
                <a:spcPts val="1400"/>
              </a:lnSpc>
              <a:buNone/>
            </a:pPr>
            <a:r>
              <a:rPr lang="en-US" sz="1000" spc="20" kern="0" dirty="0">
                <a:solidFill>
                  <a:srgbClr val="5C5C59"/>
                </a:solidFill>
                <a:latin typeface="Inter" pitchFamily="34" charset="0"/>
                <a:ea typeface="Inter" pitchFamily="34" charset="-122"/>
                <a:cs typeface="Inter" pitchFamily="34" charset="-120"/>
              </a:rPr>
              <a:t>Under continuous 1 sun illumination at 25°C</a:t>
            </a:r>
            <a:endParaRPr lang="en-US" sz="1000" dirty="0"/>
          </a:p>
        </p:txBody>
      </p:sp>
      <p:sp>
        <p:nvSpPr>
          <p:cNvPr id="15" name="Shape 13"/>
          <p:cNvSpPr/>
          <p:nvPr/>
        </p:nvSpPr>
        <p:spPr>
          <a:xfrm>
            <a:off x="640080" y="5806440"/>
            <a:ext cx="10911535" cy="475488"/>
          </a:xfrm>
          <a:prstGeom prst="roundRect">
            <a:avLst>
              <a:gd name="adj" fmla="val 46154"/>
            </a:avLst>
          </a:prstGeom>
          <a:solidFill>
            <a:srgbClr val="FFFFFF"/>
          </a:solidFill>
          <a:ln/>
        </p:spPr>
      </p:sp>
      <p:sp>
        <p:nvSpPr>
          <p:cNvPr id="16" name="Shape 14"/>
          <p:cNvSpPr/>
          <p:nvPr/>
        </p:nvSpPr>
        <p:spPr>
          <a:xfrm>
            <a:off x="640080" y="5806440"/>
            <a:ext cx="54864" cy="475488"/>
          </a:xfrm>
          <a:prstGeom prst="rect">
            <a:avLst/>
          </a:prstGeom>
          <a:solidFill>
            <a:srgbClr val="C05D4E"/>
          </a:solidFill>
          <a:ln/>
        </p:spPr>
      </p:sp>
      <p:sp>
        <p:nvSpPr>
          <p:cNvPr id="17" name="Text 15"/>
          <p:cNvSpPr/>
          <p:nvPr/>
        </p:nvSpPr>
        <p:spPr>
          <a:xfrm>
            <a:off x="841248" y="5806440"/>
            <a:ext cx="10710367" cy="475488"/>
          </a:xfrm>
          <a:prstGeom prst="rect">
            <a:avLst/>
          </a:prstGeom>
          <a:noFill/>
          <a:ln/>
        </p:spPr>
        <p:txBody>
          <a:bodyPr wrap="square" rtlCol="0" anchor="ctr"/>
          <a:lstStyle/>
          <a:p>
            <a:pPr indent="0" marL="0">
              <a:lnSpc>
                <a:spcPts val="1400"/>
              </a:lnSpc>
              <a:buNone/>
            </a:pPr>
            <a:r>
              <a:rPr lang="en-US" sz="1000" i="1" spc="20" kern="0" dirty="0">
                <a:solidFill>
                  <a:srgbClr val="5C5C59"/>
                </a:solidFill>
                <a:latin typeface="Inter" pitchFamily="34" charset="0"/>
                <a:ea typeface="Inter" pitchFamily="34" charset="-122"/>
                <a:cs typeface="Inter" pitchFamily="34" charset="-120"/>
              </a:rPr>
              <a:t>These numbers show that while we've achieved remarkable efficiency, our stability is still far short of what's needed for commercial viability. The 25.8% efficiency vs 10-year requirement creates a 30</a:t>
            </a:r>
            <a:endParaRPr lang="en-US" sz="1000" dirty="0"/>
          </a:p>
        </p:txBody>
      </p:sp>
      <p:pic>
        <p:nvPicPr>
          <p:cNvPr id="18" name="Image 0" descr="/home/deepnar/Programs/presentations/brand/generated/crest.png">    </p:cNvPr>
          <p:cNvPicPr>
            <a:picLocks noChangeAspect="1"/>
          </p:cNvPicPr>
          <p:nvPr/>
        </p:nvPicPr>
        <p:blipFill>
          <a:blip r:embed="rId1"/>
          <a:stretch>
            <a:fillRect/>
          </a:stretch>
        </p:blipFill>
        <p:spPr>
          <a:xfrm>
            <a:off x="10984000" y="237744"/>
            <a:ext cx="704776" cy="749808"/>
          </a:xfrm>
          <a:prstGeom prst="rect">
            <a:avLst/>
          </a:prstGeom>
        </p:spPr>
      </p:pic>
      <p:sp>
        <p:nvSpPr>
          <p:cNvPr id="19" name="Text 16"/>
          <p:cNvSpPr/>
          <p:nvPr/>
        </p:nvSpPr>
        <p:spPr>
          <a:xfrm>
            <a:off x="10454335" y="6327648"/>
            <a:ext cx="1097280" cy="274320"/>
          </a:xfrm>
          <a:prstGeom prst="rect">
            <a:avLst/>
          </a:prstGeom>
          <a:noFill/>
          <a:ln/>
        </p:spPr>
        <p:txBody>
          <a:bodyPr wrap="square" rtlCol="0" anchor="ctr"/>
          <a:lstStyle/>
          <a:p>
            <a:pPr algn="r" indent="0" marL="0">
              <a:buNone/>
            </a:pPr>
            <a:r>
              <a:rPr lang="en-US" sz="900" dirty="0">
                <a:solidFill>
                  <a:srgbClr val="5C5C59"/>
                </a:solidFill>
                <a:latin typeface="Inter" pitchFamily="34" charset="0"/>
                <a:ea typeface="Inter" pitchFamily="34" charset="-122"/>
                <a:cs typeface="Inter"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BEBE6"/>
        </a:solidFill>
      </p:bgPr>
    </p:bg>
    <p:spTree>
      <p:nvGrpSpPr>
        <p:cNvPr id="1" name=""/>
        <p:cNvGrpSpPr/>
        <p:nvPr/>
      </p:nvGrpSpPr>
      <p:grpSpPr>
        <a:xfrm>
          <a:off x="0" y="0"/>
          <a:ext cx="0" cy="0"/>
          <a:chOff x="0" y="0"/>
          <a:chExt cx="0" cy="0"/>
        </a:xfrm>
      </p:grpSpPr>
      <p:sp>
        <p:nvSpPr>
          <p:cNvPr id="2" name="Shape 0"/>
          <p:cNvSpPr/>
          <p:nvPr/>
        </p:nvSpPr>
        <p:spPr>
          <a:xfrm>
            <a:off x="640080" y="621792"/>
            <a:ext cx="822960" cy="91440"/>
          </a:xfrm>
          <a:prstGeom prst="rect">
            <a:avLst/>
          </a:prstGeom>
          <a:solidFill>
            <a:srgbClr val="C05D4E"/>
          </a:solidFill>
          <a:ln/>
        </p:spPr>
      </p:sp>
      <p:sp>
        <p:nvSpPr>
          <p:cNvPr id="3" name="Text 1"/>
          <p:cNvSpPr/>
          <p:nvPr/>
        </p:nvSpPr>
        <p:spPr>
          <a:xfrm>
            <a:off x="640080" y="1188720"/>
            <a:ext cx="9475240" cy="899160"/>
          </a:xfrm>
          <a:prstGeom prst="rect">
            <a:avLst/>
          </a:prstGeom>
          <a:noFill/>
          <a:ln/>
        </p:spPr>
        <p:txBody>
          <a:bodyPr wrap="square" rtlCol="0" anchor="t"/>
          <a:lstStyle/>
          <a:p>
            <a:pPr indent="0" marL="0">
              <a:lnSpc>
                <a:spcPts val="3500"/>
              </a:lnSpc>
              <a:buNone/>
            </a:pPr>
            <a:r>
              <a:rPr lang="en-US" sz="3000" b="1" spc="-30" kern="0" dirty="0">
                <a:solidFill>
                  <a:srgbClr val="2D2D2A"/>
                </a:solidFill>
                <a:latin typeface="Merriweather" pitchFamily="34" charset="0"/>
                <a:ea typeface="Merriweather" pitchFamily="34" charset="-122"/>
                <a:cs typeface="Merriweather" pitchFamily="34" charset="-120"/>
              </a:rPr>
              <a:t>Efficiency Progression of Perovskite Solar Cells</a:t>
            </a:r>
            <a:endParaRPr lang="en-US" sz="3000" dirty="0"/>
          </a:p>
        </p:txBody>
      </p:sp>
      <p:sp>
        <p:nvSpPr>
          <p:cNvPr id="4" name="Shape 2"/>
          <p:cNvSpPr/>
          <p:nvPr/>
        </p:nvSpPr>
        <p:spPr>
          <a:xfrm>
            <a:off x="640080" y="2142744"/>
            <a:ext cx="10911535" cy="13716"/>
          </a:xfrm>
          <a:prstGeom prst="rect">
            <a:avLst/>
          </a:prstGeom>
          <a:solidFill>
            <a:srgbClr val="D8D8D2"/>
          </a:solidFill>
          <a:ln/>
        </p:spPr>
      </p:sp>
      <p:graphicFrame>
        <p:nvGraphicFramePr>
          <p:cNvPr id="5" name="Chart 0" descr=""/>
          <p:cNvGraphicFramePr/>
          <p:nvPr/>
        </p:nvGraphicFramePr>
        <p:xfrm>
          <a:off x="640080" y="2331720"/>
          <a:ext cx="6874267"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88667" y="2478024"/>
            <a:ext cx="36576" cy="384048"/>
          </a:xfrm>
          <a:prstGeom prst="rect">
            <a:avLst/>
          </a:prstGeom>
          <a:solidFill>
            <a:srgbClr val="C05D4E"/>
          </a:solidFill>
          <a:ln/>
        </p:spPr>
      </p:sp>
      <p:sp>
        <p:nvSpPr>
          <p:cNvPr id="7" name="Text 4"/>
          <p:cNvSpPr/>
          <p:nvPr/>
        </p:nvSpPr>
        <p:spPr>
          <a:xfrm>
            <a:off x="7953259" y="2423160"/>
            <a:ext cx="3598356" cy="822960"/>
          </a:xfrm>
          <a:prstGeom prst="rect">
            <a:avLst/>
          </a:prstGeom>
          <a:noFill/>
          <a:ln/>
        </p:spPr>
        <p:txBody>
          <a:bodyPr wrap="square" rtlCol="0" anchor="t"/>
          <a:lstStyle/>
          <a:p>
            <a:pPr indent="0" marL="0">
              <a:lnSpc>
                <a:spcPts val="1800"/>
              </a:lnSpc>
              <a:buNone/>
            </a:pPr>
            <a:r>
              <a:rPr lang="en-US" sz="1170" dirty="0">
                <a:solidFill>
                  <a:srgbClr val="2D2D2A"/>
                </a:solidFill>
                <a:latin typeface="Inter" pitchFamily="34" charset="0"/>
                <a:ea typeface="Inter" pitchFamily="34" charset="-122"/>
                <a:cs typeface="Inter" pitchFamily="34" charset="-120"/>
              </a:rPr>
              <a:t>From 3.8% to 25.8% in 13 years</a:t>
            </a:r>
            <a:endParaRPr lang="en-US" sz="1170" dirty="0"/>
          </a:p>
        </p:txBody>
      </p:sp>
      <p:sp>
        <p:nvSpPr>
          <p:cNvPr id="8" name="Shape 5"/>
          <p:cNvSpPr/>
          <p:nvPr/>
        </p:nvSpPr>
        <p:spPr>
          <a:xfrm>
            <a:off x="7788667" y="3392424"/>
            <a:ext cx="36576" cy="384048"/>
          </a:xfrm>
          <a:prstGeom prst="rect">
            <a:avLst/>
          </a:prstGeom>
          <a:solidFill>
            <a:srgbClr val="C05D4E"/>
          </a:solidFill>
          <a:ln/>
        </p:spPr>
      </p:sp>
      <p:sp>
        <p:nvSpPr>
          <p:cNvPr id="9" name="Text 6"/>
          <p:cNvSpPr/>
          <p:nvPr/>
        </p:nvSpPr>
        <p:spPr>
          <a:xfrm>
            <a:off x="7953259" y="3337560"/>
            <a:ext cx="3598356" cy="822960"/>
          </a:xfrm>
          <a:prstGeom prst="rect">
            <a:avLst/>
          </a:prstGeom>
          <a:noFill/>
          <a:ln/>
        </p:spPr>
        <p:txBody>
          <a:bodyPr wrap="square" rtlCol="0" anchor="t"/>
          <a:lstStyle/>
          <a:p>
            <a:pPr indent="0" marL="0">
              <a:lnSpc>
                <a:spcPts val="1800"/>
              </a:lnSpc>
              <a:buNone/>
            </a:pPr>
            <a:r>
              <a:rPr lang="en-US" sz="1170" dirty="0">
                <a:solidFill>
                  <a:srgbClr val="2D2D2A"/>
                </a:solidFill>
                <a:latin typeface="Inter" pitchFamily="34" charset="0"/>
                <a:ea typeface="Inter" pitchFamily="34" charset="-122"/>
                <a:cs typeface="Inter" pitchFamily="34" charset="-120"/>
              </a:rPr>
              <a:t>Rapid efficiency gains</a:t>
            </a:r>
            <a:endParaRPr lang="en-US" sz="1170" dirty="0"/>
          </a:p>
        </p:txBody>
      </p:sp>
      <p:sp>
        <p:nvSpPr>
          <p:cNvPr id="10" name="Shape 7"/>
          <p:cNvSpPr/>
          <p:nvPr/>
        </p:nvSpPr>
        <p:spPr>
          <a:xfrm>
            <a:off x="7788667" y="4306824"/>
            <a:ext cx="36576" cy="384048"/>
          </a:xfrm>
          <a:prstGeom prst="rect">
            <a:avLst/>
          </a:prstGeom>
          <a:solidFill>
            <a:srgbClr val="C05D4E"/>
          </a:solidFill>
          <a:ln/>
        </p:spPr>
      </p:sp>
      <p:sp>
        <p:nvSpPr>
          <p:cNvPr id="11" name="Text 8"/>
          <p:cNvSpPr/>
          <p:nvPr/>
        </p:nvSpPr>
        <p:spPr>
          <a:xfrm>
            <a:off x="7953259" y="4251960"/>
            <a:ext cx="3598356" cy="822960"/>
          </a:xfrm>
          <a:prstGeom prst="rect">
            <a:avLst/>
          </a:prstGeom>
          <a:noFill/>
          <a:ln/>
        </p:spPr>
        <p:txBody>
          <a:bodyPr wrap="square" rtlCol="0" anchor="t"/>
          <a:lstStyle/>
          <a:p>
            <a:pPr indent="0" marL="0">
              <a:lnSpc>
                <a:spcPts val="1800"/>
              </a:lnSpc>
              <a:buNone/>
            </a:pPr>
            <a:r>
              <a:rPr lang="en-US" sz="1170" dirty="0">
                <a:solidFill>
                  <a:srgbClr val="2D2D2A"/>
                </a:solidFill>
                <a:latin typeface="Inter" pitchFamily="34" charset="0"/>
                <a:ea typeface="Inter" pitchFamily="34" charset="-122"/>
                <a:cs typeface="Inter" pitchFamily="34" charset="-120"/>
              </a:rPr>
              <a:t>Stability still lags behind</a:t>
            </a:r>
            <a:endParaRPr lang="en-US" sz="1170" dirty="0"/>
          </a:p>
        </p:txBody>
      </p:sp>
      <p:pic>
        <p:nvPicPr>
          <p:cNvPr id="12" name="Image 0" descr="/home/deepnar/Programs/presentations/brand/generated/crest.png">    </p:cNvPr>
          <p:cNvPicPr>
            <a:picLocks noChangeAspect="1"/>
          </p:cNvPicPr>
          <p:nvPr/>
        </p:nvPicPr>
        <p:blipFill>
          <a:blip r:embed="rId2"/>
          <a:stretch>
            <a:fillRect/>
          </a:stretch>
        </p:blipFill>
        <p:spPr>
          <a:xfrm>
            <a:off x="10984000" y="237744"/>
            <a:ext cx="704776" cy="749808"/>
          </a:xfrm>
          <a:prstGeom prst="rect">
            <a:avLst/>
          </a:prstGeom>
        </p:spPr>
      </p:pic>
      <p:sp>
        <p:nvSpPr>
          <p:cNvPr id="13" name="Text 9"/>
          <p:cNvSpPr/>
          <p:nvPr/>
        </p:nvSpPr>
        <p:spPr>
          <a:xfrm>
            <a:off x="10454335" y="6327648"/>
            <a:ext cx="1097280" cy="274320"/>
          </a:xfrm>
          <a:prstGeom prst="rect">
            <a:avLst/>
          </a:prstGeom>
          <a:noFill/>
          <a:ln/>
        </p:spPr>
        <p:txBody>
          <a:bodyPr wrap="square" rtlCol="0" anchor="ctr"/>
          <a:lstStyle/>
          <a:p>
            <a:pPr algn="r" indent="0" marL="0">
              <a:buNone/>
            </a:pPr>
            <a:r>
              <a:rPr lang="en-US" sz="900" dirty="0">
                <a:solidFill>
                  <a:srgbClr val="5C5C59"/>
                </a:solidFill>
                <a:latin typeface="Inter" pitchFamily="34" charset="0"/>
                <a:ea typeface="Inter" pitchFamily="34" charset="-122"/>
                <a:cs typeface="Inter"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BEBE6"/>
        </a:solidFill>
      </p:bgPr>
    </p:bg>
    <p:spTree>
      <p:nvGrpSpPr>
        <p:cNvPr id="1" name=""/>
        <p:cNvGrpSpPr/>
        <p:nvPr/>
      </p:nvGrpSpPr>
      <p:grpSpPr>
        <a:xfrm>
          <a:off x="0" y="0"/>
          <a:ext cx="0" cy="0"/>
          <a:chOff x="0" y="0"/>
          <a:chExt cx="0" cy="0"/>
        </a:xfrm>
      </p:grpSpPr>
      <p:sp>
        <p:nvSpPr>
          <p:cNvPr id="2" name="Shape 0"/>
          <p:cNvSpPr/>
          <p:nvPr/>
        </p:nvSpPr>
        <p:spPr>
          <a:xfrm>
            <a:off x="640080" y="621792"/>
            <a:ext cx="822960" cy="91440"/>
          </a:xfrm>
          <a:prstGeom prst="rect">
            <a:avLst/>
          </a:prstGeom>
          <a:solidFill>
            <a:srgbClr val="C05D4E"/>
          </a:solidFill>
          <a:ln/>
        </p:spPr>
      </p:sp>
      <p:sp>
        <p:nvSpPr>
          <p:cNvPr id="3" name="Text 1"/>
          <p:cNvSpPr/>
          <p:nvPr/>
        </p:nvSpPr>
        <p:spPr>
          <a:xfrm>
            <a:off x="640080" y="1188720"/>
            <a:ext cx="9475240" cy="449580"/>
          </a:xfrm>
          <a:prstGeom prst="rect">
            <a:avLst/>
          </a:prstGeom>
          <a:noFill/>
          <a:ln/>
        </p:spPr>
        <p:txBody>
          <a:bodyPr wrap="square" rtlCol="0" anchor="t"/>
          <a:lstStyle/>
          <a:p>
            <a:pPr indent="0" marL="0">
              <a:lnSpc>
                <a:spcPts val="3500"/>
              </a:lnSpc>
              <a:buNone/>
            </a:pPr>
            <a:r>
              <a:rPr lang="en-US" sz="3000" b="1" spc="-30" kern="0" dirty="0">
                <a:solidFill>
                  <a:srgbClr val="2D2D2A"/>
                </a:solidFill>
                <a:latin typeface="Merriweather" pitchFamily="34" charset="0"/>
                <a:ea typeface="Merriweather" pitchFamily="34" charset="-122"/>
                <a:cs typeface="Merriweather" pitchFamily="34" charset="-120"/>
              </a:rPr>
              <a:t>Commercial Viability</a:t>
            </a:r>
            <a:endParaRPr lang="en-US" sz="3000" dirty="0"/>
          </a:p>
        </p:txBody>
      </p:sp>
      <p:sp>
        <p:nvSpPr>
          <p:cNvPr id="4" name="Shape 2"/>
          <p:cNvSpPr/>
          <p:nvPr/>
        </p:nvSpPr>
        <p:spPr>
          <a:xfrm>
            <a:off x="640080" y="1693164"/>
            <a:ext cx="10911535" cy="13716"/>
          </a:xfrm>
          <a:prstGeom prst="rect">
            <a:avLst/>
          </a:prstGeom>
          <a:solidFill>
            <a:srgbClr val="D8D8D2"/>
          </a:solidFill>
          <a:ln/>
        </p:spPr>
      </p:sp>
      <p:sp>
        <p:nvSpPr>
          <p:cNvPr id="5" name="Shape 3"/>
          <p:cNvSpPr/>
          <p:nvPr/>
        </p:nvSpPr>
        <p:spPr>
          <a:xfrm>
            <a:off x="640080" y="2971800"/>
            <a:ext cx="10911535" cy="2103120"/>
          </a:xfrm>
          <a:prstGeom prst="roundRect">
            <a:avLst>
              <a:gd name="adj" fmla="val 10435"/>
            </a:avLst>
          </a:prstGeom>
          <a:solidFill>
            <a:srgbClr val="2D2D2A"/>
          </a:solidFill>
          <a:ln/>
        </p:spPr>
      </p:sp>
      <p:sp>
        <p:nvSpPr>
          <p:cNvPr id="6" name="Text 4"/>
          <p:cNvSpPr/>
          <p:nvPr/>
        </p:nvSpPr>
        <p:spPr>
          <a:xfrm>
            <a:off x="1097280" y="3209544"/>
            <a:ext cx="9997135" cy="685800"/>
          </a:xfrm>
          <a:prstGeom prst="rect">
            <a:avLst/>
          </a:prstGeom>
          <a:noFill/>
          <a:ln/>
        </p:spPr>
        <p:txBody>
          <a:bodyPr wrap="square" rtlCol="0" anchor="t"/>
          <a:lstStyle/>
          <a:p>
            <a:pPr indent="0" marL="0">
              <a:lnSpc>
                <a:spcPts val="2000"/>
              </a:lnSpc>
              <a:buNone/>
            </a:pPr>
            <a:r>
              <a:rPr lang="en-US" sz="1300" dirty="0">
                <a:solidFill>
                  <a:srgbClr val="FFFFFF"/>
                </a:solidFill>
                <a:latin typeface="Inter" pitchFamily="34" charset="0"/>
                <a:ea typeface="Inter" pitchFamily="34" charset="-122"/>
                <a:cs typeface="Inter" pitchFamily="34" charset="-120"/>
              </a:rPr>
              <a:t>Perovskite solar cells have achieved 25.8% efficiency but must overcome stability issues to compete with commercial silicon cells.</a:t>
            </a:r>
            <a:endParaRPr lang="en-US" sz="1300" dirty="0"/>
          </a:p>
        </p:txBody>
      </p:sp>
      <p:sp>
        <p:nvSpPr>
          <p:cNvPr id="7" name="Text 5"/>
          <p:cNvSpPr/>
          <p:nvPr/>
        </p:nvSpPr>
        <p:spPr>
          <a:xfrm>
            <a:off x="1188720" y="3941064"/>
            <a:ext cx="182880" cy="292608"/>
          </a:xfrm>
          <a:prstGeom prst="rect">
            <a:avLst/>
          </a:prstGeom>
          <a:noFill/>
          <a:ln/>
        </p:spPr>
        <p:txBody>
          <a:bodyPr wrap="square" rtlCol="0" anchor="ctr"/>
          <a:lstStyle/>
          <a:p>
            <a:pPr indent="0" marL="0">
              <a:lnSpc>
                <a:spcPts val="1400"/>
              </a:lnSpc>
              <a:buNone/>
            </a:pPr>
            <a:r>
              <a:rPr lang="en-US" sz="1000" spc="20" kern="0" dirty="0">
                <a:solidFill>
                  <a:srgbClr val="D97706"/>
                </a:solidFill>
                <a:latin typeface="Inter" pitchFamily="34" charset="0"/>
                <a:ea typeface="Inter" pitchFamily="34" charset="-122"/>
                <a:cs typeface="Inter" pitchFamily="34" charset="-120"/>
              </a:rPr>
              <a:t>•</a:t>
            </a:r>
            <a:endParaRPr lang="en-US" sz="1000" dirty="0"/>
          </a:p>
        </p:txBody>
      </p:sp>
      <p:sp>
        <p:nvSpPr>
          <p:cNvPr id="8" name="Text 6"/>
          <p:cNvSpPr/>
          <p:nvPr/>
        </p:nvSpPr>
        <p:spPr>
          <a:xfrm>
            <a:off x="1389888" y="3941064"/>
            <a:ext cx="9704527" cy="292608"/>
          </a:xfrm>
          <a:prstGeom prst="rect">
            <a:avLst/>
          </a:prstGeom>
          <a:noFill/>
          <a:ln/>
        </p:spPr>
        <p:txBody>
          <a:bodyPr wrap="square" rtlCol="0" anchor="ctr"/>
          <a:lstStyle/>
          <a:p>
            <a:pPr indent="0" marL="0">
              <a:lnSpc>
                <a:spcPts val="1400"/>
              </a:lnSpc>
              <a:buNone/>
            </a:pPr>
            <a:r>
              <a:rPr lang="en-US" sz="1000" spc="20" kern="0" dirty="0">
                <a:solidFill>
                  <a:srgbClr val="FFFFFF"/>
                </a:solidFill>
                <a:latin typeface="Inter" pitchFamily="34" charset="0"/>
                <a:ea typeface="Inter" pitchFamily="34" charset="-122"/>
                <a:cs typeface="Inter" pitchFamily="34" charset="-120"/>
              </a:rPr>
              <a:t>PSCs reach 25.8% efficiency like Si cells</a:t>
            </a:r>
            <a:endParaRPr lang="en-US" sz="1000" dirty="0"/>
          </a:p>
        </p:txBody>
      </p:sp>
      <p:sp>
        <p:nvSpPr>
          <p:cNvPr id="9" name="Text 7"/>
          <p:cNvSpPr/>
          <p:nvPr/>
        </p:nvSpPr>
        <p:spPr>
          <a:xfrm>
            <a:off x="1188720" y="4270248"/>
            <a:ext cx="182880" cy="292608"/>
          </a:xfrm>
          <a:prstGeom prst="rect">
            <a:avLst/>
          </a:prstGeom>
          <a:noFill/>
          <a:ln/>
        </p:spPr>
        <p:txBody>
          <a:bodyPr wrap="square" rtlCol="0" anchor="ctr"/>
          <a:lstStyle/>
          <a:p>
            <a:pPr indent="0" marL="0">
              <a:lnSpc>
                <a:spcPts val="1400"/>
              </a:lnSpc>
              <a:buNone/>
            </a:pPr>
            <a:r>
              <a:rPr lang="en-US" sz="1000" spc="20" kern="0" dirty="0">
                <a:solidFill>
                  <a:srgbClr val="D97706"/>
                </a:solidFill>
                <a:latin typeface="Inter" pitchFamily="34" charset="0"/>
                <a:ea typeface="Inter" pitchFamily="34" charset="-122"/>
                <a:cs typeface="Inter" pitchFamily="34" charset="-120"/>
              </a:rPr>
              <a:t>•</a:t>
            </a:r>
            <a:endParaRPr lang="en-US" sz="1000" dirty="0"/>
          </a:p>
        </p:txBody>
      </p:sp>
      <p:sp>
        <p:nvSpPr>
          <p:cNvPr id="10" name="Text 8"/>
          <p:cNvSpPr/>
          <p:nvPr/>
        </p:nvSpPr>
        <p:spPr>
          <a:xfrm>
            <a:off x="1389888" y="4270248"/>
            <a:ext cx="9704527" cy="292608"/>
          </a:xfrm>
          <a:prstGeom prst="rect">
            <a:avLst/>
          </a:prstGeom>
          <a:noFill/>
          <a:ln/>
        </p:spPr>
        <p:txBody>
          <a:bodyPr wrap="square" rtlCol="0" anchor="ctr"/>
          <a:lstStyle/>
          <a:p>
            <a:pPr indent="0" marL="0">
              <a:lnSpc>
                <a:spcPts val="1400"/>
              </a:lnSpc>
              <a:buNone/>
            </a:pPr>
            <a:r>
              <a:rPr lang="en-US" sz="1000" spc="20" kern="0" dirty="0">
                <a:solidFill>
                  <a:srgbClr val="FFFFFF"/>
                </a:solidFill>
                <a:latin typeface="Inter" pitchFamily="34" charset="0"/>
                <a:ea typeface="Inter" pitchFamily="34" charset="-122"/>
                <a:cs typeface="Inter" pitchFamily="34" charset="-120"/>
              </a:rPr>
              <a:t>But PSCs degrade in 1000+ hours vs Si's 20+ year lifespan</a:t>
            </a:r>
            <a:endParaRPr lang="en-US" sz="1000" dirty="0"/>
          </a:p>
        </p:txBody>
      </p:sp>
      <p:sp>
        <p:nvSpPr>
          <p:cNvPr id="11" name="Text 9"/>
          <p:cNvSpPr/>
          <p:nvPr/>
        </p:nvSpPr>
        <p:spPr>
          <a:xfrm>
            <a:off x="1188720" y="4599432"/>
            <a:ext cx="182880" cy="292608"/>
          </a:xfrm>
          <a:prstGeom prst="rect">
            <a:avLst/>
          </a:prstGeom>
          <a:noFill/>
          <a:ln/>
        </p:spPr>
        <p:txBody>
          <a:bodyPr wrap="square" rtlCol="0" anchor="ctr"/>
          <a:lstStyle/>
          <a:p>
            <a:pPr indent="0" marL="0">
              <a:lnSpc>
                <a:spcPts val="1400"/>
              </a:lnSpc>
              <a:buNone/>
            </a:pPr>
            <a:r>
              <a:rPr lang="en-US" sz="1000" spc="20" kern="0" dirty="0">
                <a:solidFill>
                  <a:srgbClr val="D97706"/>
                </a:solidFill>
                <a:latin typeface="Inter" pitchFamily="34" charset="0"/>
                <a:ea typeface="Inter" pitchFamily="34" charset="-122"/>
                <a:cs typeface="Inter" pitchFamily="34" charset="-120"/>
              </a:rPr>
              <a:t>•</a:t>
            </a:r>
            <a:endParaRPr lang="en-US" sz="1000" dirty="0"/>
          </a:p>
        </p:txBody>
      </p:sp>
      <p:sp>
        <p:nvSpPr>
          <p:cNvPr id="12" name="Text 10"/>
          <p:cNvSpPr/>
          <p:nvPr/>
        </p:nvSpPr>
        <p:spPr>
          <a:xfrm>
            <a:off x="1389888" y="4599432"/>
            <a:ext cx="9704527" cy="292608"/>
          </a:xfrm>
          <a:prstGeom prst="rect">
            <a:avLst/>
          </a:prstGeom>
          <a:noFill/>
          <a:ln/>
        </p:spPr>
        <p:txBody>
          <a:bodyPr wrap="square" rtlCol="0" anchor="ctr"/>
          <a:lstStyle/>
          <a:p>
            <a:pPr indent="0" marL="0">
              <a:lnSpc>
                <a:spcPts val="1400"/>
              </a:lnSpc>
              <a:buNone/>
            </a:pPr>
            <a:r>
              <a:rPr lang="en-US" sz="1000" spc="20" kern="0" dirty="0">
                <a:solidFill>
                  <a:srgbClr val="FFFFFF"/>
                </a:solidFill>
                <a:latin typeface="Inter" pitchFamily="34" charset="0"/>
                <a:ea typeface="Inter" pitchFamily="34" charset="-122"/>
                <a:cs typeface="Inter" pitchFamily="34" charset="-120"/>
              </a:rPr>
              <a:t>Stability challenges prevent commercialization despite high performance</a:t>
            </a:r>
            <a:endParaRPr lang="en-US" sz="1000" dirty="0"/>
          </a:p>
        </p:txBody>
      </p:sp>
      <p:pic>
        <p:nvPicPr>
          <p:cNvPr id="13" name="Image 0" descr="/home/deepnar/Programs/presentations/brand/generated/crest.png">    </p:cNvPr>
          <p:cNvPicPr>
            <a:picLocks noChangeAspect="1"/>
          </p:cNvPicPr>
          <p:nvPr/>
        </p:nvPicPr>
        <p:blipFill>
          <a:blip r:embed="rId1"/>
          <a:stretch>
            <a:fillRect/>
          </a:stretch>
        </p:blipFill>
        <p:spPr>
          <a:xfrm>
            <a:off x="10984000" y="237744"/>
            <a:ext cx="704776" cy="749808"/>
          </a:xfrm>
          <a:prstGeom prst="rect">
            <a:avLst/>
          </a:prstGeom>
        </p:spPr>
      </p:pic>
      <p:sp>
        <p:nvSpPr>
          <p:cNvPr id="14" name="Text 11"/>
          <p:cNvSpPr/>
          <p:nvPr/>
        </p:nvSpPr>
        <p:spPr>
          <a:xfrm>
            <a:off x="10454335" y="6327648"/>
            <a:ext cx="1097280" cy="274320"/>
          </a:xfrm>
          <a:prstGeom prst="rect">
            <a:avLst/>
          </a:prstGeom>
          <a:noFill/>
          <a:ln/>
        </p:spPr>
        <p:txBody>
          <a:bodyPr wrap="square" rtlCol="0" anchor="ctr"/>
          <a:lstStyle/>
          <a:p>
            <a:pPr algn="r" indent="0" marL="0">
              <a:buNone/>
            </a:pPr>
            <a:r>
              <a:rPr lang="en-US" sz="900" dirty="0">
                <a:solidFill>
                  <a:srgbClr val="5C5C59"/>
                </a:solidFill>
                <a:latin typeface="Inter" pitchFamily="34" charset="0"/>
                <a:ea typeface="Inter" pitchFamily="34" charset="-122"/>
                <a:cs typeface="Inter"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D2D2A"/>
        </a:solidFill>
      </p:bgPr>
    </p:bg>
    <p:spTree>
      <p:nvGrpSpPr>
        <p:cNvPr id="1" name=""/>
        <p:cNvGrpSpPr/>
        <p:nvPr/>
      </p:nvGrpSpPr>
      <p:grpSpPr>
        <a:xfrm>
          <a:off x="0" y="0"/>
          <a:ext cx="0" cy="0"/>
          <a:chOff x="0" y="0"/>
          <a:chExt cx="0" cy="0"/>
        </a:xfrm>
      </p:grpSpPr>
      <p:sp>
        <p:nvSpPr>
          <p:cNvPr id="2" name="Text 0"/>
          <p:cNvSpPr/>
          <p:nvPr/>
        </p:nvSpPr>
        <p:spPr>
          <a:xfrm>
            <a:off x="640080" y="1691640"/>
            <a:ext cx="10911535" cy="1554480"/>
          </a:xfrm>
          <a:prstGeom prst="rect">
            <a:avLst/>
          </a:prstGeom>
          <a:noFill/>
          <a:ln/>
        </p:spPr>
        <p:txBody>
          <a:bodyPr wrap="square" rtlCol="0" anchor="ctr"/>
          <a:lstStyle/>
          <a:p>
            <a:pPr algn="ctr" indent="0" marL="0">
              <a:lnSpc>
                <a:spcPts val="4500"/>
              </a:lnSpc>
              <a:buNone/>
            </a:pPr>
            <a:r>
              <a:rPr lang="en-US" sz="4000" b="1" spc="-50" kern="0" dirty="0">
                <a:solidFill>
                  <a:srgbClr val="FFFFFF"/>
                </a:solidFill>
                <a:latin typeface="Merriweather" pitchFamily="34" charset="0"/>
                <a:ea typeface="Merriweather" pitchFamily="34" charset="-122"/>
                <a:cs typeface="Merriweather" pitchFamily="34" charset="-120"/>
              </a:rPr>
              <a:t>Stability: The Key to Perovskite Commercialization</a:t>
            </a:r>
            <a:endParaRPr lang="en-US" sz="4000" dirty="0"/>
          </a:p>
        </p:txBody>
      </p:sp>
      <p:sp>
        <p:nvSpPr>
          <p:cNvPr id="3" name="Text 1"/>
          <p:cNvSpPr/>
          <p:nvPr/>
        </p:nvSpPr>
        <p:spPr>
          <a:xfrm>
            <a:off x="2167695" y="3383280"/>
            <a:ext cx="7856305" cy="603504"/>
          </a:xfrm>
          <a:prstGeom prst="rect">
            <a:avLst/>
          </a:prstGeom>
          <a:noFill/>
          <a:ln/>
        </p:spPr>
        <p:txBody>
          <a:bodyPr wrap="square" rtlCol="0" anchor="t"/>
          <a:lstStyle/>
          <a:p>
            <a:pPr algn="ctr" indent="0" marL="0">
              <a:lnSpc>
                <a:spcPts val="2200"/>
              </a:lnSpc>
              <a:buNone/>
            </a:pPr>
            <a:r>
              <a:rPr lang="en-US" sz="1500" dirty="0">
                <a:solidFill>
                  <a:srgbClr val="A8A8A2"/>
                </a:solidFill>
                <a:latin typeface="Inter" pitchFamily="34" charset="0"/>
                <a:ea typeface="Inter" pitchFamily="34" charset="-122"/>
                <a:cs typeface="Inter" pitchFamily="34" charset="-120"/>
              </a:rPr>
              <a:t>Without addressing stability, perovskite solar cells cannot compete with established technologies.</a:t>
            </a:r>
            <a:endParaRPr lang="en-US" sz="1500" dirty="0"/>
          </a:p>
        </p:txBody>
      </p:sp>
      <p:sp>
        <p:nvSpPr>
          <p:cNvPr id="4" name="Text 2"/>
          <p:cNvSpPr/>
          <p:nvPr/>
        </p:nvSpPr>
        <p:spPr>
          <a:xfrm>
            <a:off x="2167695" y="4096512"/>
            <a:ext cx="7856305" cy="1188720"/>
          </a:xfrm>
          <a:prstGeom prst="rect">
            <a:avLst/>
          </a:prstGeom>
          <a:noFill/>
          <a:ln/>
        </p:spPr>
        <p:txBody>
          <a:bodyPr wrap="square" rtlCol="0" anchor="t"/>
          <a:lstStyle/>
          <a:p>
            <a:pPr algn="ctr" indent="0" marL="0">
              <a:lnSpc>
                <a:spcPts val="2000"/>
              </a:lnSpc>
              <a:buNone/>
            </a:pPr>
            <a:r>
              <a:rPr lang="en-US" sz="1300" dirty="0">
                <a:solidFill>
                  <a:srgbClr val="A8A8A2"/>
                </a:solidFill>
                <a:latin typeface="Inter" pitchFamily="34" charset="0"/>
                <a:ea typeface="Inter" pitchFamily="34" charset="-122"/>
                <a:cs typeface="Inter" pitchFamily="34" charset="-120"/>
              </a:rPr>
              <a:t>The path forward requires standardized testing protocols, improved materials, and scalable fabrication techniques. Only then can perovskites truly enter the commercial energy market.</a:t>
            </a:r>
            <a:endParaRPr lang="en-US" sz="1300" dirty="0"/>
          </a:p>
        </p:txBody>
      </p:sp>
      <p:sp>
        <p:nvSpPr>
          <p:cNvPr id="5" name="Shape 3"/>
          <p:cNvSpPr/>
          <p:nvPr/>
        </p:nvSpPr>
        <p:spPr>
          <a:xfrm>
            <a:off x="2713272" y="5650992"/>
            <a:ext cx="6765152" cy="804672"/>
          </a:xfrm>
          <a:prstGeom prst="roundRect">
            <a:avLst>
              <a:gd name="adj" fmla="val 45455"/>
            </a:avLst>
          </a:prstGeom>
          <a:solidFill>
            <a:srgbClr val="D97706"/>
          </a:solidFill>
          <a:ln/>
        </p:spPr>
      </p:sp>
      <p:sp>
        <p:nvSpPr>
          <p:cNvPr id="6" name="Text 4"/>
          <p:cNvSpPr/>
          <p:nvPr/>
        </p:nvSpPr>
        <p:spPr>
          <a:xfrm>
            <a:off x="2941872" y="5650992"/>
            <a:ext cx="6307952" cy="804672"/>
          </a:xfrm>
          <a:prstGeom prst="rect">
            <a:avLst/>
          </a:prstGeom>
          <a:noFill/>
          <a:ln/>
        </p:spPr>
        <p:txBody>
          <a:bodyPr wrap="square" rtlCol="0" anchor="ctr"/>
          <a:lstStyle/>
          <a:p>
            <a:pPr algn="ctr" indent="0" marL="0">
              <a:lnSpc>
                <a:spcPts val="2200"/>
              </a:lnSpc>
              <a:buNone/>
            </a:pPr>
            <a:r>
              <a:rPr lang="en-US" sz="1500" dirty="0">
                <a:solidFill>
                  <a:srgbClr val="0A0A0A"/>
                </a:solidFill>
                <a:latin typeface="Inter" pitchFamily="34" charset="0"/>
                <a:ea typeface="Inter" pitchFamily="34" charset="-122"/>
                <a:cs typeface="Inter" pitchFamily="34" charset="-120"/>
              </a:rPr>
              <a:t>Address stability now—secure perovskite's future in clean能源</a:t>
            </a:r>
            <a:endParaRPr lang="en-US" sz="1500" dirty="0"/>
          </a:p>
        </p:txBody>
      </p:sp>
      <p:pic>
        <p:nvPicPr>
          <p:cNvPr id="7" name="Image 0" descr="/home/deepnar/Programs/presentations/brand/generated/crest.png">    </p:cNvPr>
          <p:cNvPicPr>
            <a:picLocks noChangeAspect="1"/>
          </p:cNvPicPr>
          <p:nvPr/>
        </p:nvPicPr>
        <p:blipFill>
          <a:blip r:embed="rId1"/>
          <a:stretch>
            <a:fillRect/>
          </a:stretch>
        </p:blipFill>
        <p:spPr>
          <a:xfrm>
            <a:off x="10984000" y="237744"/>
            <a:ext cx="704776" cy="749808"/>
          </a:xfrm>
          <a:prstGeom prst="rect">
            <a:avLst/>
          </a:prstGeom>
        </p:spPr>
      </p:pic>
      <p:sp>
        <p:nvSpPr>
          <p:cNvPr id="8" name="Text 5"/>
          <p:cNvSpPr/>
          <p:nvPr/>
        </p:nvSpPr>
        <p:spPr>
          <a:xfrm>
            <a:off x="10454335" y="6327648"/>
            <a:ext cx="1097280" cy="274320"/>
          </a:xfrm>
          <a:prstGeom prst="rect">
            <a:avLst/>
          </a:prstGeom>
          <a:noFill/>
          <a:ln/>
        </p:spPr>
        <p:txBody>
          <a:bodyPr wrap="square" rtlCol="0" anchor="ctr"/>
          <a:lstStyle/>
          <a:p>
            <a:pPr algn="r" indent="0" marL="0">
              <a:buNone/>
            </a:pPr>
            <a:r>
              <a:rPr lang="en-US" sz="900" dirty="0">
                <a:solidFill>
                  <a:srgbClr val="FFFFFF"/>
                </a:solidFill>
                <a:latin typeface="Inter" pitchFamily="34" charset="0"/>
                <a:ea typeface="Inter" pitchFamily="34" charset="-122"/>
                <a:cs typeface="Inter"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EIT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Perovskite Solar Cells: Stability Challenges and Commercial Viability</dc:title>
  <dc:subject>PptxGenJS Presentation</dc:subject>
  <dc:creator/>
  <cp:lastModifiedBy/>
  <cp:revision>1</cp:revision>
  <dcterms:created xsi:type="dcterms:W3CDTF">2026-09-04T08:10:02Z</dcterms:created>
  <dcterms:modified xsi:type="dcterms:W3CDTF">2026-09-04T08:10:02Z</dcterms:modified>
</cp:coreProperties>
</file>