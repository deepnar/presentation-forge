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jobs filled</c:v>
                </c:pt>
              </c:strCache>
            </c:strRef>
          </c:tx>
          <c:spPr>
            <a:solidFill>
              <a:srgbClr val="8A3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Lo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Networking</c:v>
                  </c:pt>
                  <c:pt idx="1">
                    <c:v>Traditional applications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Lor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D49"/>
                </a:solidFill>
                <a:latin typeface="Lor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DBF9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D49"/>
                </a:solidFill>
                <a:latin typeface="Lor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Recognition rate</c:v>
                </c:pt>
              </c:strCache>
            </c:strRef>
          </c:tx>
          <c:spPr>
            <a:solidFill>
              <a:srgbClr val="8A3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Lo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Emotions correctly identified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Lor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D49"/>
                </a:solidFill>
                <a:latin typeface="Lor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DBF9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D49"/>
                </a:solidFill>
                <a:latin typeface="Lor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the audience to size up the person next to them in seven seconds, then reveal the research behind that snap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slide: the seven seconds have passed; now we teach the concrete cues that carry those first judgments. Emphasise that every cue can be practised, and that cultural context changes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how cultural context resets the meaning of every non-verbal cue. Section will cover Edward T. Hall's high- and low-context cultures, Hofstede's six dimensions, face-negotiation theory, and why a gesture is never self-explanatory.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perception to networking as measurable, career-critical behaviour. Ground the section in the 80 percent figure: introductions made at career fairs and through peers are not soft extras but the dominant hiring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11 networking tips and FAQ; the check-in cadence of every three to six months comes directly from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translates research into behaviour: a rehearsed introduction, conversation starters that skip 'What do you do?', a follow-up within a day or two, and a check-in every three to six months. This is the transition from impressions to networking mechanics.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checklist as a pre-event rehearsal script; every item maps to a concrete behaviour from the first-impressions and networking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University of Washington study shows bias training improves first-impression accuracy; SHRM reports 57% of companies now run unconscious bias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83080"/>
            <a:ext cx="10728655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First Impressions and Networking Behaviour Among College Students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2519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B9AC9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Body Language, Introductions, and Cultural Background in Soft Skills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B9AC9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Raunak Singh (13) · Rishit Singh (14) · Rudrapratap Singh (15) · Sakshi Singh (16) · Udaypratap Singh (17) · Vicky Singh (18) · Vishesh Singh (19) · Divyajyot Sinha (20) · Deepesh Sonar (21) · Vedant Sud  (23) · Dhwani Tandon (24)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50932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B9AC9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Guide: SHRIKRISHNA SONAWANE · Assistant Professor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Soft Skill And Interpersonal Communications  ·  2026-27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7-SECOND WINDOW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Seven Stops From First Glance to Lasting Connection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route through the moment judgment forms, the signals we send without words, and the habits that make introductions stick.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51404"/>
            <a:ext cx="566928" cy="264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27048" y="2851404"/>
            <a:ext cx="9933127" cy="13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7-Second Window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27048" y="2988729"/>
            <a:ext cx="9933127" cy="118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quickly we size each other up and why those first judgments are so sticky.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71523"/>
            <a:ext cx="566928" cy="264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27048" y="3371523"/>
            <a:ext cx="9933127" cy="13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Body Language Basics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3508849"/>
            <a:ext cx="9933127" cy="118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Posture, eye contact, gestures, and the nonverbal cues that carry most of the meaning.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891643"/>
            <a:ext cx="566928" cy="264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27048" y="3891643"/>
            <a:ext cx="9933127" cy="13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Culture &amp; 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27048" y="4028968"/>
            <a:ext cx="9933127" cy="118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 and low-context cultures, power distance, and the norms that shape what feels right.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411762"/>
            <a:ext cx="566928" cy="264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27048" y="4411762"/>
            <a:ext cx="9933127" cy="13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Networking on Campus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7048" y="4549088"/>
            <a:ext cx="9933127" cy="118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nearly 80 percent of jobs are filled through networking and how students can start.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931882"/>
            <a:ext cx="566928" cy="264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27048" y="4931882"/>
            <a:ext cx="9933127" cy="13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Art of Introductions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7048" y="5069207"/>
            <a:ext cx="9933127" cy="118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Rehearsed openings, follow-ups, and check-ins that turn small talk into relationships.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452001"/>
            <a:ext cx="566928" cy="264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27048" y="5452001"/>
            <a:ext cx="9933127" cy="13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Bias, Face &amp; Blind Spots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27048" y="5589327"/>
            <a:ext cx="9933127" cy="118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halo effects, confirmation bias, and face concerns judge before a word is said.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5972121"/>
            <a:ext cx="566928" cy="264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8A3B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27048" y="5972121"/>
            <a:ext cx="9933127" cy="13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Cultural Intelligence &amp; Action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27048" y="6109446"/>
            <a:ext cx="9933127" cy="118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 learnable CQ levers and the habits that make cross-cultural connection a skill.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Raunak Singh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604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3008376"/>
            <a:ext cx="914400" cy="45720"/>
          </a:xfrm>
          <a:prstGeom prst="rect">
            <a:avLst/>
          </a:prstGeom>
          <a:solidFill>
            <a:srgbClr val="E8C9C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27832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Seven Seconds Decide How You Are Read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33672"/>
            <a:ext cx="708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Thin-slicing weighs how a person looks and sounds before explicit statements register—and once formed, first impressions resist later evidence.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7-SECOND WINDOW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Seven Seconds, Then the Picture Hardens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75488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Thin-slicing reads faces, voices, and posture before a word is spoken.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62523"/>
            <a:ext cx="457200" cy="45720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6252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413254"/>
            <a:ext cx="9951415" cy="955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takes a mere seven seconds to make a first impression, as people thin-slice others based on how they look and sound.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618262"/>
            <a:ext cx="457200" cy="45720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1826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3368993"/>
            <a:ext cx="9951415" cy="955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Facial expressions are read reliably: people identify the six basic emotions about 80% of the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574000"/>
            <a:ext cx="457200" cy="45720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74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4324731"/>
            <a:ext cx="9951415" cy="955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 judgments stick: people get attached to their first impressions and resist changing them even when shown contrary evidence.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5529739"/>
            <a:ext cx="457200" cy="45720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52973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5280470"/>
            <a:ext cx="9951415" cy="955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Within seconds, observers judge trustworthiness, physical strength, and intentions to harm from subtle facial and vocal cues.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Rishit Singh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BODY LANGUAGE BASICS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Verbal Content Carries Under 35 Percent of the Meaning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the body contradicts the sentence, the audience believes the body — so rehearse the nonverbal line before the verbal.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51404"/>
            <a:ext cx="10728655" cy="3293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Verbal content carries less than 35 percent of social meaning; tone, gesture, posture, and silence carry the rest.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spoken words and body language conflict, people believe the body, not the sentence.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flat, monotone voice is the most damaging habit: low vocal variation undercuts perceived credibility more than any other cue.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Rehearse the body as deliberately as the pitch — the impression is nonverbal before it is verbal.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Rudrapratap Singh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604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3008376"/>
            <a:ext cx="914400" cy="45720"/>
          </a:xfrm>
          <a:prstGeom prst="rect">
            <a:avLst/>
          </a:prstGeom>
          <a:solidFill>
            <a:srgbClr val="E8C9C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27832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Body Speaks Before You 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33672"/>
            <a:ext cx="708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Posture, eye contact, gesture, and tone form a vocabulary you can rehearse — and the signals are not universal.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BODY LANGUAGE BASICS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Four Levers Beyond Words Decide How Students Are Read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Eye contact, posture, gesture, and vocal tone do their work before the first word lands.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51404"/>
            <a:ext cx="5218024" cy="1546098"/>
          </a:xfrm>
          <a:prstGeom prst="roundRect">
            <a:avLst>
              <a:gd name="adj" fmla="val 1183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125724"/>
            <a:ext cx="46693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3564636"/>
            <a:ext cx="4669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Eye Contact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966972"/>
            <a:ext cx="4669384" cy="156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Direct gaze signals confidence and engagement, but the appropriate amount shifts across cultures.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2152" y="2851404"/>
            <a:ext cx="5218024" cy="1546098"/>
          </a:xfrm>
          <a:prstGeom prst="roundRect">
            <a:avLst>
              <a:gd name="adj" fmla="val 1183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6472" y="3125724"/>
            <a:ext cx="46693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16472" y="3564636"/>
            <a:ext cx="4669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 Posture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6472" y="3966972"/>
            <a:ext cx="4669384" cy="156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Uncrossed arms and facing your partner project openness and trust; crossed arms read as defensive.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690110"/>
            <a:ext cx="5218024" cy="1546098"/>
          </a:xfrm>
          <a:prstGeom prst="roundRect">
            <a:avLst>
              <a:gd name="adj" fmla="val 1183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964430"/>
            <a:ext cx="46693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👋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5840" y="5403342"/>
            <a:ext cx="4669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805678"/>
            <a:ext cx="4669384" cy="156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Purposeful hand movements anchor meaning, while excessive gesturing can look like nervousness.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2152" y="4690110"/>
            <a:ext cx="5218024" cy="1546098"/>
          </a:xfrm>
          <a:prstGeom prst="roundRect">
            <a:avLst>
              <a:gd name="adj" fmla="val 1183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6472" y="4964430"/>
            <a:ext cx="46693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🎙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516472" y="5403342"/>
            <a:ext cx="4669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Vocal Tone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6472" y="5805678"/>
            <a:ext cx="4669384" cy="156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Varying pitch and pace holds attention; a flat monotone carries the most negative impact on credibility.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Sakshi Singh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604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3008376"/>
            <a:ext cx="914400" cy="45720"/>
          </a:xfrm>
          <a:prstGeom prst="rect">
            <a:avLst/>
          </a:prstGeom>
          <a:solidFill>
            <a:srgbClr val="E8C9C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27832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Single Gesture Speaks Differently in Every Culture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33672"/>
            <a:ext cx="708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Direct eye contact signals honesty in the U.S., but in many Hispanic, Asian, Middle Eastern, and Native American cultures it reads as disrespect — and a head nod can mean 'no'.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CULTURE &amp; 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Low-Context Cultures Say It; High-Context Cultures Show 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Edward T. Hall's 1959 distinction explains why the same gesture, silence, or pause carries opposite meanings across campus.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51404"/>
            <a:ext cx="10728655" cy="3293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 low-context cultures meaning is explicit and verbal; in high-context cultures it hides in gesture, silence, nuance, and tone.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Low-context communication is direct and confrontational, while high-context communication is indirect and polite, protecting the other person's face.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Politeness is secondary in low-context settings but essential in high-context ones; identity shifts from the individual to the social system.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Direct eye contact signals honesty in U.S. classrooms but disrespect toward a superior across Hispanic, Asian, Middle Eastern, and Native American cultures.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head nod can mean 'no' and an innocent hand sign can insult; gestures are never self-explanatory across cultural lines.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George H.W. Bush's 'V' salute and Nixon's OK sign became insults abroad; one misread cue can undo a careful introduction.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Udaypratap Singh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CULTURE &amp; 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Hofstede's Six Dimensions Map How American Students Read the Room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of Hofstede's six cultural dimensions predicts how a student interprets eye contact, hierarchy, and directness — and the U.S. sits at a telling extreme on most.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51404"/>
            <a:ext cx="10728655" cy="3293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Individualism — the U.S. ranks first worldwide, so self-reliance and personal achievement frame how most campus encounters are read.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distance — the U.S. sits near the bottom, so students expect informal, egalitarian exchanges; high-power-distance cultures expect deference to rank.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Uncertainty avoidance — the U.S. ranks 64th of 76, so ambiguity feels safe; high-uncertainty students find open-ended small talk stressful.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Masculinity — the U.S. is 19th of 76, balancing assertiveness with relational warmth in professional settings.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 orientation — the U.S. is 31st of 39 on short-term orientation, weighting tradition and saving face over long-term payoff.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Indulgence — the U.S. ranks 15th with Canada and the Netherlands, a permissive social climate that makes expressive, friendly networking feel natural.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Vicky Singh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604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3008376"/>
            <a:ext cx="914400" cy="45720"/>
          </a:xfrm>
          <a:prstGeom prst="rect">
            <a:avLst/>
          </a:prstGeom>
          <a:solidFill>
            <a:srgbClr val="E8C9C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27832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Networking Fills Nearly 80 Percent of Jobs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33672"/>
            <a:ext cx="708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Nearly 80 percent of jobs come through networking, not applications — and the pipeline starts in lectures, clubs, and alumni coffees.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NETWORKING ON CAMPUS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Warm Introduction Beats an Application in Nearly 80 Percent of Jobs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dominant hiring channel is not the portal; it is the referral. Students who build relationships early are positioning themselves in the stream where most jobs actually move.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851404"/>
          <a:ext cx="6759053" cy="33848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83181" y="2997708"/>
            <a:ext cx="36576" cy="384048"/>
          </a:xfrm>
          <a:prstGeom prst="rect">
            <a:avLst/>
          </a:prstGeom>
          <a:solidFill>
            <a:srgbClr val="8A3B2E"/>
          </a:solidFill>
          <a:ln/>
        </p:spPr>
      </p:sp>
      <p:sp>
        <p:nvSpPr>
          <p:cNvPr id="10" name="Text 7"/>
          <p:cNvSpPr/>
          <p:nvPr/>
        </p:nvSpPr>
        <p:spPr>
          <a:xfrm>
            <a:off x="7947773" y="2942844"/>
            <a:ext cx="351240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Research: 'nearly 80 percent of jobs are filled through networking rather than traditional applications.'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7783181" y="3912108"/>
            <a:ext cx="36576" cy="384048"/>
          </a:xfrm>
          <a:prstGeom prst="rect">
            <a:avLst/>
          </a:prstGeom>
          <a:solidFill>
            <a:srgbClr val="8A3B2E"/>
          </a:solidFill>
          <a:ln/>
        </p:spPr>
      </p:sp>
      <p:sp>
        <p:nvSpPr>
          <p:cNvPr id="12" name="Text 9"/>
          <p:cNvSpPr/>
          <p:nvPr/>
        </p:nvSpPr>
        <p:spPr>
          <a:xfrm>
            <a:off x="7947773" y="3857244"/>
            <a:ext cx="351240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students, this makes career fairs, alumni coffees and peer referrals strategic, not social.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7783181" y="4826508"/>
            <a:ext cx="36576" cy="384048"/>
          </a:xfrm>
          <a:prstGeom prst="rect">
            <a:avLst/>
          </a:prstGeom>
          <a:solidFill>
            <a:srgbClr val="8A3B2E"/>
          </a:solidFill>
          <a:ln/>
        </p:spPr>
      </p:sp>
      <p:sp>
        <p:nvSpPr>
          <p:cNvPr id="14" name="Text 11"/>
          <p:cNvSpPr/>
          <p:nvPr/>
        </p:nvSpPr>
        <p:spPr>
          <a:xfrm>
            <a:off x="7947773" y="4771644"/>
            <a:ext cx="351240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follow-up after a first meeting converts a contact into a connection.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Vishesh Singh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NETWORKING ON CAMPUS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Five-Step Loop From First Contact to Lasting Check-In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practical networking loop for campus: begin with people you already know, give before you ask, and keep the relationship warm with periodic check-ins.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51404"/>
            <a:ext cx="1589776" cy="2103120"/>
          </a:xfrm>
          <a:prstGeom prst="roundRect">
            <a:avLst>
              <a:gd name="adj" fmla="val 1150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3089148"/>
            <a:ext cx="365760" cy="36576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30891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9264" y="3564636"/>
            <a:ext cx="111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6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with warm contacts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 rot="5400000">
            <a:off x="2513320" y="3793236"/>
            <a:ext cx="219456" cy="219456"/>
          </a:xfrm>
          <a:prstGeom prst="triangle">
            <a:avLst/>
          </a:prstGeom>
          <a:solidFill>
            <a:srgbClr val="8A3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016240" y="2851404"/>
            <a:ext cx="1589776" cy="2103120"/>
          </a:xfrm>
          <a:prstGeom prst="roundRect">
            <a:avLst>
              <a:gd name="adj" fmla="val 1150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3984" y="3089148"/>
            <a:ext cx="365760" cy="36576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3253984" y="30891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53984" y="3564636"/>
            <a:ext cx="111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4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Offer value first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 rot="5400000">
            <a:off x="4798040" y="3793236"/>
            <a:ext cx="219456" cy="219456"/>
          </a:xfrm>
          <a:prstGeom prst="triangle">
            <a:avLst/>
          </a:prstGeom>
          <a:solidFill>
            <a:srgbClr val="8A3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0960" y="2851404"/>
            <a:ext cx="1589776" cy="2103120"/>
          </a:xfrm>
          <a:prstGeom prst="roundRect">
            <a:avLst>
              <a:gd name="adj" fmla="val 1150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38704" y="3089148"/>
            <a:ext cx="365760" cy="36576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5538704" y="30891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8704" y="3564636"/>
            <a:ext cx="111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6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Ask meaningful questions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 rot="5400000">
            <a:off x="7082760" y="3793236"/>
            <a:ext cx="219456" cy="219456"/>
          </a:xfrm>
          <a:prstGeom prst="triangle">
            <a:avLst/>
          </a:prstGeom>
          <a:solidFill>
            <a:srgbClr val="8A3B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5680" y="2851404"/>
            <a:ext cx="1589776" cy="2103120"/>
          </a:xfrm>
          <a:prstGeom prst="roundRect">
            <a:avLst>
              <a:gd name="adj" fmla="val 1150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23424" y="3089148"/>
            <a:ext cx="365760" cy="36576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823424" y="30891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23424" y="3564636"/>
            <a:ext cx="111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Follow up right away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367479" y="3793236"/>
            <a:ext cx="219456" cy="219456"/>
          </a:xfrm>
          <a:prstGeom prst="triangle">
            <a:avLst/>
          </a:prstGeom>
          <a:solidFill>
            <a:srgbClr val="8A3B2E"/>
          </a:solidFill>
          <a:ln/>
        </p:spPr>
      </p:sp>
      <p:sp>
        <p:nvSpPr>
          <p:cNvPr id="28" name="Shape 26"/>
          <p:cNvSpPr/>
          <p:nvPr/>
        </p:nvSpPr>
        <p:spPr>
          <a:xfrm>
            <a:off x="9870399" y="2851404"/>
            <a:ext cx="1589776" cy="2103120"/>
          </a:xfrm>
          <a:prstGeom prst="roundRect">
            <a:avLst>
              <a:gd name="adj" fmla="val 1150"/>
            </a:avLst>
          </a:prstGeom>
          <a:solidFill>
            <a:srgbClr val="F7F0DF"/>
          </a:solidFill>
          <a:ln w="12700">
            <a:solidFill>
              <a:srgbClr val="CDBF9F"/>
            </a:solidFill>
            <a:prstDash val="solid"/>
          </a:ln>
          <a:effectLst>
            <a:outerShdw sx="100000" sy="100000" kx="0" ky="0" algn="bl" rotWithShape="0" blurRad="25400" dist="12700" dir="5400000">
              <a:srgbClr val="2A211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08143" y="3089148"/>
            <a:ext cx="365760" cy="365760"/>
          </a:xfrm>
          <a:prstGeom prst="ellipse">
            <a:avLst/>
          </a:prstGeom>
          <a:solidFill>
            <a:srgbClr val="8A3B2E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8143" y="30891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08143" y="3564636"/>
            <a:ext cx="111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40" b="1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 in every 3–6 months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Divyajyot Sinha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604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3008376"/>
            <a:ext cx="914400" cy="45720"/>
          </a:xfrm>
          <a:prstGeom prst="rect">
            <a:avLst/>
          </a:prstGeom>
          <a:solidFill>
            <a:srgbClr val="E8C9C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27832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 Introduction Is an Interview You Can Rehearse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33672"/>
            <a:ext cx="708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opening exchange hardens a first read into a lasting impression. Treat it as a rehearsed sequence — how you stand, what you ask, how you follow up — before the career fair.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ART OF INTRODUCTIONS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Introductions Improve With Rehearsal, Not Nerve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75488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Before a career fair or mixer, run through six moves drawn from student networking research—each one turns small talk into a relationship.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7638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A3B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7638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413254"/>
            <a:ext cx="9997135" cy="63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Scan the guest list beforehand and pick two or three people you genuinely want to meet.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2135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135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3050413"/>
            <a:ext cx="9997135" cy="63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Prepare conversation starters about a project, a challenge, or a trend—skip 'What do you do?'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8507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A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50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687572"/>
            <a:ext cx="9997135" cy="63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Lead with generosity: share an article, offer an introduction, or give feedback first.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48786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A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8786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4324731"/>
            <a:ext cx="9997135" cy="63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Follow up with a personalised message within a day or two; most people never 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1250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A3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250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961890"/>
            <a:ext cx="9997135" cy="63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Send a short check-in every three to six months to keep the connection warm.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576218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A3B2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76218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5599049"/>
            <a:ext cx="9997135" cy="63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Remember the liking gap: people usually like you more than your self-criticism allows.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Deepesh Sonar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604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3008376"/>
            <a:ext cx="914400" cy="45720"/>
          </a:xfrm>
          <a:prstGeom prst="rect">
            <a:avLst/>
          </a:prstGeom>
          <a:solidFill>
            <a:srgbClr val="E8C9C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27832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Before a Word, Bias Has Already Judged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33672"/>
            <a:ext cx="708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halo effect, confirmation bias, and cultural face concerns can outweigh what someone actually says, shaping first impressions before a conversation begins.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BIAS, FACE &amp; BLIND SPOTS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Face Is Read Before a Word Is Spoken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75488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People identify the six basic emotions from facial expressions about 80 percent of the time — automatic reading that happens before conscious thought and feeds implicit bias.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413254"/>
          <a:ext cx="6759053" cy="38229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83181" y="2559558"/>
            <a:ext cx="36576" cy="384048"/>
          </a:xfrm>
          <a:prstGeom prst="rect">
            <a:avLst/>
          </a:prstGeom>
          <a:solidFill>
            <a:srgbClr val="8A3B2E"/>
          </a:solidFill>
          <a:ln/>
        </p:spPr>
      </p:sp>
      <p:sp>
        <p:nvSpPr>
          <p:cNvPr id="10" name="Text 7"/>
          <p:cNvSpPr/>
          <p:nvPr/>
        </p:nvSpPr>
        <p:spPr>
          <a:xfrm>
            <a:off x="7947773" y="2504694"/>
            <a:ext cx="351240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six basic emotions are read from faces about 80% of the time.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7783181" y="3473958"/>
            <a:ext cx="36576" cy="384048"/>
          </a:xfrm>
          <a:prstGeom prst="rect">
            <a:avLst/>
          </a:prstGeom>
          <a:solidFill>
            <a:srgbClr val="8A3B2E"/>
          </a:solidFill>
          <a:ln/>
        </p:spPr>
      </p:sp>
      <p:sp>
        <p:nvSpPr>
          <p:cNvPr id="12" name="Text 9"/>
          <p:cNvSpPr/>
          <p:nvPr/>
        </p:nvSpPr>
        <p:spPr>
          <a:xfrm>
            <a:off x="7947773" y="3419094"/>
            <a:ext cx="351240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These snap judgments happen in milliseconds, before conscious reasoning.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7783181" y="4388358"/>
            <a:ext cx="36576" cy="384048"/>
          </a:xfrm>
          <a:prstGeom prst="rect">
            <a:avLst/>
          </a:prstGeom>
          <a:solidFill>
            <a:srgbClr val="8A3B2E"/>
          </a:solidFill>
          <a:ln/>
        </p:spPr>
      </p:sp>
      <p:sp>
        <p:nvSpPr>
          <p:cNvPr id="14" name="Text 11"/>
          <p:cNvSpPr/>
          <p:nvPr/>
        </p:nvSpPr>
        <p:spPr>
          <a:xfrm>
            <a:off x="7947773" y="4333494"/>
            <a:ext cx="351240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That is why bias precedes conversation — the face speaks first.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Vedant Sud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604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3008376"/>
            <a:ext cx="914400" cy="45720"/>
          </a:xfrm>
          <a:prstGeom prst="rect">
            <a:avLst/>
          </a:prstGeom>
          <a:solidFill>
            <a:srgbClr val="E8C9C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27832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Cultural Intelligence Is a Skill, Not a Personality Trait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33672"/>
            <a:ext cx="708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C9C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Coined in 2003 by Earley and Ang, cultural intelligence names the capability to function effectively amid cultural diversity — and it can be built, factor by factor, before your next introduction.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206240" cy="3840480"/>
          </a:xfrm>
          <a:prstGeom prst="ellipse">
            <a:avLst/>
          </a:prstGeom>
          <a:solidFill>
            <a:srgbClr val="4A5D3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8A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0350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0350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CULTURAL INTELLIGENCE &amp; ACTION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8655" cy="876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2A211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Cultural Intelligence Is Four Learnable Levers, Not a Gift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3036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Earley and Ang introduced cultural intelligence in 2003 as the capability to function amid cultural diversity — and its four factors can be built, factor by factor, before your next introduction.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51404"/>
            <a:ext cx="10728655" cy="3293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Cognitive CQ — the knowledge lever: learn what a gesture means, such as eye contact that signals disrespect in several cultures.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Motivational CQ — the desire lever: without the intent to engage and adapt, cultural knowledge stays inert on a shelf.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Metacognitive CQ — the awareness lever: check whether your assumptions about the other culture fit the person in front of you.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Behavioral CQ — the action lever: adapt your verbal and nonverbal behaviour to bridge the gap, never expecting the other person to adjust to you.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average Cultural Intelligence Scale score sits between 12 and 18 on each factor; deliberate practice, not personality, moves it higher.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11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Mindful interaction — attention, intention, and a kind, curious attitude — converts cultural knowledge into habit.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Dhwani Tandon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7F0D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First Impressions and Networks Are Built, Not Born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33532" y="3977640"/>
            <a:ext cx="7724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AC9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Seven seconds fix a first impression; nearly 80 percent of jobs come through networking. Bias judges before a word, but cultural intelligence is learnable. Rehearse the introduction, follow up within two days, check in every three to six months, and build your network on purpose.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41368" y="5577840"/>
            <a:ext cx="3108960" cy="548640"/>
          </a:xfrm>
          <a:prstGeom prst="roundRect">
            <a:avLst>
              <a:gd name="adj" fmla="val 66667"/>
            </a:avLst>
          </a:prstGeom>
          <a:solidFill>
            <a:srgbClr val="8A3B2E"/>
          </a:solidFill>
          <a:ln/>
        </p:spPr>
      </p:sp>
      <p:sp>
        <p:nvSpPr>
          <p:cNvPr id="5" name="Text 3"/>
          <p:cNvSpPr/>
          <p:nvPr/>
        </p:nvSpPr>
        <p:spPr>
          <a:xfrm>
            <a:off x="4541368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0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Rehearse one introduction and reach out to one person today.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Impressions and Networking Behaviour Among College Students</dc:title>
  <dc:subject>PptxGenJS Presentation</dc:subject>
  <dc:creator>Raunak Singh, Rishit Singh, Rudrapratap Singh, Sakshi Singh, Udaypratap Singh, Vicky Singh, Vishesh Singh, Divyajyot Sinha, Deepesh Sonar, Vedant Sud , Dhwani Tandon</dc:creator>
  <cp:lastModifiedBy>Raunak Singh, Rishit Singh, Rudrapratap Singh, Sakshi Singh, Udaypratap Singh, Vicky Singh, Vishesh Singh, Divyajyot Sinha, Deepesh Sonar, Vedant Sud , Dhwani Tandon</cp:lastModifiedBy>
  <cp:revision>1</cp:revision>
  <dcterms:created xsi:type="dcterms:W3CDTF">2026-08-15T09:05:15Z</dcterms:created>
  <dcterms:modified xsi:type="dcterms:W3CDTF">2026-08-15T09:05:15Z</dcterms:modified>
</cp:coreProperties>
</file>